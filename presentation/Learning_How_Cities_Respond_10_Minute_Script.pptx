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4B99CE4B-6512-4C55-AF2F-C29D7AF274A6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95250" cy="3486150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AB301C-A49E-401C-988F-35B332470F73}"/>
              </a:ext>
            </a:extLst>
          </p:cNvPr>
          <p:cNvSpPr>
            <a:spLocks noGrp="1"/>
          </p:cNvSpPr>
          <p:nvPr/>
        </p:nvSpPr>
        <p:spPr>
          <a:xfrm>
            <a:off x="895350" y="1638300"/>
            <a:ext cx="9906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31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Learning How Cities Respond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B9E990E-AD8B-4531-97B6-0F9396962ABA}"/>
              </a:ext>
            </a:extLst>
          </p:cNvPr>
          <p:cNvSpPr>
            <a:spLocks noGrp="1"/>
          </p:cNvSpPr>
          <p:nvPr/>
        </p:nvSpPr>
        <p:spPr>
          <a:xfrm>
            <a:off x="933450" y="2428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8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Intervention-Conditioned Urban Representations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89830D-0C26-49B4-8ED9-6085646BA72C}"/>
              </a:ext>
            </a:extLst>
          </p:cNvPr>
          <p:cNvSpPr>
            <a:spLocks noGrp="1"/>
          </p:cNvSpPr>
          <p:nvPr/>
        </p:nvSpPr>
        <p:spPr>
          <a:xfrm>
            <a:off x="933450" y="2828925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from Causal Response Labels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DF3D8D-29FB-484C-A831-0BB4CFEA7E91}"/>
              </a:ext>
            </a:extLst>
          </p:cNvPr>
          <p:cNvSpPr>
            <a:spLocks noGrp="1"/>
          </p:cNvSpPr>
          <p:nvPr/>
        </p:nvSpPr>
        <p:spPr>
          <a:xfrm>
            <a:off x="933450" y="3524250"/>
            <a:ext cx="6286500" cy="19050"/>
          </a:xfrm>
          <a:prstGeom prst="rect">
            <a:avLst/>
          </a:prstGeom>
          <a:solidFill>
            <a:srgbClr val="D9AEB7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352C8A-B23B-476D-AC0A-A37ED0FB0638}"/>
              </a:ext>
            </a:extLst>
          </p:cNvPr>
          <p:cNvSpPr>
            <a:spLocks noGrp="1"/>
          </p:cNvSpPr>
          <p:nvPr/>
        </p:nvSpPr>
        <p:spPr>
          <a:xfrm>
            <a:off x="933450" y="37528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4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Sirun Li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A7EF57-D833-4553-B521-5FB73DBF81D2}"/>
              </a:ext>
            </a:extLst>
          </p:cNvPr>
          <p:cNvSpPr>
            <a:spLocks noGrp="1"/>
          </p:cNvSpPr>
          <p:nvPr/>
        </p:nvSpPr>
        <p:spPr>
          <a:xfrm>
            <a:off x="933450" y="41052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Mentor: Yunhan Zheng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DDC8353-7E59-4C0E-B1B1-65FAEDA9D353}"/>
              </a:ext>
            </a:extLst>
          </p:cNvPr>
          <p:cNvSpPr>
            <a:spLocks noGrp="1"/>
          </p:cNvSpPr>
          <p:nvPr/>
        </p:nvSpPr>
        <p:spPr>
          <a:xfrm>
            <a:off x="8286750" y="5000625"/>
            <a:ext cx="2857500" cy="266700"/>
          </a:xfrm>
          <a:prstGeom prst="roundRect">
            <a:avLst>
              <a:gd name="adj" fmla="val 28571"/>
            </a:avLst>
          </a:prstGeom>
          <a:solidFill>
            <a:srgbClr val="F6E9EC"/>
          </a:solidFill>
          <a:ln w="9525">
            <a:solidFill>
              <a:srgbClr val="F6E9EC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8C3460-F449-4A6B-B1F6-460247D10FAF}"/>
              </a:ext>
            </a:extLst>
          </p:cNvPr>
          <p:cNvSpPr>
            <a:spLocks noGrp="1"/>
          </p:cNvSpPr>
          <p:nvPr/>
        </p:nvSpPr>
        <p:spPr>
          <a:xfrm>
            <a:off x="8286750" y="5029200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RESPONSE, NOT RESEMBLANCE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5542204-87A2-4582-A7D2-4869AF96AF24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C9140B-45FD-4A33-BE57-72BDD68311A9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0292E9-906D-4C09-BDEB-3A26B81789DB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913BB3-667B-40E7-BE61-876EEE7CB8C3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4DE13A-5909-4C49-8159-8360CF444545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0D7726-4B73-4216-945C-1C0B19025EA7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B16508-A615-4419-B4F7-E8B0835F3C58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1061923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49BF24F2-685B-4637-8C54-B0EBBF51E615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95250" cy="3333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F1A8A8-85B8-4C6F-9E28-61C5653B7E4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What does this research aim to answer?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6FAB5F-D48D-4922-B8CD-7C9402B831B4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01375" cy="19050"/>
          </a:xfrm>
          <a:prstGeom prst="rect">
            <a:avLst/>
          </a:prstGeom>
          <a:solidFill>
            <a:srgbClr val="E8C9C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8A04F5-BF32-44D5-AB18-71CF5674F312}"/>
              </a:ext>
            </a:extLst>
          </p:cNvPr>
          <p:cNvSpPr>
            <a:spLocks noGrp="1"/>
          </p:cNvSpPr>
          <p:nvPr/>
        </p:nvSpPr>
        <p:spPr>
          <a:xfrm>
            <a:off x="9525000" y="742950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RESEARCH QUESTION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1ABCCD-6D75-4C87-9B6D-2C36F2C0BCF9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18637F-56CF-4068-A7E0-3500C7D5A4D8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C91F38-F6CC-4C32-AD3B-3C7A5EA196CD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FC6FB9-6B90-4155-8E4E-DB48C231C7AC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CFF198-7A2E-47A9-9AB8-9723BED40869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838BF4-FD16-4862-8630-2B6C9E210C8C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2E5F05-02DC-4976-8AB6-A71863D387CE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7F5944-3012-4B97-A2B7-92A2F4E608F1}"/>
              </a:ext>
            </a:extLst>
          </p:cNvPr>
          <p:cNvSpPr>
            <a:spLocks noGrp="1"/>
          </p:cNvSpPr>
          <p:nvPr/>
        </p:nvSpPr>
        <p:spPr>
          <a:xfrm>
            <a:off x="666750" y="952500"/>
            <a:ext cx="1085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0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How do metro station openings change nearby urban activity, and can pre-opening conditions predict which places will respond similarly?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1CA854-9C18-4685-8E55-C58BE4EAB66B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1085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The study covers 44 Chinese metro cities and station openings from 2010 to 2025. It estimates responses in POI activity, night lights, population, and housing price, then learns a representation that brings places with similar estimated responses closer together.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7A8F2A-B7F9-43B3-B1AB-2610DB38FDB0}"/>
              </a:ext>
            </a:extLst>
          </p:cNvPr>
          <p:cNvSpPr>
            <a:spLocks noGrp="1"/>
          </p:cNvSpPr>
          <p:nvPr/>
        </p:nvSpPr>
        <p:spPr>
          <a:xfrm>
            <a:off x="666750" y="2667000"/>
            <a:ext cx="2381250" cy="2714625"/>
          </a:xfrm>
          <a:prstGeom prst="rect">
            <a:avLst/>
          </a:prstGeom>
          <a:solidFill>
            <a:srgbClr val="F5F5F3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EB8BB9B-CCEC-41B1-9F2A-71DCCFE9C203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342900" cy="266700"/>
          </a:xfrm>
          <a:prstGeom prst="roundRect">
            <a:avLst>
              <a:gd name="adj" fmla="val 28571"/>
            </a:avLst>
          </a:prstGeom>
          <a:solidFill>
            <a:srgbClr val="A31F34"/>
          </a:solidFill>
          <a:ln w="9525">
            <a:solidFill>
              <a:srgbClr val="A31F3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22AA19-7803-4E84-9896-52338E5FEEFD}"/>
              </a:ext>
            </a:extLst>
          </p:cNvPr>
          <p:cNvSpPr>
            <a:spLocks noGrp="1"/>
          </p:cNvSpPr>
          <p:nvPr/>
        </p:nvSpPr>
        <p:spPr>
          <a:xfrm>
            <a:off x="838200" y="2886075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29F848-7A20-4A95-AEBD-936B705F23F1}"/>
              </a:ext>
            </a:extLst>
          </p:cNvPr>
          <p:cNvSpPr>
            <a:spLocks noGrp="1"/>
          </p:cNvSpPr>
          <p:nvPr/>
        </p:nvSpPr>
        <p:spPr>
          <a:xfrm>
            <a:off x="1285875" y="286702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Spatial unit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DA13F2B-D5E4-42B6-B024-A354F5643C96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19526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A fixed 500 m × 500 m grid containing the station coordinate.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27EF20-C787-4993-947C-11439B01B5D2}"/>
              </a:ext>
            </a:extLst>
          </p:cNvPr>
          <p:cNvSpPr>
            <a:spLocks noGrp="1"/>
          </p:cNvSpPr>
          <p:nvPr/>
        </p:nvSpPr>
        <p:spPr>
          <a:xfrm>
            <a:off x="3409950" y="2667000"/>
            <a:ext cx="2381250" cy="27146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7E7C979-5DB6-4107-B042-33BE548D0498}"/>
              </a:ext>
            </a:extLst>
          </p:cNvPr>
          <p:cNvSpPr>
            <a:spLocks noGrp="1"/>
          </p:cNvSpPr>
          <p:nvPr/>
        </p:nvSpPr>
        <p:spPr>
          <a:xfrm>
            <a:off x="3581400" y="2857500"/>
            <a:ext cx="342900" cy="266700"/>
          </a:xfrm>
          <a:prstGeom prst="roundRect">
            <a:avLst>
              <a:gd name="adj" fmla="val 28571"/>
            </a:avLst>
          </a:prstGeom>
          <a:solidFill>
            <a:srgbClr val="777777"/>
          </a:solidFill>
          <a:ln w="9525">
            <a:solidFill>
              <a:srgbClr val="777777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DA7F3D3-0D44-4BDC-A3E5-12D357AD36EC}"/>
              </a:ext>
            </a:extLst>
          </p:cNvPr>
          <p:cNvSpPr>
            <a:spLocks noGrp="1"/>
          </p:cNvSpPr>
          <p:nvPr/>
        </p:nvSpPr>
        <p:spPr>
          <a:xfrm>
            <a:off x="3581400" y="2886075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7E4176-7BBD-49A5-9CE0-5A73299B8194}"/>
              </a:ext>
            </a:extLst>
          </p:cNvPr>
          <p:cNvSpPr>
            <a:spLocks noGrp="1"/>
          </p:cNvSpPr>
          <p:nvPr/>
        </p:nvSpPr>
        <p:spPr>
          <a:xfrm>
            <a:off x="4029075" y="286702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Treatment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39AE53-103D-4D88-8EE0-694898A5EED5}"/>
              </a:ext>
            </a:extLst>
          </p:cNvPr>
          <p:cNvSpPr>
            <a:spLocks noGrp="1"/>
          </p:cNvSpPr>
          <p:nvPr/>
        </p:nvSpPr>
        <p:spPr>
          <a:xfrm>
            <a:off x="3619500" y="3352800"/>
            <a:ext cx="19526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Official station opening. The partial opening month is excluded; the next complete month or year is t = 1.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BEAF380-2D08-414E-A2D1-E1AA6A6FCC37}"/>
              </a:ext>
            </a:extLst>
          </p:cNvPr>
          <p:cNvSpPr>
            <a:spLocks noGrp="1"/>
          </p:cNvSpPr>
          <p:nvPr/>
        </p:nvSpPr>
        <p:spPr>
          <a:xfrm>
            <a:off x="6153150" y="2667000"/>
            <a:ext cx="2381250" cy="2714625"/>
          </a:xfrm>
          <a:prstGeom prst="rect">
            <a:avLst/>
          </a:prstGeom>
          <a:solidFill>
            <a:srgbClr val="F5F5F3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C323FD9-A272-4912-8F4F-2E3B752F9A94}"/>
              </a:ext>
            </a:extLst>
          </p:cNvPr>
          <p:cNvSpPr>
            <a:spLocks noGrp="1"/>
          </p:cNvSpPr>
          <p:nvPr/>
        </p:nvSpPr>
        <p:spPr>
          <a:xfrm>
            <a:off x="6324600" y="2857500"/>
            <a:ext cx="342900" cy="266700"/>
          </a:xfrm>
          <a:prstGeom prst="roundRect">
            <a:avLst>
              <a:gd name="adj" fmla="val 28571"/>
            </a:avLst>
          </a:prstGeom>
          <a:solidFill>
            <a:srgbClr val="777777"/>
          </a:solidFill>
          <a:ln w="9525">
            <a:solidFill>
              <a:srgbClr val="777777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A064619-4936-4C9C-BD8E-406E5998BAE9}"/>
              </a:ext>
            </a:extLst>
          </p:cNvPr>
          <p:cNvSpPr>
            <a:spLocks noGrp="1"/>
          </p:cNvSpPr>
          <p:nvPr/>
        </p:nvSpPr>
        <p:spPr>
          <a:xfrm>
            <a:off x="6324600" y="2886075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8F9CB0-6305-4DCA-8372-DF430B5C4468}"/>
              </a:ext>
            </a:extLst>
          </p:cNvPr>
          <p:cNvSpPr>
            <a:spLocks noGrp="1"/>
          </p:cNvSpPr>
          <p:nvPr/>
        </p:nvSpPr>
        <p:spPr>
          <a:xfrm>
            <a:off x="6772275" y="286702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Causal label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35C79EA-868B-49A2-9CAC-169D40C59977}"/>
              </a:ext>
            </a:extLst>
          </p:cNvPr>
          <p:cNvSpPr>
            <a:spLocks noGrp="1"/>
          </p:cNvSpPr>
          <p:nvPr/>
        </p:nvSpPr>
        <p:spPr>
          <a:xfrm>
            <a:off x="6362700" y="3352800"/>
            <a:ext cx="19526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Post-opening observed change minus the strongest credible untreated counterfactual.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D903D79-E9B0-453F-BC81-7E87DB4A5597}"/>
              </a:ext>
            </a:extLst>
          </p:cNvPr>
          <p:cNvSpPr>
            <a:spLocks noGrp="1"/>
          </p:cNvSpPr>
          <p:nvPr/>
        </p:nvSpPr>
        <p:spPr>
          <a:xfrm>
            <a:off x="8896350" y="2667000"/>
            <a:ext cx="2381250" cy="27146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2593470-C26C-41F6-8302-D8567019BF5D}"/>
              </a:ext>
            </a:extLst>
          </p:cNvPr>
          <p:cNvSpPr>
            <a:spLocks noGrp="1"/>
          </p:cNvSpPr>
          <p:nvPr/>
        </p:nvSpPr>
        <p:spPr>
          <a:xfrm>
            <a:off x="9067800" y="2857500"/>
            <a:ext cx="342900" cy="266700"/>
          </a:xfrm>
          <a:prstGeom prst="roundRect">
            <a:avLst>
              <a:gd name="adj" fmla="val 28571"/>
            </a:avLst>
          </a:prstGeom>
          <a:solidFill>
            <a:srgbClr val="777777"/>
          </a:solidFill>
          <a:ln w="9525">
            <a:solidFill>
              <a:srgbClr val="777777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5C0865B-4885-4213-A4D5-927A983161D0}"/>
              </a:ext>
            </a:extLst>
          </p:cNvPr>
          <p:cNvSpPr>
            <a:spLocks noGrp="1"/>
          </p:cNvSpPr>
          <p:nvPr/>
        </p:nvSpPr>
        <p:spPr>
          <a:xfrm>
            <a:off x="9067800" y="2886075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546ABB9-D51C-40E3-A4FA-6D4DC562A3C8}"/>
              </a:ext>
            </a:extLst>
          </p:cNvPr>
          <p:cNvSpPr>
            <a:spLocks noGrp="1"/>
          </p:cNvSpPr>
          <p:nvPr/>
        </p:nvSpPr>
        <p:spPr>
          <a:xfrm>
            <a:off x="9515475" y="2867025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Final test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9EF4960-903F-4F4E-BF89-212C085510A4}"/>
              </a:ext>
            </a:extLst>
          </p:cNvPr>
          <p:cNvSpPr>
            <a:spLocks noGrp="1"/>
          </p:cNvSpPr>
          <p:nvPr/>
        </p:nvSpPr>
        <p:spPr>
          <a:xfrm>
            <a:off x="9105900" y="3352800"/>
            <a:ext cx="19526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Predict responses for other stations, especially cities not used in training.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B936CC7-BB37-4292-BDF0-7A486CFA6116}"/>
              </a:ext>
            </a:extLst>
          </p:cNvPr>
          <p:cNvSpPr>
            <a:spLocks noGrp="1"/>
          </p:cNvSpPr>
          <p:nvPr/>
        </p:nvSpPr>
        <p:spPr>
          <a:xfrm>
            <a:off x="666750" y="5695950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Core estimand: the response of a station grid relative to what would have happened without that opening.</a:t>
            </a:r>
          </a:p>
        </p:txBody>
      </p:sp>
    </p:spTree>
    <p:extLst>
      <p:ext uri="{BB962C8B-B14F-4D97-AF65-F5344CB8AC3E}">
        <p14:creationId xmlns:p14="http://schemas.microsoft.com/office/powerpoint/2010/main" val="666568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7C172238-10F0-4EA8-8E00-71E0994AA527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95250" cy="3333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C064D2-6E58-42F0-B29B-1B93DD835CB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The presentation follows the research design in order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7FBC62-8704-4CA2-8BEF-B5473F5BE966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01375" cy="19050"/>
          </a:xfrm>
          <a:prstGeom prst="rect">
            <a:avLst/>
          </a:prstGeom>
          <a:solidFill>
            <a:srgbClr val="E8C9C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BCB496-735E-44A4-ABA8-8AA3212DCFA4}"/>
              </a:ext>
            </a:extLst>
          </p:cNvPr>
          <p:cNvSpPr>
            <a:spLocks noGrp="1"/>
          </p:cNvSpPr>
          <p:nvPr/>
        </p:nvSpPr>
        <p:spPr>
          <a:xfrm>
            <a:off x="9525000" y="742950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STUDY WORKFLOW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EAD097-0FA5-43D7-8590-26E4390D839B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BB0984-FC82-4FDC-B11D-314A88EAD413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12701A-D4A4-40A6-B2C5-A3FEF55BEECD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252424-1226-41BB-B4B0-8A45DC8037B0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10BE4E-FF47-40DF-956E-141147DE3CE8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FFB3ED7-E6BB-402A-8943-9635FCF7D5E7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F2BD21-CBED-4684-8EF1-E68C6BA2759F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05922E-4DB6-4C6E-A3B2-285F76E94D01}"/>
              </a:ext>
            </a:extLst>
          </p:cNvPr>
          <p:cNvSpPr>
            <a:spLocks noGrp="1"/>
          </p:cNvSpPr>
          <p:nvPr/>
        </p:nvSpPr>
        <p:spPr>
          <a:xfrm>
            <a:off x="857250" y="1685925"/>
            <a:ext cx="400050" cy="266700"/>
          </a:xfrm>
          <a:prstGeom prst="roundRect">
            <a:avLst>
              <a:gd name="adj" fmla="val 0"/>
            </a:avLst>
          </a:prstGeom>
          <a:solidFill>
            <a:srgbClr val="A31F34"/>
          </a:solidFill>
          <a:ln w="9525">
            <a:solidFill>
              <a:srgbClr val="A31F34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4EC35B-131A-462B-B05D-5F3923FFF385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92C41D-292D-4373-8DFB-C0BD00FCEA72}"/>
              </a:ext>
            </a:extLst>
          </p:cNvPr>
          <p:cNvSpPr>
            <a:spLocks noGrp="1"/>
          </p:cNvSpPr>
          <p:nvPr/>
        </p:nvSpPr>
        <p:spPr>
          <a:xfrm>
            <a:off x="857250" y="22479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6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Step 1  Matching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9DE82F-FEC7-44E9-A279-3E597B9449A3}"/>
              </a:ext>
            </a:extLst>
          </p:cNvPr>
          <p:cNvSpPr>
            <a:spLocks noGrp="1"/>
          </p:cNvSpPr>
          <p:nvPr/>
        </p:nvSpPr>
        <p:spPr>
          <a:xfrm>
            <a:off x="857250" y="2933700"/>
            <a:ext cx="2476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Define treated and donor grids; match on pre-opening outcomes; accept pairs only when pre-treatment quality gates pass.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6AF6C84-C860-457C-B639-7FE9ABAFB2A9}"/>
              </a:ext>
            </a:extLst>
          </p:cNvPr>
          <p:cNvSpPr>
            <a:spLocks noGrp="1"/>
          </p:cNvSpPr>
          <p:nvPr/>
        </p:nvSpPr>
        <p:spPr>
          <a:xfrm>
            <a:off x="3609975" y="2857500"/>
            <a:ext cx="381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300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28AAE761-5508-4BAD-B3A7-AEB2C1BBFA75}"/>
              </a:ext>
            </a:extLst>
          </p:cNvPr>
          <p:cNvSpPr>
            <a:spLocks noGrp="1"/>
          </p:cNvSpPr>
          <p:nvPr/>
        </p:nvSpPr>
        <p:spPr>
          <a:xfrm>
            <a:off x="4191000" y="1685925"/>
            <a:ext cx="400050" cy="266700"/>
          </a:xfrm>
          <a:prstGeom prst="roundRect">
            <a:avLst>
              <a:gd name="adj" fmla="val 0"/>
            </a:avLst>
          </a:prstGeom>
          <a:solidFill>
            <a:srgbClr val="D97B29"/>
          </a:solidFill>
          <a:ln w="9525">
            <a:solidFill>
              <a:srgbClr val="D97B29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9958B74-A167-4F85-99D7-26F0C6937C82}"/>
              </a:ext>
            </a:extLst>
          </p:cNvPr>
          <p:cNvSpPr>
            <a:spLocks noGrp="1"/>
          </p:cNvSpPr>
          <p:nvPr/>
        </p:nvSpPr>
        <p:spPr>
          <a:xfrm>
            <a:off x="4191000" y="17145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99B02A-4DA1-47EC-B34E-8B8FC73E8099}"/>
              </a:ext>
            </a:extLst>
          </p:cNvPr>
          <p:cNvSpPr>
            <a:spLocks noGrp="1"/>
          </p:cNvSpPr>
          <p:nvPr/>
        </p:nvSpPr>
        <p:spPr>
          <a:xfrm>
            <a:off x="4191000" y="22479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6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Step 2  Counterfactual response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1E4885D-E407-412D-9937-0C29456C3F56}"/>
              </a:ext>
            </a:extLst>
          </p:cNvPr>
          <p:cNvSpPr>
            <a:spLocks noGrp="1"/>
          </p:cNvSpPr>
          <p:nvPr/>
        </p:nvSpPr>
        <p:spPr>
          <a:xfrm>
            <a:off x="4191000" y="2933700"/>
            <a:ext cx="2476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Estimate post-opening response with matched change, GSC, or Matrix Completion; convert each grid–outcome–horizon estimate into a label.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6243B5C-9292-4005-9704-4CC6325D8CE3}"/>
              </a:ext>
            </a:extLst>
          </p:cNvPr>
          <p:cNvSpPr>
            <a:spLocks noGrp="1"/>
          </p:cNvSpPr>
          <p:nvPr/>
        </p:nvSpPr>
        <p:spPr>
          <a:xfrm>
            <a:off x="6943725" y="2857500"/>
            <a:ext cx="381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300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FC7A4E1-B7AA-4EC7-84C0-D146C2D61933}"/>
              </a:ext>
            </a:extLst>
          </p:cNvPr>
          <p:cNvSpPr>
            <a:spLocks noGrp="1"/>
          </p:cNvSpPr>
          <p:nvPr/>
        </p:nvSpPr>
        <p:spPr>
          <a:xfrm>
            <a:off x="7524750" y="1685925"/>
            <a:ext cx="400050" cy="266700"/>
          </a:xfrm>
          <a:prstGeom prst="roundRect">
            <a:avLst>
              <a:gd name="adj" fmla="val 0"/>
            </a:avLst>
          </a:prstGeom>
          <a:solidFill>
            <a:srgbClr val="2C6E9B"/>
          </a:solidFill>
          <a:ln w="9525">
            <a:solidFill>
              <a:srgbClr val="2C6E9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0C1E8CB-70F9-4B04-A3C8-C3FD2FA36651}"/>
              </a:ext>
            </a:extLst>
          </p:cNvPr>
          <p:cNvSpPr>
            <a:spLocks noGrp="1"/>
          </p:cNvSpPr>
          <p:nvPr/>
        </p:nvSpPr>
        <p:spPr>
          <a:xfrm>
            <a:off x="7524750" y="17145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074632A-6CD5-4768-8160-92B615DAD206}"/>
              </a:ext>
            </a:extLst>
          </p:cNvPr>
          <p:cNvSpPr>
            <a:spLocks noGrp="1"/>
          </p:cNvSpPr>
          <p:nvPr/>
        </p:nvSpPr>
        <p:spPr>
          <a:xfrm>
            <a:off x="7524750" y="224790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6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Step 3  Representation learning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39BB3EE-A48F-4417-B31E-54A4B30DAE66}"/>
              </a:ext>
            </a:extLst>
          </p:cNvPr>
          <p:cNvSpPr>
            <a:spLocks noGrp="1"/>
          </p:cNvSpPr>
          <p:nvPr/>
        </p:nvSpPr>
        <p:spPr>
          <a:xfrm>
            <a:off x="7524750" y="2933700"/>
            <a:ext cx="2476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Encode 27 pre-opening features; align embedding geometry with response similarity; evaluate prediction and cross-city transfer.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073CDE-60AA-4B65-84E5-F030F9883343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952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8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Causal credibility comes before embedding quality.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AD44B79-8393-4A5A-8D18-DE48B1EC459D}"/>
              </a:ext>
            </a:extLst>
          </p:cNvPr>
          <p:cNvSpPr>
            <a:spLocks noGrp="1"/>
          </p:cNvSpPr>
          <p:nvPr/>
        </p:nvSpPr>
        <p:spPr>
          <a:xfrm>
            <a:off x="666750" y="5781675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The response labels are the supervised signal; they must be auditable before the representation can be trusted.</a:t>
            </a:r>
          </a:p>
        </p:txBody>
      </p:sp>
    </p:spTree>
    <p:extLst>
      <p:ext uri="{BB962C8B-B14F-4D97-AF65-F5344CB8AC3E}">
        <p14:creationId xmlns:p14="http://schemas.microsoft.com/office/powerpoint/2010/main" val="79109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4BC4BF5-8671-441E-93DB-4C93AC1B38F1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95250" cy="3333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F27DBE-46A3-48CD-84FD-5988AC08F65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Data sources and their role in the design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7BE790-A596-4E73-9B48-966901D6CE4D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01375" cy="19050"/>
          </a:xfrm>
          <a:prstGeom prst="rect">
            <a:avLst/>
          </a:prstGeom>
          <a:solidFill>
            <a:srgbClr val="E8C9C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6F305D-E591-4FC2-BF41-C89F9F9FC9D2}"/>
              </a:ext>
            </a:extLst>
          </p:cNvPr>
          <p:cNvSpPr>
            <a:spLocks noGrp="1"/>
          </p:cNvSpPr>
          <p:nvPr/>
        </p:nvSpPr>
        <p:spPr>
          <a:xfrm>
            <a:off x="9525000" y="742950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DATA INVENTORY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220757-5027-4E7B-9C0F-9AE79AD9B0A5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5D77E3-85BF-4F11-B8D1-9B1F24A4BB57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B07EED-0821-4D13-ACE0-C8E943A46A31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28C3BF-E954-4ECC-80B1-2372EED4C853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424D40-1FC6-48F6-8FC0-2895D8840594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60A000-0916-4C6D-8D2D-E4D600341C68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E64B46-F943-4BE7-B050-C775F3DD8D71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  <p:graphicFrame>
        <p:nvGraphicFramePr>
          <p:cNvPr id="26" name="表格 25"/>
          <p:cNvGraphicFramePr/>
          <p:nvPr/>
        </p:nvGraphicFramePr>
        <p:xfrm>
          <a:off x="552450" y="1066800"/>
          <a:ext cx="11096625" cy="4267200"/>
        </p:xfrm>
        <a:graphic>
          <a:graphicData uri="http://schemas.openxmlformats.org/drawingml/2006/table">
            <a:tbl>
              <a:tblPr/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Spatiotemporal unit</a:t>
                      </a:r>
                    </a:p>
                  </a:txBody>
                  <a:tcPr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Frequency</a:t>
                      </a:r>
                    </a:p>
                  </a:txBody>
                  <a:tcPr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A31F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A31F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Housing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500 m grid × month/year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2004–2025*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Monthly + annual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Lianjia, Anjuke, archived and open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Outcome; matching; representation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POI activity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500 m grid × year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2012–2024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Annual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AMap historical archive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Outcome; matching; representation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500 m grid ×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2010–2024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Annual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WorldPop legacy + R2024b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Outcome; matching; representation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Night lights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500 m grid × month/year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2012–2024 monthly; 2014–2024 annual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Monthly + annual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NASA VIIRS VNP46A2 via GEE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Outcome; matching; representation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NDVI / NDBI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500 m grid ×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2014–2024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Annual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Copernicus Sentinel-2 via GEE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Representation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Station openings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Station event + treated grid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2010–2025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Event month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Official and compiled opening records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242424"/>
                          </a:solidFill>
                        </a:rPr>
                        <a:t>Treatment index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A8BC3752-3022-490C-80BA-8F599CB98D50}"/>
              </a:ext>
            </a:extLst>
          </p:cNvPr>
          <p:cNvSpPr>
            <a:spLocks noGrp="1"/>
          </p:cNvSpPr>
          <p:nvPr/>
        </p:nvSpPr>
        <p:spPr>
          <a:xfrm>
            <a:off x="619125" y="5476875"/>
            <a:ext cx="10858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0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Scale indicators: POI archive 14.39 million rows; formal annual housing input 239,591 grid-years; frozen donor universe 3.77 million grids. These are different units and are not summed.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B5390D-AFBC-4066-BA1E-77E4654C7A6C}"/>
              </a:ext>
            </a:extLst>
          </p:cNvPr>
          <p:cNvSpPr>
            <a:spLocks noGrp="1"/>
          </p:cNvSpPr>
          <p:nvPr/>
        </p:nvSpPr>
        <p:spPr>
          <a:xfrm>
            <a:off x="619125" y="5791200"/>
            <a:ext cx="10858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* Housing coverage is city-specific and irregular; coverage years do not imply a complete panel for every treated–control pair.</a:t>
            </a:r>
          </a:p>
        </p:txBody>
      </p:sp>
    </p:spTree>
    <p:extLst>
      <p:ext uri="{BB962C8B-B14F-4D97-AF65-F5344CB8AC3E}">
        <p14:creationId xmlns:p14="http://schemas.microsoft.com/office/powerpoint/2010/main" val="147473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988563E8-68AC-4216-A55F-302CCEBDDA75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95250" cy="3333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B5FE2C-1BAA-4051-A509-8BD72D92328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Three model time points are pre-treatment summaries—not three monthly observations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5D37D0-3B01-42F7-B0B2-DC4DDA4838C0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01375" cy="19050"/>
          </a:xfrm>
          <a:prstGeom prst="rect">
            <a:avLst/>
          </a:prstGeom>
          <a:solidFill>
            <a:srgbClr val="E8C9C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5FA7B5-2808-4DF7-8ADB-404A63A0803C}"/>
              </a:ext>
            </a:extLst>
          </p:cNvPr>
          <p:cNvSpPr>
            <a:spLocks noGrp="1"/>
          </p:cNvSpPr>
          <p:nvPr/>
        </p:nvSpPr>
        <p:spPr>
          <a:xfrm>
            <a:off x="9525000" y="742950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TEMPORAL DESIGN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35F4CE-8706-4DFA-B4E6-1816018DFE1D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B35EAE5-CD20-4D1C-9BD6-09A4F3AD6AFA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9B4AA7-D099-4E5D-975F-E8652E8AD6F1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FE08A2-76A6-45BD-8F0E-19E5687FF1EE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D95238-6BDF-49C7-A96F-FC1694FA6059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81DD03-A341-48D4-B826-003120AE0400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F7B4503-BA5E-4C0F-90FA-50BAF4ACCAA8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4892A7-60BE-4F62-89B3-6D4A143F7E32}"/>
              </a:ext>
            </a:extLst>
          </p:cNvPr>
          <p:cNvSpPr>
            <a:spLocks noGrp="1"/>
          </p:cNvSpPr>
          <p:nvPr/>
        </p:nvSpPr>
        <p:spPr>
          <a:xfrm>
            <a:off x="647700" y="1143000"/>
            <a:ext cx="5238750" cy="4000500"/>
          </a:xfrm>
          <a:prstGeom prst="rect">
            <a:avLst/>
          </a:prstGeom>
          <a:solidFill>
            <a:srgbClr val="EAF2F7"/>
          </a:solidFill>
          <a:ln w="9525">
            <a:solidFill>
              <a:srgbClr val="BED3E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5ED9B7-82B3-4988-80CA-DDA38BD99637}"/>
              </a:ext>
            </a:extLst>
          </p:cNvPr>
          <p:cNvSpPr>
            <a:spLocks noGrp="1"/>
          </p:cNvSpPr>
          <p:nvPr/>
        </p:nvSpPr>
        <p:spPr>
          <a:xfrm>
            <a:off x="904875" y="1381125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725" b="1" i="0">
                <a:solidFill>
                  <a:srgbClr val="2C6E9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C6E9B"/>
                </a:solidFill>
                <a:latin typeface="Times New Roman"/>
                <a:ea typeface="Times New Roman"/>
                <a:cs typeface="Times New Roman"/>
              </a:rPr>
              <a:t>Original outcome timing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114874-0C7A-4722-B2B4-BE9FB9F6FAAA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10503F-4184-4709-B551-77240ACB4E93}"/>
              </a:ext>
            </a:extLst>
          </p:cNvPr>
          <p:cNvSpPr>
            <a:spLocks noGrp="1"/>
          </p:cNvSpPr>
          <p:nvPr/>
        </p:nvSpPr>
        <p:spPr>
          <a:xfrm>
            <a:off x="1114425" y="1952625"/>
            <a:ext cx="43624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Housing and VIIRS are available as monthly outcomes.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2237D41-7D6D-42DD-80E9-9D164B888B51}"/>
              </a:ext>
            </a:extLst>
          </p:cNvPr>
          <p:cNvSpPr>
            <a:spLocks noGrp="1"/>
          </p:cNvSpPr>
          <p:nvPr/>
        </p:nvSpPr>
        <p:spPr>
          <a:xfrm>
            <a:off x="904875" y="25527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B199BB2-0846-4CEA-81C9-8B48259BC241}"/>
              </a:ext>
            </a:extLst>
          </p:cNvPr>
          <p:cNvSpPr>
            <a:spLocks noGrp="1"/>
          </p:cNvSpPr>
          <p:nvPr/>
        </p:nvSpPr>
        <p:spPr>
          <a:xfrm>
            <a:off x="1114425" y="2552700"/>
            <a:ext cx="43624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POI and population are annual outcomes.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DDB045E-B867-4BBB-A7DB-06D78687411A}"/>
              </a:ext>
            </a:extLst>
          </p:cNvPr>
          <p:cNvSpPr>
            <a:spLocks noGrp="1"/>
          </p:cNvSpPr>
          <p:nvPr/>
        </p:nvSpPr>
        <p:spPr>
          <a:xfrm>
            <a:off x="904875" y="315277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1BBCE15-46CD-46D4-B94F-2EC21C6C4A71}"/>
              </a:ext>
            </a:extLst>
          </p:cNvPr>
          <p:cNvSpPr>
            <a:spLocks noGrp="1"/>
          </p:cNvSpPr>
          <p:nvPr/>
        </p:nvSpPr>
        <p:spPr>
          <a:xfrm>
            <a:off x="1114425" y="3152775"/>
            <a:ext cx="43624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Opening month is partial exposure and is excluded.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77ABCD-9CE5-469B-8548-6537DF561806}"/>
              </a:ext>
            </a:extLst>
          </p:cNvPr>
          <p:cNvSpPr>
            <a:spLocks noGrp="1"/>
          </p:cNvSpPr>
          <p:nvPr/>
        </p:nvSpPr>
        <p:spPr>
          <a:xfrm>
            <a:off x="904875" y="37528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E4EBB-0C63-4C5A-8CB4-DB97EB4D79D4}"/>
              </a:ext>
            </a:extLst>
          </p:cNvPr>
          <p:cNvSpPr>
            <a:spLocks noGrp="1"/>
          </p:cNvSpPr>
          <p:nvPr/>
        </p:nvSpPr>
        <p:spPr>
          <a:xfrm>
            <a:off x="1114425" y="3752850"/>
            <a:ext cx="436245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Monthly labels use months 1, 3, 6, 12, 18, and 24; annual labels use full years 1, 2, and 3.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F66FA7E-7F7B-48E7-82A1-50F048062740}"/>
              </a:ext>
            </a:extLst>
          </p:cNvPr>
          <p:cNvSpPr>
            <a:spLocks noGrp="1"/>
          </p:cNvSpPr>
          <p:nvPr/>
        </p:nvSpPr>
        <p:spPr>
          <a:xfrm>
            <a:off x="6286500" y="1143000"/>
            <a:ext cx="523875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6C50A61-1AB5-48AD-AEB5-ABA740C9EF94}"/>
              </a:ext>
            </a:extLst>
          </p:cNvPr>
          <p:cNvSpPr>
            <a:spLocks noGrp="1"/>
          </p:cNvSpPr>
          <p:nvPr/>
        </p:nvSpPr>
        <p:spPr>
          <a:xfrm>
            <a:off x="6543675" y="1381125"/>
            <a:ext cx="4476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7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Representation input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4D686D2-40A2-4685-8EC6-D1CAE2CB5294}"/>
              </a:ext>
            </a:extLst>
          </p:cNvPr>
          <p:cNvSpPr>
            <a:spLocks noGrp="1"/>
          </p:cNvSpPr>
          <p:nvPr/>
        </p:nvSpPr>
        <p:spPr>
          <a:xfrm>
            <a:off x="6591300" y="2152650"/>
            <a:ext cx="1314450" cy="857250"/>
          </a:xfrm>
          <a:prstGeom prst="rect">
            <a:avLst/>
          </a:prstGeom>
          <a:solidFill>
            <a:srgbClr val="F5F5F3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3E76B01-2793-40A4-9225-F9FAE80324CF}"/>
              </a:ext>
            </a:extLst>
          </p:cNvPr>
          <p:cNvSpPr>
            <a:spLocks noGrp="1"/>
          </p:cNvSpPr>
          <p:nvPr/>
        </p:nvSpPr>
        <p:spPr>
          <a:xfrm>
            <a:off x="6638925" y="238125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Opening −3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C4DBBCF-3D88-49C8-9245-D3DCFA582810}"/>
              </a:ext>
            </a:extLst>
          </p:cNvPr>
          <p:cNvSpPr>
            <a:spLocks noGrp="1"/>
          </p:cNvSpPr>
          <p:nvPr/>
        </p:nvSpPr>
        <p:spPr>
          <a:xfrm>
            <a:off x="8115300" y="2152650"/>
            <a:ext cx="1314450" cy="857250"/>
          </a:xfrm>
          <a:prstGeom prst="rect">
            <a:avLst/>
          </a:prstGeom>
          <a:solidFill>
            <a:srgbClr val="F5F5F3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68B3BB0-906C-483F-B519-01967367558A}"/>
              </a:ext>
            </a:extLst>
          </p:cNvPr>
          <p:cNvSpPr>
            <a:spLocks noGrp="1"/>
          </p:cNvSpPr>
          <p:nvPr/>
        </p:nvSpPr>
        <p:spPr>
          <a:xfrm>
            <a:off x="8162925" y="238125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Opening −2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176FA9-1EBE-4CCC-B07B-D1ABFA527F9E}"/>
              </a:ext>
            </a:extLst>
          </p:cNvPr>
          <p:cNvSpPr>
            <a:spLocks noGrp="1"/>
          </p:cNvSpPr>
          <p:nvPr/>
        </p:nvSpPr>
        <p:spPr>
          <a:xfrm>
            <a:off x="9639300" y="2152650"/>
            <a:ext cx="1314450" cy="857250"/>
          </a:xfrm>
          <a:prstGeom prst="rect">
            <a:avLst/>
          </a:prstGeom>
          <a:solidFill>
            <a:srgbClr val="F6E9EC"/>
          </a:solidFill>
          <a:ln w="9525">
            <a:solidFill>
              <a:srgbClr val="D8A8B2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3B0B091-F09C-4FC0-82C3-22D781663BFF}"/>
              </a:ext>
            </a:extLst>
          </p:cNvPr>
          <p:cNvSpPr>
            <a:spLocks noGrp="1"/>
          </p:cNvSpPr>
          <p:nvPr/>
        </p:nvSpPr>
        <p:spPr>
          <a:xfrm>
            <a:off x="9686925" y="238125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Opening −1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02AC1E-F47B-40BE-ACAE-B1FAE876F433}"/>
              </a:ext>
            </a:extLst>
          </p:cNvPr>
          <p:cNvSpPr>
            <a:spLocks noGrp="1"/>
          </p:cNvSpPr>
          <p:nvPr/>
        </p:nvSpPr>
        <p:spPr>
          <a:xfrm>
            <a:off x="6819900" y="3200400"/>
            <a:ext cx="2428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 i="0">
                <a:solidFill>
                  <a:srgbClr val="2C6E9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2C6E9B"/>
                </a:solidFill>
                <a:latin typeface="Times New Roman"/>
                <a:ea typeface="Times New Roman"/>
                <a:cs typeface="Times New Roman"/>
              </a:rPr>
              <a:t>lag 2 and lag 3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FF436A4-130E-4869-8542-B97848E8D807}"/>
              </a:ext>
            </a:extLst>
          </p:cNvPr>
          <p:cNvSpPr>
            <a:spLocks noGrp="1"/>
          </p:cNvSpPr>
          <p:nvPr/>
        </p:nvSpPr>
        <p:spPr>
          <a:xfrm>
            <a:off x="6819900" y="3486150"/>
            <a:ext cx="2428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used for matching distance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0C97C3F-D51C-40BE-9769-DD3FD481BA46}"/>
              </a:ext>
            </a:extLst>
          </p:cNvPr>
          <p:cNvSpPr>
            <a:spLocks noGrp="1"/>
          </p:cNvSpPr>
          <p:nvPr/>
        </p:nvSpPr>
        <p:spPr>
          <a:xfrm>
            <a:off x="9601200" y="320040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lag 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1E8740C-14AA-4D15-8F42-B3DC08A73278}"/>
              </a:ext>
            </a:extLst>
          </p:cNvPr>
          <p:cNvSpPr>
            <a:spLocks noGrp="1"/>
          </p:cNvSpPr>
          <p:nvPr/>
        </p:nvSpPr>
        <p:spPr>
          <a:xfrm>
            <a:off x="9315450" y="348615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held out for pre-fit validation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FBAEFF8-79DB-4917-9141-CA7FB25693F4}"/>
              </a:ext>
            </a:extLst>
          </p:cNvPr>
          <p:cNvSpPr>
            <a:spLocks noGrp="1"/>
          </p:cNvSpPr>
          <p:nvPr/>
        </p:nvSpPr>
        <p:spPr>
          <a:xfrm>
            <a:off x="6543675" y="4171950"/>
            <a:ext cx="1428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Why aggregate?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2103B77-C93D-40D7-92B7-2F029CC165E9}"/>
              </a:ext>
            </a:extLst>
          </p:cNvPr>
          <p:cNvSpPr>
            <a:spLocks noGrp="1"/>
          </p:cNvSpPr>
          <p:nvPr/>
        </p:nvSpPr>
        <p:spPr>
          <a:xfrm>
            <a:off x="6543675" y="4495800"/>
            <a:ext cx="4524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It harmonizes mixed-frequency sources, keeps every input strictly before treatment, creates a fixed 9 × 3 = 27-dimensional tensor, and reserves the closest pre-period as an honest quality check.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8B48ED3-D377-4046-9ABE-8AD49B44BB31}"/>
              </a:ext>
            </a:extLst>
          </p:cNvPr>
          <p:cNvSpPr>
            <a:spLocks noGrp="1"/>
          </p:cNvSpPr>
          <p:nvPr/>
        </p:nvSpPr>
        <p:spPr>
          <a:xfrm>
            <a:off x="762000" y="5553075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4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The model uses three comparable pre-opening lags; the causal outcome paths still retain their monthly or annual horizons.</a:t>
            </a:r>
          </a:p>
        </p:txBody>
      </p:sp>
    </p:spTree>
    <p:extLst>
      <p:ext uri="{BB962C8B-B14F-4D97-AF65-F5344CB8AC3E}">
        <p14:creationId xmlns:p14="http://schemas.microsoft.com/office/powerpoint/2010/main" val="1192203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F3D2FC72-1397-4415-9291-99C77964CC4F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95250" cy="3333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802770-732D-4F66-A6CC-5D0DFC95F62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Full research population and current usable release are different quantities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382E04-FC6E-4258-BD3B-5024FDF55CF3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01375" cy="19050"/>
          </a:xfrm>
          <a:prstGeom prst="rect">
            <a:avLst/>
          </a:prstGeom>
          <a:solidFill>
            <a:srgbClr val="E8C9C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A6C832-F1C1-4964-A730-923AF7F0FB89}"/>
              </a:ext>
            </a:extLst>
          </p:cNvPr>
          <p:cNvSpPr>
            <a:spLocks noGrp="1"/>
          </p:cNvSpPr>
          <p:nvPr/>
        </p:nvSpPr>
        <p:spPr>
          <a:xfrm>
            <a:off x="9525000" y="742950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SAMPLE ACCOUNTING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170574-6FE0-42F7-8CE5-ED808E642319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9F4CB3-E874-470E-B5C1-14916825B479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DA7177-9E86-4503-9ABF-3510CC1FB505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C6BFF-4C24-42D1-A9B7-586C5E8BC80D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EDBBD8-EDF0-4572-9120-96D5F70BAABF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1AEF6C-A66E-4626-9BDD-C92BBFD201F4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725C91-6808-4115-810D-2F31F59182FD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4BD9C1-EED2-46CD-87A1-93FD23F290F4}"/>
              </a:ext>
            </a:extLst>
          </p:cNvPr>
          <p:cNvSpPr>
            <a:spLocks noGrp="1"/>
          </p:cNvSpPr>
          <p:nvPr/>
        </p:nvSpPr>
        <p:spPr>
          <a:xfrm>
            <a:off x="619125" y="1123950"/>
            <a:ext cx="4953000" cy="2476500"/>
          </a:xfrm>
          <a:prstGeom prst="rect">
            <a:avLst/>
          </a:prstGeom>
          <a:solidFill>
            <a:srgbClr val="F5F5F3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3699324-1062-42F8-96FA-BB6E6B53D0E0}"/>
              </a:ext>
            </a:extLst>
          </p:cNvPr>
          <p:cNvSpPr>
            <a:spLocks noGrp="1"/>
          </p:cNvSpPr>
          <p:nvPr/>
        </p:nvSpPr>
        <p:spPr>
          <a:xfrm>
            <a:off x="838200" y="1314450"/>
            <a:ext cx="2476500" cy="266700"/>
          </a:xfrm>
          <a:prstGeom prst="roundRect">
            <a:avLst>
              <a:gd name="adj" fmla="val 28571"/>
            </a:avLst>
          </a:prstGeom>
          <a:solidFill>
            <a:srgbClr val="555555"/>
          </a:solidFill>
          <a:ln w="9525">
            <a:solidFill>
              <a:srgbClr val="55555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E742F9-7FD6-4A74-A0F1-D698B89621E7}"/>
              </a:ext>
            </a:extLst>
          </p:cNvPr>
          <p:cNvSpPr>
            <a:spLocks noGrp="1"/>
          </p:cNvSpPr>
          <p:nvPr/>
        </p:nvSpPr>
        <p:spPr>
          <a:xfrm>
            <a:off x="838200" y="1343025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FULL RESEARCH POPULATION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3939D4-B7A4-4F94-A543-A2C74B833AC6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857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9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44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65A247-6792-42DA-909E-FBFCD77FC73F}"/>
              </a:ext>
            </a:extLst>
          </p:cNvPr>
          <p:cNvSpPr>
            <a:spLocks noGrp="1"/>
          </p:cNvSpPr>
          <p:nvPr/>
        </p:nvSpPr>
        <p:spPr>
          <a:xfrm>
            <a:off x="1666875" y="1943100"/>
            <a:ext cx="95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4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cities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5E0C82-EF3E-4A52-B88A-61CE770F78F3}"/>
              </a:ext>
            </a:extLst>
          </p:cNvPr>
          <p:cNvSpPr>
            <a:spLocks noGrp="1"/>
          </p:cNvSpPr>
          <p:nvPr/>
        </p:nvSpPr>
        <p:spPr>
          <a:xfrm>
            <a:off x="933450" y="2400300"/>
            <a:ext cx="12858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9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5,048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DACE40-743F-40CF-B5F7-EAD230607C45}"/>
              </a:ext>
            </a:extLst>
          </p:cNvPr>
          <p:cNvSpPr>
            <a:spLocks noGrp="1"/>
          </p:cNvSpPr>
          <p:nvPr/>
        </p:nvSpPr>
        <p:spPr>
          <a:xfrm>
            <a:off x="2143125" y="2533650"/>
            <a:ext cx="2619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treated grids = station events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3CD586-B24E-48F8-A056-7B59A76831DB}"/>
              </a:ext>
            </a:extLst>
          </p:cNvPr>
          <p:cNvSpPr>
            <a:spLocks noGrp="1"/>
          </p:cNvSpPr>
          <p:nvPr/>
        </p:nvSpPr>
        <p:spPr>
          <a:xfrm>
            <a:off x="933450" y="299085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7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136,296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94B262-910F-4478-B143-63BCC8F1606E}"/>
              </a:ext>
            </a:extLst>
          </p:cNvPr>
          <p:cNvSpPr>
            <a:spLocks noGrp="1"/>
          </p:cNvSpPr>
          <p:nvPr/>
        </p:nvSpPr>
        <p:spPr>
          <a:xfrm>
            <a:off x="2667000" y="30956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expected label slots = 5,048 × 27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0DABB48-33F1-4F7C-952C-2881BA81FD5E}"/>
              </a:ext>
            </a:extLst>
          </p:cNvPr>
          <p:cNvSpPr>
            <a:spLocks noGrp="1"/>
          </p:cNvSpPr>
          <p:nvPr/>
        </p:nvSpPr>
        <p:spPr>
          <a:xfrm>
            <a:off x="6000750" y="1123950"/>
            <a:ext cx="5572125" cy="2476500"/>
          </a:xfrm>
          <a:prstGeom prst="rect">
            <a:avLst/>
          </a:prstGeom>
          <a:solidFill>
            <a:srgbClr val="F6E9EC"/>
          </a:solidFill>
          <a:ln w="9525">
            <a:solidFill>
              <a:srgbClr val="D8A8B2"/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E7D3481-F834-44A3-9470-7394F6902829}"/>
              </a:ext>
            </a:extLst>
          </p:cNvPr>
          <p:cNvSpPr>
            <a:spLocks noGrp="1"/>
          </p:cNvSpPr>
          <p:nvPr/>
        </p:nvSpPr>
        <p:spPr>
          <a:xfrm>
            <a:off x="6238875" y="1314450"/>
            <a:ext cx="2381250" cy="266700"/>
          </a:xfrm>
          <a:prstGeom prst="roundRect">
            <a:avLst>
              <a:gd name="adj" fmla="val 28571"/>
            </a:avLst>
          </a:prstGeom>
          <a:solidFill>
            <a:srgbClr val="A31F34"/>
          </a:solidFill>
          <a:ln w="9525">
            <a:solidFill>
              <a:srgbClr val="A31F3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C819631-8382-4844-876A-D3CEE779B96B}"/>
              </a:ext>
            </a:extLst>
          </p:cNvPr>
          <p:cNvSpPr>
            <a:spLocks noGrp="1"/>
          </p:cNvSpPr>
          <p:nvPr/>
        </p:nvSpPr>
        <p:spPr>
          <a:xfrm>
            <a:off x="6238875" y="13430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CURRENT PARTIAL RELEASE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C3BE88-AC47-41D4-AD33-7E5105597A54}"/>
              </a:ext>
            </a:extLst>
          </p:cNvPr>
          <p:cNvSpPr>
            <a:spLocks noGrp="1"/>
          </p:cNvSpPr>
          <p:nvPr/>
        </p:nvSpPr>
        <p:spPr>
          <a:xfrm>
            <a:off x="6334125" y="1809750"/>
            <a:ext cx="95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9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388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5D704B6-07FA-47FE-94A9-F4C2DF71A66B}"/>
              </a:ext>
            </a:extLst>
          </p:cNvPr>
          <p:cNvSpPr>
            <a:spLocks noGrp="1"/>
          </p:cNvSpPr>
          <p:nvPr/>
        </p:nvSpPr>
        <p:spPr>
          <a:xfrm>
            <a:off x="7191375" y="1943100"/>
            <a:ext cx="333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grids with ≥1 available label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6A8DE9E-1B17-4DFE-9B61-6CB5D590F8BE}"/>
              </a:ext>
            </a:extLst>
          </p:cNvPr>
          <p:cNvSpPr>
            <a:spLocks noGrp="1"/>
          </p:cNvSpPr>
          <p:nvPr/>
        </p:nvSpPr>
        <p:spPr>
          <a:xfrm>
            <a:off x="6334125" y="2400300"/>
            <a:ext cx="1381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9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7,671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8D2FD9-8BC2-41F5-8762-12EE274F12F3}"/>
              </a:ext>
            </a:extLst>
          </p:cNvPr>
          <p:cNvSpPr>
            <a:spLocks noGrp="1"/>
          </p:cNvSpPr>
          <p:nvPr/>
        </p:nvSpPr>
        <p:spPr>
          <a:xfrm>
            <a:off x="7667625" y="253365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available response labels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1E54150-2A89-47F0-9EA2-E58EB451DB9E}"/>
              </a:ext>
            </a:extLst>
          </p:cNvPr>
          <p:cNvSpPr>
            <a:spLocks noGrp="1"/>
          </p:cNvSpPr>
          <p:nvPr/>
        </p:nvSpPr>
        <p:spPr>
          <a:xfrm>
            <a:off x="6334125" y="2990850"/>
            <a:ext cx="1381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7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7,668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A8F27EB-C627-47D5-BF76-BA2675B3E5A0}"/>
              </a:ext>
            </a:extLst>
          </p:cNvPr>
          <p:cNvSpPr>
            <a:spLocks noGrp="1"/>
          </p:cNvSpPr>
          <p:nvPr/>
        </p:nvSpPr>
        <p:spPr>
          <a:xfrm>
            <a:off x="7667625" y="3095625"/>
            <a:ext cx="3571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training rows; 3 population–MC labels excluded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D665694-BFD5-45AD-8D62-03A4E859C360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7239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6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How one treated grid can generate up to 27 labels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7CF64DF-AC42-49B8-A75B-0660549409A5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592AFE1-BC3A-4A6F-89FB-288E097E1EE3}"/>
              </a:ext>
            </a:extLst>
          </p:cNvPr>
          <p:cNvSpPr>
            <a:spLocks noGrp="1"/>
          </p:cNvSpPr>
          <p:nvPr/>
        </p:nvSpPr>
        <p:spPr>
          <a:xfrm>
            <a:off x="828675" y="45529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4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POI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1062921-658B-486E-A935-4568E7B0E3D2}"/>
              </a:ext>
            </a:extLst>
          </p:cNvPr>
          <p:cNvSpPr>
            <a:spLocks noGrp="1"/>
          </p:cNvSpPr>
          <p:nvPr/>
        </p:nvSpPr>
        <p:spPr>
          <a:xfrm>
            <a:off x="828675" y="4905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4 outcomes × 3 years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0C96FC2-4998-4AD7-AA45-BA3762D7467B}"/>
              </a:ext>
            </a:extLst>
          </p:cNvPr>
          <p:cNvSpPr>
            <a:spLocks noGrp="1"/>
          </p:cNvSpPr>
          <p:nvPr/>
        </p:nvSpPr>
        <p:spPr>
          <a:xfrm>
            <a:off x="2476500" y="459105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2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D10F1EC-566B-44AF-BE69-A7D479702A64}"/>
              </a:ext>
            </a:extLst>
          </p:cNvPr>
          <p:cNvSpPr>
            <a:spLocks noGrp="1"/>
          </p:cNvSpPr>
          <p:nvPr/>
        </p:nvSpPr>
        <p:spPr>
          <a:xfrm>
            <a:off x="3448050" y="440055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7044F17-5F51-4BAC-9E22-4561A08AF31E}"/>
              </a:ext>
            </a:extLst>
          </p:cNvPr>
          <p:cNvSpPr>
            <a:spLocks noGrp="1"/>
          </p:cNvSpPr>
          <p:nvPr/>
        </p:nvSpPr>
        <p:spPr>
          <a:xfrm>
            <a:off x="3590925" y="45529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4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Population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6EAD6BE-7671-40CA-8D62-EB9E59D62806}"/>
              </a:ext>
            </a:extLst>
          </p:cNvPr>
          <p:cNvSpPr>
            <a:spLocks noGrp="1"/>
          </p:cNvSpPr>
          <p:nvPr/>
        </p:nvSpPr>
        <p:spPr>
          <a:xfrm>
            <a:off x="3590925" y="4905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 outcome × 3 years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631567F-44D4-4052-9F5F-C907C0F15048}"/>
              </a:ext>
            </a:extLst>
          </p:cNvPr>
          <p:cNvSpPr>
            <a:spLocks noGrp="1"/>
          </p:cNvSpPr>
          <p:nvPr/>
        </p:nvSpPr>
        <p:spPr>
          <a:xfrm>
            <a:off x="5238750" y="459105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2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72B3946-EC42-4024-B145-67B0D6047B6E}"/>
              </a:ext>
            </a:extLst>
          </p:cNvPr>
          <p:cNvSpPr>
            <a:spLocks noGrp="1"/>
          </p:cNvSpPr>
          <p:nvPr/>
        </p:nvSpPr>
        <p:spPr>
          <a:xfrm>
            <a:off x="6210300" y="440055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CB23164-7258-474D-A21E-7C1A501B9FE6}"/>
              </a:ext>
            </a:extLst>
          </p:cNvPr>
          <p:cNvSpPr>
            <a:spLocks noGrp="1"/>
          </p:cNvSpPr>
          <p:nvPr/>
        </p:nvSpPr>
        <p:spPr>
          <a:xfrm>
            <a:off x="6353175" y="45529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4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Night lights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3FF202C-1CD0-4510-A985-9C4AFC9796BF}"/>
              </a:ext>
            </a:extLst>
          </p:cNvPr>
          <p:cNvSpPr>
            <a:spLocks noGrp="1"/>
          </p:cNvSpPr>
          <p:nvPr/>
        </p:nvSpPr>
        <p:spPr>
          <a:xfrm>
            <a:off x="6353175" y="4905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 outcome × 6 months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121DEFC-2939-4916-BD1F-C78103DBB3FF}"/>
              </a:ext>
            </a:extLst>
          </p:cNvPr>
          <p:cNvSpPr>
            <a:spLocks noGrp="1"/>
          </p:cNvSpPr>
          <p:nvPr/>
        </p:nvSpPr>
        <p:spPr>
          <a:xfrm>
            <a:off x="8001000" y="459105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2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778504C-D5D5-4CD2-B721-C073B61D133D}"/>
              </a:ext>
            </a:extLst>
          </p:cNvPr>
          <p:cNvSpPr>
            <a:spLocks noGrp="1"/>
          </p:cNvSpPr>
          <p:nvPr/>
        </p:nvSpPr>
        <p:spPr>
          <a:xfrm>
            <a:off x="8972550" y="4400550"/>
            <a:ext cx="2476500" cy="1104900"/>
          </a:xfrm>
          <a:prstGeom prst="rect">
            <a:avLst/>
          </a:prstGeom>
          <a:solidFill>
            <a:srgbClr val="FAFAFA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749D8B9-F64D-4254-A649-6BABC003A973}"/>
              </a:ext>
            </a:extLst>
          </p:cNvPr>
          <p:cNvSpPr>
            <a:spLocks noGrp="1"/>
          </p:cNvSpPr>
          <p:nvPr/>
        </p:nvSpPr>
        <p:spPr>
          <a:xfrm>
            <a:off x="9115425" y="45529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425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Housing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557BCC6-94B8-47E0-90D8-3965642EBC9F}"/>
              </a:ext>
            </a:extLst>
          </p:cNvPr>
          <p:cNvSpPr>
            <a:spLocks noGrp="1"/>
          </p:cNvSpPr>
          <p:nvPr/>
        </p:nvSpPr>
        <p:spPr>
          <a:xfrm>
            <a:off x="9115425" y="4905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1 outcome × 6 months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EEAAF14-8DCC-4965-AE42-8AE7775372AC}"/>
              </a:ext>
            </a:extLst>
          </p:cNvPr>
          <p:cNvSpPr>
            <a:spLocks noGrp="1"/>
          </p:cNvSpPr>
          <p:nvPr/>
        </p:nvSpPr>
        <p:spPr>
          <a:xfrm>
            <a:off x="10763250" y="4591050"/>
            <a:ext cx="552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250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F9C6CE7-FFE9-4B09-B2ED-06D3257FDB04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76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Final representation sample: 387 units. Housing currently contributes only 1 grid × 6 horizons and is excluded from comparative result plots.</a:t>
            </a:r>
          </a:p>
        </p:txBody>
      </p:sp>
    </p:spTree>
    <p:extLst>
      <p:ext uri="{BB962C8B-B14F-4D97-AF65-F5344CB8AC3E}">
        <p14:creationId xmlns:p14="http://schemas.microsoft.com/office/powerpoint/2010/main" val="877153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9817ED4D-DC74-41A9-94BC-34B1CC4B86F1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95250" cy="3333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B146B7-2B88-46BF-92B7-E3B255E49FF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Step 1 — build a credible treated–control pair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CD8DF2-9384-4A4A-ACB4-288848A297C6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01375" cy="19050"/>
          </a:xfrm>
          <a:prstGeom prst="rect">
            <a:avLst/>
          </a:prstGeom>
          <a:solidFill>
            <a:srgbClr val="E8C9C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33426A-7F62-4FDA-BAF4-E90D3DCCB316}"/>
              </a:ext>
            </a:extLst>
          </p:cNvPr>
          <p:cNvSpPr>
            <a:spLocks noGrp="1"/>
          </p:cNvSpPr>
          <p:nvPr/>
        </p:nvSpPr>
        <p:spPr>
          <a:xfrm>
            <a:off x="9525000" y="742950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MATCHING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4F194A-91E7-43C2-8796-A5D5B3538EAD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D761E8-8E46-4979-A876-5C30216B384B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4FB52C8-EFF2-4198-A866-D3F4C9F1C671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7660AA-F5D7-4D64-A063-252B39DE2417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69DA40-6F5E-4F23-83F7-5A6A9E2DABB2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8DD7CA-A455-4F4F-9CB3-12558ACCEA06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96765E-FA54-43AD-A490-410B3D3F29AA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C355234-4616-4C42-B69E-36F5F86B56C1}"/>
              </a:ext>
            </a:extLst>
          </p:cNvPr>
          <p:cNvSpPr>
            <a:spLocks noGrp="1"/>
          </p:cNvSpPr>
          <p:nvPr/>
        </p:nvSpPr>
        <p:spPr>
          <a:xfrm>
            <a:off x="666750" y="1352550"/>
            <a:ext cx="2381250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E4CB8D2-D3E8-4710-B7DA-EA0F343D2C81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A31F34"/>
          </a:solidFill>
          <a:ln w="9525">
            <a:solidFill>
              <a:srgbClr val="A31F34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D45F9FF-8BB4-4B99-B426-32EC37FB45D1}"/>
              </a:ext>
            </a:extLst>
          </p:cNvPr>
          <p:cNvSpPr>
            <a:spLocks noGrp="1"/>
          </p:cNvSpPr>
          <p:nvPr/>
        </p:nvSpPr>
        <p:spPr>
          <a:xfrm>
            <a:off x="838200" y="15525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C6E080-3EDA-4A48-85E1-72F3FA50CA4B}"/>
              </a:ext>
            </a:extLst>
          </p:cNvPr>
          <p:cNvSpPr>
            <a:spLocks noGrp="1"/>
          </p:cNvSpPr>
          <p:nvPr/>
        </p:nvSpPr>
        <p:spPr>
          <a:xfrm>
            <a:off x="838200" y="209550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Treated grid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EE4558-E373-4DCA-9D5D-43EE8623BC57}"/>
              </a:ext>
            </a:extLst>
          </p:cNvPr>
          <p:cNvSpPr>
            <a:spLocks noGrp="1"/>
          </p:cNvSpPr>
          <p:nvPr/>
        </p:nvSpPr>
        <p:spPr>
          <a:xfrm>
            <a:off x="838200" y="2781300"/>
            <a:ext cx="20383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A 500 m grid containing a station that officially opens during 2010–2025. Opening month is excluded.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25B9EF-59AD-48C9-B43E-B9FD6194581A}"/>
              </a:ext>
            </a:extLst>
          </p:cNvPr>
          <p:cNvSpPr>
            <a:spLocks noGrp="1"/>
          </p:cNvSpPr>
          <p:nvPr/>
        </p:nvSpPr>
        <p:spPr>
          <a:xfrm>
            <a:off x="3095625" y="2857500"/>
            <a:ext cx="400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85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D4D15C5-3F89-4D55-B47E-625DC3AA28A8}"/>
              </a:ext>
            </a:extLst>
          </p:cNvPr>
          <p:cNvSpPr>
            <a:spLocks noGrp="1"/>
          </p:cNvSpPr>
          <p:nvPr/>
        </p:nvSpPr>
        <p:spPr>
          <a:xfrm>
            <a:off x="3667125" y="1352550"/>
            <a:ext cx="2381250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9B2C953-57BE-406F-9726-FCBD6D79FD8F}"/>
              </a:ext>
            </a:extLst>
          </p:cNvPr>
          <p:cNvSpPr>
            <a:spLocks noGrp="1"/>
          </p:cNvSpPr>
          <p:nvPr/>
        </p:nvSpPr>
        <p:spPr>
          <a:xfrm>
            <a:off x="3838575" y="152400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666666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E67C798-CC29-46E6-8153-987C6E2932F0}"/>
              </a:ext>
            </a:extLst>
          </p:cNvPr>
          <p:cNvSpPr>
            <a:spLocks noGrp="1"/>
          </p:cNvSpPr>
          <p:nvPr/>
        </p:nvSpPr>
        <p:spPr>
          <a:xfrm>
            <a:off x="3838575" y="15525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D595AD-E781-405C-94A0-9C8F73D6A012}"/>
              </a:ext>
            </a:extLst>
          </p:cNvPr>
          <p:cNvSpPr>
            <a:spLocks noGrp="1"/>
          </p:cNvSpPr>
          <p:nvPr/>
        </p:nvSpPr>
        <p:spPr>
          <a:xfrm>
            <a:off x="3838575" y="209550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Eligible donor pool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56F585-02D6-4BF2-BC02-E59E91FDCE25}"/>
              </a:ext>
            </a:extLst>
          </p:cNvPr>
          <p:cNvSpPr>
            <a:spLocks noGrp="1"/>
          </p:cNvSpPr>
          <p:nvPr/>
        </p:nvSpPr>
        <p:spPr>
          <a:xfrm>
            <a:off x="3838575" y="2781300"/>
            <a:ext cx="20383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Nonexperimental grids after station and spatial exclusions; the main donor exclusion is 1 km. Frozen universe: 3,771,800 grids.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0FA25D-C3C0-4235-B29B-872CEA1C69E5}"/>
              </a:ext>
            </a:extLst>
          </p:cNvPr>
          <p:cNvSpPr>
            <a:spLocks noGrp="1"/>
          </p:cNvSpPr>
          <p:nvPr/>
        </p:nvSpPr>
        <p:spPr>
          <a:xfrm>
            <a:off x="6096000" y="2857500"/>
            <a:ext cx="400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85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0562BCA-C101-4E87-8F56-FF8BCF4D543F}"/>
              </a:ext>
            </a:extLst>
          </p:cNvPr>
          <p:cNvSpPr>
            <a:spLocks noGrp="1"/>
          </p:cNvSpPr>
          <p:nvPr/>
        </p:nvSpPr>
        <p:spPr>
          <a:xfrm>
            <a:off x="6667500" y="1352550"/>
            <a:ext cx="2381250" cy="3505200"/>
          </a:xfrm>
          <a:prstGeom prst="rect">
            <a:avLst/>
          </a:prstGeom>
          <a:solidFill>
            <a:srgbClr val="EAF2F7"/>
          </a:solidFill>
          <a:ln w="9525">
            <a:solidFill>
              <a:srgbClr val="BED3E2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E3BE855-D663-4FDE-A242-9CF6B9A54ACB}"/>
              </a:ext>
            </a:extLst>
          </p:cNvPr>
          <p:cNvSpPr>
            <a:spLocks noGrp="1"/>
          </p:cNvSpPr>
          <p:nvPr/>
        </p:nvSpPr>
        <p:spPr>
          <a:xfrm>
            <a:off x="6838950" y="152400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2C6E9B"/>
          </a:solidFill>
          <a:ln w="9525">
            <a:solidFill>
              <a:srgbClr val="2C6E9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4CEDB85-E8B1-4D80-ADD7-937BC2CB9A97}"/>
              </a:ext>
            </a:extLst>
          </p:cNvPr>
          <p:cNvSpPr>
            <a:spLocks noGrp="1"/>
          </p:cNvSpPr>
          <p:nvPr/>
        </p:nvSpPr>
        <p:spPr>
          <a:xfrm>
            <a:off x="6838950" y="15525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07C73E-8A80-40C6-999D-37572453F911}"/>
              </a:ext>
            </a:extLst>
          </p:cNvPr>
          <p:cNvSpPr>
            <a:spLocks noGrp="1"/>
          </p:cNvSpPr>
          <p:nvPr/>
        </p:nvSpPr>
        <p:spPr>
          <a:xfrm>
            <a:off x="6838950" y="209550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Pre-only matching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173E22F-D8F1-4807-9581-3F807CA56772}"/>
              </a:ext>
            </a:extLst>
          </p:cNvPr>
          <p:cNvSpPr>
            <a:spLocks noGrp="1"/>
          </p:cNvSpPr>
          <p:nvPr/>
        </p:nvSpPr>
        <p:spPr>
          <a:xfrm>
            <a:off x="6838950" y="2781300"/>
            <a:ext cx="20383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Matching::Match; Mahalanobis distance; M = 1 with replacement. Active pre-opening outcomes at lag 2 and lag 3 define distance.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654C123-145F-4641-927F-7E6AB09112F5}"/>
              </a:ext>
            </a:extLst>
          </p:cNvPr>
          <p:cNvSpPr>
            <a:spLocks noGrp="1"/>
          </p:cNvSpPr>
          <p:nvPr/>
        </p:nvSpPr>
        <p:spPr>
          <a:xfrm>
            <a:off x="9096375" y="2857500"/>
            <a:ext cx="400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85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C17BB53-6588-4E56-84DB-60B8DF903348}"/>
              </a:ext>
            </a:extLst>
          </p:cNvPr>
          <p:cNvSpPr>
            <a:spLocks noGrp="1"/>
          </p:cNvSpPr>
          <p:nvPr/>
        </p:nvSpPr>
        <p:spPr>
          <a:xfrm>
            <a:off x="9667875" y="1352550"/>
            <a:ext cx="2381250" cy="350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B280FFA-06B1-4BCD-86CC-F8489024E2A8}"/>
              </a:ext>
            </a:extLst>
          </p:cNvPr>
          <p:cNvSpPr>
            <a:spLocks noGrp="1"/>
          </p:cNvSpPr>
          <p:nvPr/>
        </p:nvSpPr>
        <p:spPr>
          <a:xfrm>
            <a:off x="9839325" y="152400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D97B29"/>
          </a:solidFill>
          <a:ln w="9525">
            <a:solidFill>
              <a:srgbClr val="D97B29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4BD45D-4130-4C00-85CE-4F3D5A74C6E6}"/>
              </a:ext>
            </a:extLst>
          </p:cNvPr>
          <p:cNvSpPr>
            <a:spLocks noGrp="1"/>
          </p:cNvSpPr>
          <p:nvPr/>
        </p:nvSpPr>
        <p:spPr>
          <a:xfrm>
            <a:off x="9839325" y="15525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1F5C1E2-1193-4AC6-8E4E-224B21BA2538}"/>
              </a:ext>
            </a:extLst>
          </p:cNvPr>
          <p:cNvSpPr>
            <a:spLocks noGrp="1"/>
          </p:cNvSpPr>
          <p:nvPr/>
        </p:nvSpPr>
        <p:spPr>
          <a:xfrm>
            <a:off x="9839325" y="2095500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Acceptance and routing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A69A5D2-C6A0-46FE-9704-C5ED24228BB3}"/>
              </a:ext>
            </a:extLst>
          </p:cNvPr>
          <p:cNvSpPr>
            <a:spLocks noGrp="1"/>
          </p:cNvSpPr>
          <p:nvPr/>
        </p:nvSpPr>
        <p:spPr>
          <a:xfrm>
            <a:off x="9839325" y="2781300"/>
            <a:ext cx="20383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Try same-city donors first, then all-city standardized fallback. Lag 1 is held out. Failed quality gates route to GSC, then Matrix Completion.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D2B9C96-34C5-468B-891F-C6C3F8845B1D}"/>
              </a:ext>
            </a:extLst>
          </p:cNvPr>
          <p:cNvSpPr>
            <a:spLocks noGrp="1"/>
          </p:cNvSpPr>
          <p:nvPr/>
        </p:nvSpPr>
        <p:spPr>
          <a:xfrm>
            <a:off x="666750" y="5191125"/>
            <a:ext cx="11382375" cy="742950"/>
          </a:xfrm>
          <a:prstGeom prst="rect">
            <a:avLst/>
          </a:prstGeom>
          <a:solidFill>
            <a:srgbClr val="F6E9EC"/>
          </a:solidFill>
          <a:ln w="9525">
            <a:solidFill>
              <a:srgbClr val="D8A8B2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3D6503F-5D2D-4784-AAAA-A800EA9CDE31}"/>
              </a:ext>
            </a:extLst>
          </p:cNvPr>
          <p:cNvSpPr>
            <a:spLocks noGrp="1"/>
          </p:cNvSpPr>
          <p:nvPr/>
        </p:nvSpPr>
        <p:spPr>
          <a:xfrm>
            <a:off x="876300" y="5372100"/>
            <a:ext cx="1428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Quality gates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52704DF-F317-4137-AD89-33FFDF75C1D8}"/>
              </a:ext>
            </a:extLst>
          </p:cNvPr>
          <p:cNvSpPr>
            <a:spLocks noGrp="1"/>
          </p:cNvSpPr>
          <p:nvPr/>
        </p:nvSpPr>
        <p:spPr>
          <a:xfrm>
            <a:off x="2238375" y="5324475"/>
            <a:ext cx="9382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training distance, held-out RMS standardized gap, and held-out maximum standardized gap must each be below the q95 threshold from 200 deterministic donor-placebo matches.</a:t>
            </a:r>
          </a:p>
        </p:txBody>
      </p:sp>
    </p:spTree>
    <p:extLst>
      <p:ext uri="{BB962C8B-B14F-4D97-AF65-F5344CB8AC3E}">
        <p14:creationId xmlns:p14="http://schemas.microsoft.com/office/powerpoint/2010/main" val="674392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1F56389E-E68A-4897-83CE-522A83400A6A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95250" cy="3333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AB6AEE-7BF7-4A0A-878A-6014A97FCDD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Matching diagnostics: sample flow and held-out pre-fit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0834FF-3AF7-460E-88C9-D99E12C59623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01375" cy="19050"/>
          </a:xfrm>
          <a:prstGeom prst="rect">
            <a:avLst/>
          </a:prstGeom>
          <a:solidFill>
            <a:srgbClr val="E8C9C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FC909B-A4EE-417C-9B8D-61DBF9F5E842}"/>
              </a:ext>
            </a:extLst>
          </p:cNvPr>
          <p:cNvSpPr>
            <a:spLocks noGrp="1"/>
          </p:cNvSpPr>
          <p:nvPr/>
        </p:nvSpPr>
        <p:spPr>
          <a:xfrm>
            <a:off x="9525000" y="742950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MATCHING EVIDENCE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F569EB-98CA-4D0F-B9EB-FCA33E6FC6FF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4ED12D-07B8-44A0-B673-F3DE522404E9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FDABFF-B355-4FCD-BFB4-1E4AE20EF021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7708FF-0308-447A-8833-49FBCBA3CB8F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D8CA09-875F-44AE-932E-54B83B1BE07D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142FE69-6B9D-4DDF-9BCC-89D7828CBF7C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2E8656-6389-4EC4-B292-0FDFCE9B718E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3877" y="990600"/>
            <a:ext cx="10311871" cy="433387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F4F5F68-BC6D-4E13-A7D6-0C0405B9E4E6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10875" cy="609600"/>
          </a:xfrm>
          <a:prstGeom prst="rect">
            <a:avLst/>
          </a:prstGeom>
          <a:solidFill>
            <a:srgbClr val="F5F5F3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8E92210-5A24-4305-A8F8-499AF78E8428}"/>
              </a:ext>
            </a:extLst>
          </p:cNvPr>
          <p:cNvSpPr>
            <a:spLocks noGrp="1"/>
          </p:cNvSpPr>
          <p:nvPr/>
        </p:nvSpPr>
        <p:spPr>
          <a:xfrm>
            <a:off x="866775" y="556260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Completed pilot cohort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345DCB-1BD6-4AFD-A3E2-BC924BAC8EDF}"/>
              </a:ext>
            </a:extLst>
          </p:cNvPr>
          <p:cNvSpPr>
            <a:spLocks noGrp="1"/>
          </p:cNvSpPr>
          <p:nvPr/>
        </p:nvSpPr>
        <p:spPr>
          <a:xfrm>
            <a:off x="2619375" y="5562600"/>
            <a:ext cx="8143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600 treated grids → 387 accepted pairs (308 same-city, 79 cross-city) → 213 routed to GSC.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D7B415-F6AC-4010-B238-1407049AD087}"/>
              </a:ext>
            </a:extLst>
          </p:cNvPr>
          <p:cNvSpPr>
            <a:spLocks noGrp="1"/>
          </p:cNvSpPr>
          <p:nvPr/>
        </p:nvSpPr>
        <p:spPr>
          <a:xfrm>
            <a:off x="866775" y="5781675"/>
            <a:ext cx="1000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A conventional unmatched-versus-matched SMD table is not yet exported; the current evidence is the prespecified distance plus held-out pre-period gates.</a:t>
            </a:r>
          </a:p>
        </p:txBody>
      </p:sp>
    </p:spTree>
    <p:extLst>
      <p:ext uri="{BB962C8B-B14F-4D97-AF65-F5344CB8AC3E}">
        <p14:creationId xmlns:p14="http://schemas.microsoft.com/office/powerpoint/2010/main" val="1057384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88A29A02-8112-4DB0-B5F4-02FC68B8076A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95250" cy="3333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A958C6-BE99-4A62-AADE-3AA448AF15F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Step 2 — estimate the untreated counterfactual and form response labels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623E03-385F-4511-9B59-FAFF653AF8CC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01375" cy="19050"/>
          </a:xfrm>
          <a:prstGeom prst="rect">
            <a:avLst/>
          </a:prstGeom>
          <a:solidFill>
            <a:srgbClr val="E8C9C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5467F6-B70D-48DF-80AB-190DD71E53D9}"/>
              </a:ext>
            </a:extLst>
          </p:cNvPr>
          <p:cNvSpPr>
            <a:spLocks noGrp="1"/>
          </p:cNvSpPr>
          <p:nvPr/>
        </p:nvSpPr>
        <p:spPr>
          <a:xfrm>
            <a:off x="9525000" y="742950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COUNTERFACTUAL ESTIMATION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4A4A9F-D023-4F56-BBA1-0ACAC0953E7B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678B1B-6296-4B29-8668-1A46BA7F5590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3AFF21-E27D-4294-85E9-69B0FE59530F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4A7C06-1A89-4BE0-BF46-DB965500E495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B60920-4F35-4D20-9F66-F4400AD209D1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A0E84FE-9E09-45EA-A302-ACFE9AAC6066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C2955F-F4DF-4AD8-B97F-F4A17C105BED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55876D3-44AC-4C78-8837-28CDA9601105}"/>
              </a:ext>
            </a:extLst>
          </p:cNvPr>
          <p:cNvSpPr>
            <a:spLocks noGrp="1"/>
          </p:cNvSpPr>
          <p:nvPr/>
        </p:nvSpPr>
        <p:spPr>
          <a:xfrm>
            <a:off x="619125" y="1066800"/>
            <a:ext cx="5429250" cy="2047875"/>
          </a:xfrm>
          <a:prstGeom prst="rect">
            <a:avLst/>
          </a:prstGeom>
          <a:solidFill>
            <a:srgbClr val="F6E9EC"/>
          </a:solidFill>
          <a:ln w="9525">
            <a:solidFill>
              <a:srgbClr val="D8A8B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FC26AB-F12E-4E53-90CD-68E928331535}"/>
              </a:ext>
            </a:extLst>
          </p:cNvPr>
          <p:cNvSpPr>
            <a:spLocks noGrp="1"/>
          </p:cNvSpPr>
          <p:nvPr/>
        </p:nvSpPr>
        <p:spPr>
          <a:xfrm>
            <a:off x="838200" y="12573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A. Accepted matched pair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B0324B-B35B-43A3-A85F-1D8D8927767C}"/>
              </a:ext>
            </a:extLst>
          </p:cNvPr>
          <p:cNvSpPr>
            <a:spLocks noGrp="1"/>
          </p:cNvSpPr>
          <p:nvPr/>
        </p:nvSpPr>
        <p:spPr>
          <a:xfrm>
            <a:off x="838200" y="1657350"/>
            <a:ext cx="4810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A difference in changes removes each grid’s baseline level. The coefficient is the estimated response for grid i, outcome k, and horizon h.</a:t>
            </a: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2267695"/>
            <a:ext cx="4762500" cy="53191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3E48C314-94F9-440B-BA5D-DAEEB9B59C66}"/>
              </a:ext>
            </a:extLst>
          </p:cNvPr>
          <p:cNvSpPr>
            <a:spLocks noGrp="1"/>
          </p:cNvSpPr>
          <p:nvPr/>
        </p:nvSpPr>
        <p:spPr>
          <a:xfrm>
            <a:off x="6334125" y="1066800"/>
            <a:ext cx="5238750" cy="2047875"/>
          </a:xfrm>
          <a:prstGeom prst="rect">
            <a:avLst/>
          </a:prstGeom>
          <a:solidFill>
            <a:srgbClr val="EAF2F7"/>
          </a:solidFill>
          <a:ln w="9525">
            <a:solidFill>
              <a:srgbClr val="BED3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40B7B3-3333-4298-A9BD-ACC887E3F1BE}"/>
              </a:ext>
            </a:extLst>
          </p:cNvPr>
          <p:cNvSpPr>
            <a:spLocks noGrp="1"/>
          </p:cNvSpPr>
          <p:nvPr/>
        </p:nvSpPr>
        <p:spPr>
          <a:xfrm>
            <a:off x="6543675" y="12573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 i="0">
                <a:solidFill>
                  <a:srgbClr val="2C6E9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C6E9B"/>
                </a:solidFill>
                <a:latin typeface="Times New Roman"/>
                <a:ea typeface="Times New Roman"/>
                <a:cs typeface="Times New Roman"/>
              </a:rPr>
              <a:t>B. Generalized Synthetic Control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4F0028-13FC-445D-890F-536B3F9799D2}"/>
              </a:ext>
            </a:extLst>
          </p:cNvPr>
          <p:cNvSpPr>
            <a:spLocks noGrp="1"/>
          </p:cNvSpPr>
          <p:nvPr/>
        </p:nvSpPr>
        <p:spPr>
          <a:xfrm>
            <a:off x="6543675" y="1657350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Interactive fixed effects estimate the missing untreated path. Rank r = 0…5 is chosen by cross-validation; uncertainty uses 200 parametric bootstrap draws.</a:t>
            </a: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96075" y="2323979"/>
            <a:ext cx="4095750" cy="457442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A1F5C09A-2D3A-4508-A087-10C4541B72F5}"/>
              </a:ext>
            </a:extLst>
          </p:cNvPr>
          <p:cNvSpPr>
            <a:spLocks noGrp="1"/>
          </p:cNvSpPr>
          <p:nvPr/>
        </p:nvSpPr>
        <p:spPr>
          <a:xfrm>
            <a:off x="619125" y="3429000"/>
            <a:ext cx="3429000" cy="1762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069209A-1B24-42AB-BD4D-344E8517DC12}"/>
              </a:ext>
            </a:extLst>
          </p:cNvPr>
          <p:cNvSpPr>
            <a:spLocks noGrp="1"/>
          </p:cNvSpPr>
          <p:nvPr/>
        </p:nvSpPr>
        <p:spPr>
          <a:xfrm>
            <a:off x="809625" y="361950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A31F34"/>
          </a:solidFill>
          <a:ln w="9525">
            <a:solidFill>
              <a:srgbClr val="A31F3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195F7D4-406A-4B53-87EB-4A8EA5AAF42F}"/>
              </a:ext>
            </a:extLst>
          </p:cNvPr>
          <p:cNvSpPr>
            <a:spLocks noGrp="1"/>
          </p:cNvSpPr>
          <p:nvPr/>
        </p:nvSpPr>
        <p:spPr>
          <a:xfrm>
            <a:off x="809625" y="36480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C98CD35-6ACC-4624-BD4A-B4E58DA8AD66}"/>
              </a:ext>
            </a:extLst>
          </p:cNvPr>
          <p:cNvSpPr>
            <a:spLocks noGrp="1"/>
          </p:cNvSpPr>
          <p:nvPr/>
        </p:nvSpPr>
        <p:spPr>
          <a:xfrm>
            <a:off x="1314450" y="3638550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Matching + change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BA231A1-2B99-4B63-83D8-53C1D4A8BBA5}"/>
              </a:ext>
            </a:extLst>
          </p:cNvPr>
          <p:cNvSpPr>
            <a:spLocks noGrp="1"/>
          </p:cNvSpPr>
          <p:nvPr/>
        </p:nvSpPr>
        <p:spPr>
          <a:xfrm>
            <a:off x="828675" y="411480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Use when all three pre-treatment quality gates pass.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910F60-CCCA-442F-B4B2-363151D7EB70}"/>
              </a:ext>
            </a:extLst>
          </p:cNvPr>
          <p:cNvSpPr>
            <a:spLocks noGrp="1"/>
          </p:cNvSpPr>
          <p:nvPr/>
        </p:nvSpPr>
        <p:spPr>
          <a:xfrm>
            <a:off x="4381500" y="3429000"/>
            <a:ext cx="3429000" cy="1762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0861DC-D8F2-4B6D-92C3-7044AAF514D7}"/>
              </a:ext>
            </a:extLst>
          </p:cNvPr>
          <p:cNvSpPr>
            <a:spLocks noGrp="1"/>
          </p:cNvSpPr>
          <p:nvPr/>
        </p:nvSpPr>
        <p:spPr>
          <a:xfrm>
            <a:off x="4572000" y="361950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2C6E9B"/>
          </a:solidFill>
          <a:ln w="9525">
            <a:solidFill>
              <a:srgbClr val="2C6E9B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6547355-554E-4497-97AB-C52F94E48FB9}"/>
              </a:ext>
            </a:extLst>
          </p:cNvPr>
          <p:cNvSpPr>
            <a:spLocks noGrp="1"/>
          </p:cNvSpPr>
          <p:nvPr/>
        </p:nvSpPr>
        <p:spPr>
          <a:xfrm>
            <a:off x="4572000" y="36480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BA8E86D-1DBF-404C-A2F6-EEC4C4F6CADC}"/>
              </a:ext>
            </a:extLst>
          </p:cNvPr>
          <p:cNvSpPr>
            <a:spLocks noGrp="1"/>
          </p:cNvSpPr>
          <p:nvPr/>
        </p:nvSpPr>
        <p:spPr>
          <a:xfrm>
            <a:off x="5076825" y="3638550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Xu GSC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B0BC671-F69C-445F-806F-4E4FEB7B14B5}"/>
              </a:ext>
            </a:extLst>
          </p:cNvPr>
          <p:cNvSpPr>
            <a:spLocks noGrp="1"/>
          </p:cNvSpPr>
          <p:nvPr/>
        </p:nvSpPr>
        <p:spPr>
          <a:xfrm>
            <a:off x="4591050" y="411480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Use richer donor trajectories when fixed-pair matching is not credible.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72E33AA-90A1-4281-AAB5-68886B059EE4}"/>
              </a:ext>
            </a:extLst>
          </p:cNvPr>
          <p:cNvSpPr>
            <a:spLocks noGrp="1"/>
          </p:cNvSpPr>
          <p:nvPr/>
        </p:nvSpPr>
        <p:spPr>
          <a:xfrm>
            <a:off x="8143875" y="3429000"/>
            <a:ext cx="3429000" cy="1762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C93A5C-D46E-41BA-92EC-4CA8568DEED7}"/>
              </a:ext>
            </a:extLst>
          </p:cNvPr>
          <p:cNvSpPr>
            <a:spLocks noGrp="1"/>
          </p:cNvSpPr>
          <p:nvPr/>
        </p:nvSpPr>
        <p:spPr>
          <a:xfrm>
            <a:off x="8334375" y="3619500"/>
            <a:ext cx="361950" cy="266700"/>
          </a:xfrm>
          <a:prstGeom prst="roundRect">
            <a:avLst>
              <a:gd name="adj" fmla="val 28571"/>
            </a:avLst>
          </a:prstGeom>
          <a:solidFill>
            <a:srgbClr val="D97B29"/>
          </a:solidFill>
          <a:ln w="9525">
            <a:solidFill>
              <a:srgbClr val="D97B29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E25D63C-43F0-4429-AD85-821C0DE72BC2}"/>
              </a:ext>
            </a:extLst>
          </p:cNvPr>
          <p:cNvSpPr>
            <a:spLocks noGrp="1"/>
          </p:cNvSpPr>
          <p:nvPr/>
        </p:nvSpPr>
        <p:spPr>
          <a:xfrm>
            <a:off x="8334375" y="364807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917E43F-9DFB-4CE3-8DEB-E2AA6B8D2F3D}"/>
              </a:ext>
            </a:extLst>
          </p:cNvPr>
          <p:cNvSpPr>
            <a:spLocks noGrp="1"/>
          </p:cNvSpPr>
          <p:nvPr/>
        </p:nvSpPr>
        <p:spPr>
          <a:xfrm>
            <a:off x="8839200" y="3638550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Matrix Completion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CE118FD-A845-44BA-8501-C5A0BAE3EA97}"/>
              </a:ext>
            </a:extLst>
          </p:cNvPr>
          <p:cNvSpPr>
            <a:spLocks noGrp="1"/>
          </p:cNvSpPr>
          <p:nvPr/>
        </p:nvSpPr>
        <p:spPr>
          <a:xfrm>
            <a:off x="8353425" y="411480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Low-rank fallback after GSC failure; failed units never silently disappear.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8EF2DF4-140C-49B6-9DFB-F80CC6B563A8}"/>
              </a:ext>
            </a:extLst>
          </p:cNvPr>
          <p:cNvSpPr>
            <a:spLocks noGrp="1"/>
          </p:cNvSpPr>
          <p:nvPr/>
        </p:nvSpPr>
        <p:spPr>
          <a:xfrm>
            <a:off x="695325" y="5524500"/>
            <a:ext cx="1076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Primary key: treatment grid × outcome × horizon × specification. Every available estimate becomes one response-label row.</a:t>
            </a:r>
          </a:p>
        </p:txBody>
      </p:sp>
    </p:spTree>
    <p:extLst>
      <p:ext uri="{BB962C8B-B14F-4D97-AF65-F5344CB8AC3E}">
        <p14:creationId xmlns:p14="http://schemas.microsoft.com/office/powerpoint/2010/main" val="1067758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矩形 58">
            <a:extLst>
              <a:ext uri="{FF2B5EF4-FFF2-40B4-BE49-F238E27FC236}">
                <a16:creationId xmlns:a16="http://schemas.microsoft.com/office/drawing/2014/main" id="{7FD81F22-E06C-42BC-8628-4EE6ACD916B6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95250" cy="3333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AF1278-F010-4328-A8C7-BC7D301794E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Event time, pre-fit, and the boundary of current causal evidence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8B0611-737C-47B8-889A-C403266E59D1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01375" cy="19050"/>
          </a:xfrm>
          <a:prstGeom prst="rect">
            <a:avLst/>
          </a:prstGeom>
          <a:solidFill>
            <a:srgbClr val="E8C9C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A20FC7-612D-4B4F-A6A7-61C67260BE9D}"/>
              </a:ext>
            </a:extLst>
          </p:cNvPr>
          <p:cNvSpPr>
            <a:spLocks noGrp="1"/>
          </p:cNvSpPr>
          <p:nvPr/>
        </p:nvSpPr>
        <p:spPr>
          <a:xfrm>
            <a:off x="9525000" y="742950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IDENTIFICATION CHECKS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B5FD317-6F24-4CAB-8B8A-C48D6A29A47C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18B734-C48B-45AE-A68A-14FEAB511B63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62D220-7316-4139-84B5-71D36154914B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5950BE-4FA4-4E1A-AAAC-EA709A5EC5DC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B89025-2FA1-4A9D-BDB4-5F134571E11C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F47CFD9-9E0E-4149-9E4E-DC881F769DF1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D02704-A391-4004-BE66-97FDF9039CFA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260F53E-C989-41D3-AFEA-885119D5C126}"/>
              </a:ext>
            </a:extLst>
          </p:cNvPr>
          <p:cNvSpPr>
            <a:spLocks noGrp="1"/>
          </p:cNvSpPr>
          <p:nvPr/>
        </p:nvSpPr>
        <p:spPr>
          <a:xfrm>
            <a:off x="714375" y="11430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 i="0">
                <a:solidFill>
                  <a:srgbClr val="2C6E9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C6E9B"/>
                </a:solidFill>
                <a:latin typeface="Times New Roman"/>
                <a:ea typeface="Times New Roman"/>
                <a:cs typeface="Times New Roman"/>
              </a:rPr>
              <a:t>Monthly outcomes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A3BB20EA-9BFE-42F8-939F-81F8586CC177}"/>
              </a:ext>
            </a:extLst>
          </p:cNvPr>
          <p:cNvSpPr>
            <a:spLocks noGrp="1"/>
          </p:cNvSpPr>
          <p:nvPr/>
        </p:nvSpPr>
        <p:spPr>
          <a:xfrm>
            <a:off x="904875" y="1638300"/>
            <a:ext cx="323850" cy="323850"/>
          </a:xfrm>
          <a:prstGeom prst="ellipse">
            <a:avLst/>
          </a:prstGeom>
          <a:solidFill>
            <a:srgbClr val="2C6E9B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60BD24-89AA-46DB-B16D-9F9BDE8D6447}"/>
              </a:ext>
            </a:extLst>
          </p:cNvPr>
          <p:cNvSpPr>
            <a:spLocks noGrp="1"/>
          </p:cNvSpPr>
          <p:nvPr/>
        </p:nvSpPr>
        <p:spPr>
          <a:xfrm>
            <a:off x="733425" y="20383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Pre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102511-B132-48C7-829C-E33FBB713FF7}"/>
              </a:ext>
            </a:extLst>
          </p:cNvPr>
          <p:cNvSpPr>
            <a:spLocks noGrp="1"/>
          </p:cNvSpPr>
          <p:nvPr/>
        </p:nvSpPr>
        <p:spPr>
          <a:xfrm>
            <a:off x="1228725" y="1781175"/>
            <a:ext cx="771525" cy="28575"/>
          </a:xfrm>
          <a:prstGeom prst="rect">
            <a:avLst/>
          </a:prstGeom>
          <a:solidFill>
            <a:srgbClr val="C8C8C8"/>
          </a:solidFill>
          <a:ln w="0">
            <a:noFill/>
            <a:prstDash val="solid"/>
          </a:ln>
        </p:spPr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A7B9284-ACD9-4B2A-ADE1-4A5F148B76D3}"/>
              </a:ext>
            </a:extLst>
          </p:cNvPr>
          <p:cNvSpPr>
            <a:spLocks noGrp="1"/>
          </p:cNvSpPr>
          <p:nvPr/>
        </p:nvSpPr>
        <p:spPr>
          <a:xfrm>
            <a:off x="2000250" y="1638300"/>
            <a:ext cx="323850" cy="323850"/>
          </a:xfrm>
          <a:prstGeom prst="ellipse">
            <a:avLst/>
          </a:prstGeom>
          <a:solidFill>
            <a:srgbClr val="D1D1D1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AF5D8C-331D-4FCF-9ABB-88C9963B00DA}"/>
              </a:ext>
            </a:extLst>
          </p:cNvPr>
          <p:cNvSpPr>
            <a:spLocks noGrp="1"/>
          </p:cNvSpPr>
          <p:nvPr/>
        </p:nvSpPr>
        <p:spPr>
          <a:xfrm>
            <a:off x="1828800" y="20383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Open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FA83589-AD6E-41D5-A37F-778CB6AA0330}"/>
              </a:ext>
            </a:extLst>
          </p:cNvPr>
          <p:cNvSpPr>
            <a:spLocks noGrp="1"/>
          </p:cNvSpPr>
          <p:nvPr/>
        </p:nvSpPr>
        <p:spPr>
          <a:xfrm>
            <a:off x="2324100" y="1781175"/>
            <a:ext cx="771525" cy="28575"/>
          </a:xfrm>
          <a:prstGeom prst="rect">
            <a:avLst/>
          </a:prstGeom>
          <a:solidFill>
            <a:srgbClr val="C8C8C8"/>
          </a:solidFill>
          <a:ln w="0">
            <a:noFill/>
            <a:prstDash val="solid"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8718B76-9232-444D-87F9-593B2CDDDD5B}"/>
              </a:ext>
            </a:extLst>
          </p:cNvPr>
          <p:cNvSpPr>
            <a:spLocks noGrp="1"/>
          </p:cNvSpPr>
          <p:nvPr/>
        </p:nvSpPr>
        <p:spPr>
          <a:xfrm>
            <a:off x="3095625" y="1638300"/>
            <a:ext cx="323850" cy="323850"/>
          </a:xfrm>
          <a:prstGeom prst="ellipse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2EC4DB-6DD1-4974-9141-A144DAB722C1}"/>
              </a:ext>
            </a:extLst>
          </p:cNvPr>
          <p:cNvSpPr>
            <a:spLocks noGrp="1"/>
          </p:cNvSpPr>
          <p:nvPr/>
        </p:nvSpPr>
        <p:spPr>
          <a:xfrm>
            <a:off x="2924175" y="20383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+1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61F94DC-1EF5-4742-97A5-E70FBD199091}"/>
              </a:ext>
            </a:extLst>
          </p:cNvPr>
          <p:cNvSpPr>
            <a:spLocks noGrp="1"/>
          </p:cNvSpPr>
          <p:nvPr/>
        </p:nvSpPr>
        <p:spPr>
          <a:xfrm>
            <a:off x="3419475" y="1781175"/>
            <a:ext cx="771525" cy="28575"/>
          </a:xfrm>
          <a:prstGeom prst="rect">
            <a:avLst/>
          </a:prstGeom>
          <a:solidFill>
            <a:srgbClr val="C8C8C8"/>
          </a:solidFill>
          <a:ln w="0">
            <a:noFill/>
            <a:prstDash val="solid"/>
          </a:ln>
        </p:spPr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EDF6B4E-9C9A-4989-B7E8-321D74BBD9E3}"/>
              </a:ext>
            </a:extLst>
          </p:cNvPr>
          <p:cNvSpPr>
            <a:spLocks noGrp="1"/>
          </p:cNvSpPr>
          <p:nvPr/>
        </p:nvSpPr>
        <p:spPr>
          <a:xfrm>
            <a:off x="4191000" y="1638300"/>
            <a:ext cx="323850" cy="323850"/>
          </a:xfrm>
          <a:prstGeom prst="ellipse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0C28DAD-FACC-46C8-8386-EA0070226677}"/>
              </a:ext>
            </a:extLst>
          </p:cNvPr>
          <p:cNvSpPr>
            <a:spLocks noGrp="1"/>
          </p:cNvSpPr>
          <p:nvPr/>
        </p:nvSpPr>
        <p:spPr>
          <a:xfrm>
            <a:off x="4019550" y="20383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1570401-C60F-45AF-A8AC-C51E55A84614}"/>
              </a:ext>
            </a:extLst>
          </p:cNvPr>
          <p:cNvSpPr>
            <a:spLocks noGrp="1"/>
          </p:cNvSpPr>
          <p:nvPr/>
        </p:nvSpPr>
        <p:spPr>
          <a:xfrm>
            <a:off x="4514850" y="1781175"/>
            <a:ext cx="771525" cy="28575"/>
          </a:xfrm>
          <a:prstGeom prst="rect">
            <a:avLst/>
          </a:prstGeom>
          <a:solidFill>
            <a:srgbClr val="C8C8C8"/>
          </a:solidFill>
          <a:ln w="0">
            <a:noFill/>
            <a:prstDash val="solid"/>
          </a:ln>
        </p:spPr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DDBECF09-216F-4BDB-9F01-0FB6ED1EC6C1}"/>
              </a:ext>
            </a:extLst>
          </p:cNvPr>
          <p:cNvSpPr>
            <a:spLocks noGrp="1"/>
          </p:cNvSpPr>
          <p:nvPr/>
        </p:nvSpPr>
        <p:spPr>
          <a:xfrm>
            <a:off x="5286375" y="1638300"/>
            <a:ext cx="323850" cy="323850"/>
          </a:xfrm>
          <a:prstGeom prst="ellipse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7D295BC-D9CD-47ED-9D16-1B3B79735BAF}"/>
              </a:ext>
            </a:extLst>
          </p:cNvPr>
          <p:cNvSpPr>
            <a:spLocks noGrp="1"/>
          </p:cNvSpPr>
          <p:nvPr/>
        </p:nvSpPr>
        <p:spPr>
          <a:xfrm>
            <a:off x="5114925" y="20383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0BFD911-D129-41D9-8D32-D6E6C66CE43C}"/>
              </a:ext>
            </a:extLst>
          </p:cNvPr>
          <p:cNvSpPr>
            <a:spLocks noGrp="1"/>
          </p:cNvSpPr>
          <p:nvPr/>
        </p:nvSpPr>
        <p:spPr>
          <a:xfrm>
            <a:off x="5610225" y="1781175"/>
            <a:ext cx="771525" cy="28575"/>
          </a:xfrm>
          <a:prstGeom prst="rect">
            <a:avLst/>
          </a:prstGeom>
          <a:solidFill>
            <a:srgbClr val="C8C8C8"/>
          </a:solidFill>
          <a:ln w="0">
            <a:noFill/>
            <a:prstDash val="solid"/>
          </a:ln>
        </p:spPr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EED8DBD8-E960-46EB-A5F3-7883D82E0809}"/>
              </a:ext>
            </a:extLst>
          </p:cNvPr>
          <p:cNvSpPr>
            <a:spLocks noGrp="1"/>
          </p:cNvSpPr>
          <p:nvPr/>
        </p:nvSpPr>
        <p:spPr>
          <a:xfrm>
            <a:off x="6381750" y="1638300"/>
            <a:ext cx="323850" cy="323850"/>
          </a:xfrm>
          <a:prstGeom prst="ellipse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3288ECF-D3A0-48B4-9C09-1B4EA4817869}"/>
              </a:ext>
            </a:extLst>
          </p:cNvPr>
          <p:cNvSpPr>
            <a:spLocks noGrp="1"/>
          </p:cNvSpPr>
          <p:nvPr/>
        </p:nvSpPr>
        <p:spPr>
          <a:xfrm>
            <a:off x="6210300" y="20383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+12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944EDDC-D0EF-452C-96D8-7C134A1457E1}"/>
              </a:ext>
            </a:extLst>
          </p:cNvPr>
          <p:cNvSpPr>
            <a:spLocks noGrp="1"/>
          </p:cNvSpPr>
          <p:nvPr/>
        </p:nvSpPr>
        <p:spPr>
          <a:xfrm>
            <a:off x="6705600" y="1781175"/>
            <a:ext cx="771525" cy="28575"/>
          </a:xfrm>
          <a:prstGeom prst="rect">
            <a:avLst/>
          </a:prstGeom>
          <a:solidFill>
            <a:srgbClr val="C8C8C8"/>
          </a:solidFill>
          <a:ln w="0">
            <a:noFill/>
            <a:prstDash val="solid"/>
          </a:ln>
        </p:spPr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B577EADE-0F0C-426C-93EF-7938DCF06728}"/>
              </a:ext>
            </a:extLst>
          </p:cNvPr>
          <p:cNvSpPr>
            <a:spLocks noGrp="1"/>
          </p:cNvSpPr>
          <p:nvPr/>
        </p:nvSpPr>
        <p:spPr>
          <a:xfrm>
            <a:off x="7477125" y="1638300"/>
            <a:ext cx="323850" cy="323850"/>
          </a:xfrm>
          <a:prstGeom prst="ellipse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5AC2B3F-CFFD-4EF0-99E5-18F4A8F4A2AE}"/>
              </a:ext>
            </a:extLst>
          </p:cNvPr>
          <p:cNvSpPr>
            <a:spLocks noGrp="1"/>
          </p:cNvSpPr>
          <p:nvPr/>
        </p:nvSpPr>
        <p:spPr>
          <a:xfrm>
            <a:off x="7305675" y="20383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+24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73ADFB-6E3C-4EBD-BEDA-2405257EBF89}"/>
              </a:ext>
            </a:extLst>
          </p:cNvPr>
          <p:cNvSpPr>
            <a:spLocks noGrp="1"/>
          </p:cNvSpPr>
          <p:nvPr/>
        </p:nvSpPr>
        <p:spPr>
          <a:xfrm>
            <a:off x="714375" y="2400300"/>
            <a:ext cx="7715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Opening month is excluded; the first complete month is event time 1. The full path is stored monthly, with key label horizons 1, 3, 6, 12, 18, and 24.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2838790-B045-444B-A9D5-5E8CAE7DBA55}"/>
              </a:ext>
            </a:extLst>
          </p:cNvPr>
          <p:cNvSpPr>
            <a:spLocks noGrp="1"/>
          </p:cNvSpPr>
          <p:nvPr/>
        </p:nvSpPr>
        <p:spPr>
          <a:xfrm>
            <a:off x="714375" y="32385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Annual outcomes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49F4792-143F-4E90-B8B9-7763FB97A7ED}"/>
              </a:ext>
            </a:extLst>
          </p:cNvPr>
          <p:cNvSpPr>
            <a:spLocks noGrp="1"/>
          </p:cNvSpPr>
          <p:nvPr/>
        </p:nvSpPr>
        <p:spPr>
          <a:xfrm>
            <a:off x="904875" y="3667125"/>
            <a:ext cx="1143000" cy="457200"/>
          </a:xfrm>
          <a:prstGeom prst="rect">
            <a:avLst/>
          </a:prstGeom>
          <a:solidFill>
            <a:srgbClr val="EAF2F7"/>
          </a:solidFill>
          <a:ln w="9525">
            <a:solidFill>
              <a:srgbClr val="BED3E2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BC27444-C880-4DA0-8BD3-D38AFFE5866F}"/>
              </a:ext>
            </a:extLst>
          </p:cNvPr>
          <p:cNvSpPr>
            <a:spLocks noGrp="1"/>
          </p:cNvSpPr>
          <p:nvPr/>
        </p:nvSpPr>
        <p:spPr>
          <a:xfrm>
            <a:off x="933450" y="380047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Pre years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DDD8AF6-C076-49EE-9334-2A3629308F68}"/>
              </a:ext>
            </a:extLst>
          </p:cNvPr>
          <p:cNvSpPr>
            <a:spLocks noGrp="1"/>
          </p:cNvSpPr>
          <p:nvPr/>
        </p:nvSpPr>
        <p:spPr>
          <a:xfrm>
            <a:off x="2428875" y="3667125"/>
            <a:ext cx="1143000" cy="457200"/>
          </a:xfrm>
          <a:prstGeom prst="rect">
            <a:avLst/>
          </a:prstGeom>
          <a:solidFill>
            <a:srgbClr val="E1E1E1"/>
          </a:solidFill>
          <a:ln w="9525">
            <a:solidFill>
              <a:srgbClr val="C7C7C7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F71F990-0D67-4B89-AE47-1E8B0A1368DC}"/>
              </a:ext>
            </a:extLst>
          </p:cNvPr>
          <p:cNvSpPr>
            <a:spLocks noGrp="1"/>
          </p:cNvSpPr>
          <p:nvPr/>
        </p:nvSpPr>
        <p:spPr>
          <a:xfrm>
            <a:off x="2457450" y="380047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Opening year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BAFA904-A361-4BEF-9F41-87C58F9EC2F3}"/>
              </a:ext>
            </a:extLst>
          </p:cNvPr>
          <p:cNvSpPr>
            <a:spLocks noGrp="1"/>
          </p:cNvSpPr>
          <p:nvPr/>
        </p:nvSpPr>
        <p:spPr>
          <a:xfrm>
            <a:off x="3952875" y="3667125"/>
            <a:ext cx="1143000" cy="457200"/>
          </a:xfrm>
          <a:prstGeom prst="rect">
            <a:avLst/>
          </a:prstGeom>
          <a:solidFill>
            <a:srgbClr val="F6E9EC"/>
          </a:solidFill>
          <a:ln w="9525">
            <a:solidFill>
              <a:srgbClr val="D8A8B2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E63AAF6-640A-4BA2-95DF-3938CCB6189E}"/>
              </a:ext>
            </a:extLst>
          </p:cNvPr>
          <p:cNvSpPr>
            <a:spLocks noGrp="1"/>
          </p:cNvSpPr>
          <p:nvPr/>
        </p:nvSpPr>
        <p:spPr>
          <a:xfrm>
            <a:off x="3981450" y="380047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Year +1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48A7295-B98F-43C7-8A3F-CACACDBDCD91}"/>
              </a:ext>
            </a:extLst>
          </p:cNvPr>
          <p:cNvSpPr>
            <a:spLocks noGrp="1"/>
          </p:cNvSpPr>
          <p:nvPr/>
        </p:nvSpPr>
        <p:spPr>
          <a:xfrm>
            <a:off x="5476875" y="3667125"/>
            <a:ext cx="1143000" cy="457200"/>
          </a:xfrm>
          <a:prstGeom prst="rect">
            <a:avLst/>
          </a:prstGeom>
          <a:solidFill>
            <a:srgbClr val="F6E9EC"/>
          </a:solidFill>
          <a:ln w="9525">
            <a:solidFill>
              <a:srgbClr val="D8A8B2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B9636CD-B259-40C5-9E39-9275E6137FF8}"/>
              </a:ext>
            </a:extLst>
          </p:cNvPr>
          <p:cNvSpPr>
            <a:spLocks noGrp="1"/>
          </p:cNvSpPr>
          <p:nvPr/>
        </p:nvSpPr>
        <p:spPr>
          <a:xfrm>
            <a:off x="5505450" y="380047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Year +2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3DFC5D3-E62D-4BB2-B8B2-7F150F7BA122}"/>
              </a:ext>
            </a:extLst>
          </p:cNvPr>
          <p:cNvSpPr>
            <a:spLocks noGrp="1"/>
          </p:cNvSpPr>
          <p:nvPr/>
        </p:nvSpPr>
        <p:spPr>
          <a:xfrm>
            <a:off x="7000875" y="3667125"/>
            <a:ext cx="1143000" cy="457200"/>
          </a:xfrm>
          <a:prstGeom prst="rect">
            <a:avLst/>
          </a:prstGeom>
          <a:solidFill>
            <a:srgbClr val="F6E9EC"/>
          </a:solidFill>
          <a:ln w="9525">
            <a:solidFill>
              <a:srgbClr val="D8A8B2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A90D171-91FD-495E-A254-3D8BAC1379D1}"/>
              </a:ext>
            </a:extLst>
          </p:cNvPr>
          <p:cNvSpPr>
            <a:spLocks noGrp="1"/>
          </p:cNvSpPr>
          <p:nvPr/>
        </p:nvSpPr>
        <p:spPr>
          <a:xfrm>
            <a:off x="7029450" y="3800475"/>
            <a:ext cx="1085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Year +3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C541DCC-6BD1-40C9-9936-F18B48349A37}"/>
              </a:ext>
            </a:extLst>
          </p:cNvPr>
          <p:cNvSpPr>
            <a:spLocks noGrp="1"/>
          </p:cNvSpPr>
          <p:nvPr/>
        </p:nvSpPr>
        <p:spPr>
          <a:xfrm>
            <a:off x="714375" y="43053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The opening year is excluded; the next full calendar year is event time 1.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B57FE38-C6A1-49A5-9B82-880860719A40}"/>
              </a:ext>
            </a:extLst>
          </p:cNvPr>
          <p:cNvSpPr>
            <a:spLocks noGrp="1"/>
          </p:cNvSpPr>
          <p:nvPr/>
        </p:nvSpPr>
        <p:spPr>
          <a:xfrm>
            <a:off x="8810625" y="1143000"/>
            <a:ext cx="2762250" cy="3571875"/>
          </a:xfrm>
          <a:prstGeom prst="rect">
            <a:avLst/>
          </a:prstGeom>
          <a:solidFill>
            <a:srgbClr val="F5F5F3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4227EAB-1682-4C8B-BA03-F18EE003CEDE}"/>
              </a:ext>
            </a:extLst>
          </p:cNvPr>
          <p:cNvSpPr>
            <a:spLocks noGrp="1"/>
          </p:cNvSpPr>
          <p:nvPr/>
        </p:nvSpPr>
        <p:spPr>
          <a:xfrm>
            <a:off x="9029700" y="1371600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What is checked now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A9A99BA-F5FF-4EFD-AC1B-4E9DEFAE2686}"/>
              </a:ext>
            </a:extLst>
          </p:cNvPr>
          <p:cNvSpPr>
            <a:spLocks noGrp="1"/>
          </p:cNvSpPr>
          <p:nvPr/>
        </p:nvSpPr>
        <p:spPr>
          <a:xfrm>
            <a:off x="9029700" y="18478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C407AC4-ACA5-41CF-B579-3C97FE4D507C}"/>
              </a:ext>
            </a:extLst>
          </p:cNvPr>
          <p:cNvSpPr>
            <a:spLocks noGrp="1"/>
          </p:cNvSpPr>
          <p:nvPr/>
        </p:nvSpPr>
        <p:spPr>
          <a:xfrm>
            <a:off x="9239250" y="1847850"/>
            <a:ext cx="20288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All matching variables are pre-treatment.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FE7CCBE-2254-4129-9288-5420B2B809D1}"/>
              </a:ext>
            </a:extLst>
          </p:cNvPr>
          <p:cNvSpPr>
            <a:spLocks noGrp="1"/>
          </p:cNvSpPr>
          <p:nvPr/>
        </p:nvSpPr>
        <p:spPr>
          <a:xfrm>
            <a:off x="9029700" y="25336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2BD74C0-6811-463E-82A7-95D0508F6144}"/>
              </a:ext>
            </a:extLst>
          </p:cNvPr>
          <p:cNvSpPr>
            <a:spLocks noGrp="1"/>
          </p:cNvSpPr>
          <p:nvPr/>
        </p:nvSpPr>
        <p:spPr>
          <a:xfrm>
            <a:off x="9239250" y="2533650"/>
            <a:ext cx="20288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Lag 1 is held out from matching and used for pre-fit validation.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F00308F-9C84-49AF-944F-18D937789024}"/>
              </a:ext>
            </a:extLst>
          </p:cNvPr>
          <p:cNvSpPr>
            <a:spLocks noGrp="1"/>
          </p:cNvSpPr>
          <p:nvPr/>
        </p:nvSpPr>
        <p:spPr>
          <a:xfrm>
            <a:off x="9029700" y="32194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6146C5E-F720-4565-9553-9DD1C1DC7B59}"/>
              </a:ext>
            </a:extLst>
          </p:cNvPr>
          <p:cNvSpPr>
            <a:spLocks noGrp="1"/>
          </p:cNvSpPr>
          <p:nvPr/>
        </p:nvSpPr>
        <p:spPr>
          <a:xfrm>
            <a:off x="9239250" y="3219450"/>
            <a:ext cx="20288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GSC reports pre-RMSPE and bootstrap uncertainty.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97B9E95-DC2B-4ADD-A91A-AA70015E3BC6}"/>
              </a:ext>
            </a:extLst>
          </p:cNvPr>
          <p:cNvSpPr>
            <a:spLocks noGrp="1"/>
          </p:cNvSpPr>
          <p:nvPr/>
        </p:nvSpPr>
        <p:spPr>
          <a:xfrm>
            <a:off x="9029700" y="3905250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4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What is still required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0D90985-8FDA-49F2-A231-72C63D62F24A}"/>
              </a:ext>
            </a:extLst>
          </p:cNvPr>
          <p:cNvSpPr>
            <a:spLocks noGrp="1"/>
          </p:cNvSpPr>
          <p:nvPr/>
        </p:nvSpPr>
        <p:spPr>
          <a:xfrm>
            <a:off x="9029700" y="4238625"/>
            <a:ext cx="22669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A formal cohort event-study / parallel-trend figure has not yet been produced for this partial release. It must be completed before strong causal claims.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CA45A30-B0D8-4D24-A7E9-EDAC517F88F0}"/>
              </a:ext>
            </a:extLst>
          </p:cNvPr>
          <p:cNvSpPr>
            <a:spLocks noGrp="1"/>
          </p:cNvSpPr>
          <p:nvPr/>
        </p:nvSpPr>
        <p:spPr>
          <a:xfrm>
            <a:off x="714375" y="5095875"/>
            <a:ext cx="10858500" cy="762000"/>
          </a:xfrm>
          <a:prstGeom prst="rect">
            <a:avLst/>
          </a:prstGeom>
          <a:solidFill>
            <a:srgbClr val="F6E9EC"/>
          </a:solidFill>
          <a:ln w="9525">
            <a:solidFill>
              <a:srgbClr val="D8A8B2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9F2F1B4-22A9-40EB-80F7-BA8244D59DA8}"/>
              </a:ext>
            </a:extLst>
          </p:cNvPr>
          <p:cNvSpPr>
            <a:spLocks noGrp="1"/>
          </p:cNvSpPr>
          <p:nvPr/>
        </p:nvSpPr>
        <p:spPr>
          <a:xfrm>
            <a:off x="933450" y="52959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Interpretation rule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4C6D4B7-A5D1-41FE-B1DD-8C43A8A478DB}"/>
              </a:ext>
            </a:extLst>
          </p:cNvPr>
          <p:cNvSpPr>
            <a:spLocks noGrp="1"/>
          </p:cNvSpPr>
          <p:nvPr/>
        </p:nvSpPr>
        <p:spPr>
          <a:xfrm>
            <a:off x="2428875" y="5257800"/>
            <a:ext cx="8620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Current plots show available response-label paths and pre-fit evidence—not a completed pooled event-study with validated parallel trends.</a:t>
            </a:r>
          </a:p>
        </p:txBody>
      </p:sp>
    </p:spTree>
    <p:extLst>
      <p:ext uri="{BB962C8B-B14F-4D97-AF65-F5344CB8AC3E}">
        <p14:creationId xmlns:p14="http://schemas.microsoft.com/office/powerpoint/2010/main" val="148701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473B7345-ED97-4E71-A173-2E6B24C4DBFA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95250" cy="3333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BF518C-5E76-4C2E-A5E8-302CC38DC39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Current response-label paths: POI, population, and night lights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AC7B8-B1CF-48BC-B72F-5177E6428668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01375" cy="19050"/>
          </a:xfrm>
          <a:prstGeom prst="rect">
            <a:avLst/>
          </a:prstGeom>
          <a:solidFill>
            <a:srgbClr val="E8C9C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E13B3E-C573-4F2F-8FF7-56D381EA70BE}"/>
              </a:ext>
            </a:extLst>
          </p:cNvPr>
          <p:cNvSpPr>
            <a:spLocks noGrp="1"/>
          </p:cNvSpPr>
          <p:nvPr/>
        </p:nvSpPr>
        <p:spPr>
          <a:xfrm>
            <a:off x="9525000" y="742950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PRELIMINARY RESPONSE RESULTS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E8D17D-BEA0-41AC-BD0F-0F9677DC5227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A029BC-1601-423C-9FF9-464EC91DE17D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701BD8-5F90-4DD7-A856-3A9B390B14DC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55DC20-EB3F-4F89-8683-C1685B34D124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FC0F38-4D71-4DFD-A79D-3F0B4469D955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0EF58D9-AB35-4E43-B821-FE4D52BBFB2C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D1473A-7A22-4225-B226-26EDD36E3388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152935"/>
            <a:ext cx="11144250" cy="388538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3C3B1E6A-E740-41F4-8348-69769839A55F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0906125" cy="723900"/>
          </a:xfrm>
          <a:prstGeom prst="rect">
            <a:avLst/>
          </a:prstGeom>
          <a:solidFill>
            <a:srgbClr val="F5F5F3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A6D2C7-7E47-43E2-8214-00EE48DD6F9E}"/>
              </a:ext>
            </a:extLst>
          </p:cNvPr>
          <p:cNvSpPr>
            <a:spLocks noGrp="1"/>
          </p:cNvSpPr>
          <p:nvPr/>
        </p:nvSpPr>
        <p:spPr>
          <a:xfrm>
            <a:off x="838200" y="5467350"/>
            <a:ext cx="1952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Reading these results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EB2F93-A3AD-432F-BA17-CC434D925859}"/>
              </a:ext>
            </a:extLst>
          </p:cNvPr>
          <p:cNvSpPr>
            <a:spLocks noGrp="1"/>
          </p:cNvSpPr>
          <p:nvPr/>
        </p:nvSpPr>
        <p:spPr>
          <a:xfrm>
            <a:off x="2714625" y="5429250"/>
            <a:ext cx="847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POI count labels are positive on average in the current release. Population and night-light intervals are much wider and include zero at most horizons, so evidence is still preliminary.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D1DB9C-61CB-4FD6-B084-21B591E57A29}"/>
              </a:ext>
            </a:extLst>
          </p:cNvPr>
          <p:cNvSpPr>
            <a:spLocks noGrp="1"/>
          </p:cNvSpPr>
          <p:nvPr/>
        </p:nvSpPr>
        <p:spPr>
          <a:xfrm>
            <a:off x="2714625" y="5810250"/>
            <a:ext cx="847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0" i="1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1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Housing is excluded: only 1 grid currently yields 6 key-horizon labels after strict treated-and-frozen-control coverage checks.</a:t>
            </a:r>
          </a:p>
        </p:txBody>
      </p:sp>
    </p:spTree>
    <p:extLst>
      <p:ext uri="{BB962C8B-B14F-4D97-AF65-F5344CB8AC3E}">
        <p14:creationId xmlns:p14="http://schemas.microsoft.com/office/powerpoint/2010/main" val="2044213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C1F8753A-D883-4F49-B9D8-C7F005FEAA11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95250" cy="3333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9A13CE-1BDD-4D3A-ABAC-24862DF8669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Step 3 — learn a response-aligned urban representation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E22D66-BFE2-4EC9-A458-9134079650FD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01375" cy="19050"/>
          </a:xfrm>
          <a:prstGeom prst="rect">
            <a:avLst/>
          </a:prstGeom>
          <a:solidFill>
            <a:srgbClr val="E8C9C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5E641E-D9FC-42BB-9196-FAFDC4F9D07E}"/>
              </a:ext>
            </a:extLst>
          </p:cNvPr>
          <p:cNvSpPr>
            <a:spLocks noGrp="1"/>
          </p:cNvSpPr>
          <p:nvPr/>
        </p:nvSpPr>
        <p:spPr>
          <a:xfrm>
            <a:off x="9525000" y="742950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REPRESENTATION LEARNING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D72A32-CF94-47BB-9979-857BF6A22550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F92AB4-7446-4053-880A-AB343A5129D4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DF081E-F83C-4AFD-A6B4-03E15AA4BB76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04AF73-8837-4FBB-8105-4A49FBD38D57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AF8F16-B8EE-48E1-9AD2-041113BB2799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145470-70F3-4A56-8A5E-6A0CF5389781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8B18E0-4646-4F29-9686-89424C002CF5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A3C134E-90F6-4A62-8FCF-F9E6F5B7A9A5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2286000" cy="2524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E344D59-C24C-4A8A-AD97-061FD7430690}"/>
              </a:ext>
            </a:extLst>
          </p:cNvPr>
          <p:cNvSpPr>
            <a:spLocks noGrp="1"/>
          </p:cNvSpPr>
          <p:nvPr/>
        </p:nvSpPr>
        <p:spPr>
          <a:xfrm>
            <a:off x="809625" y="1704975"/>
            <a:ext cx="342900" cy="266700"/>
          </a:xfrm>
          <a:prstGeom prst="roundRect">
            <a:avLst>
              <a:gd name="adj" fmla="val 28571"/>
            </a:avLst>
          </a:prstGeom>
          <a:solidFill>
            <a:srgbClr val="666666"/>
          </a:solidFill>
          <a:ln w="9525">
            <a:solidFill>
              <a:srgbClr val="66666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BE88B9-68E3-42C7-81B1-B5D29BE80F86}"/>
              </a:ext>
            </a:extLst>
          </p:cNvPr>
          <p:cNvSpPr>
            <a:spLocks noGrp="1"/>
          </p:cNvSpPr>
          <p:nvPr/>
        </p:nvSpPr>
        <p:spPr>
          <a:xfrm>
            <a:off x="809625" y="17335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10F354-CBEA-41B8-8803-2975A6F48CDF}"/>
              </a:ext>
            </a:extLst>
          </p:cNvPr>
          <p:cNvSpPr>
            <a:spLocks noGrp="1"/>
          </p:cNvSpPr>
          <p:nvPr/>
        </p:nvSpPr>
        <p:spPr>
          <a:xfrm>
            <a:off x="809625" y="2257425"/>
            <a:ext cx="190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Input xᵢ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00B6672-DD7F-4D40-9AB7-EFCD6DCE18C9}"/>
              </a:ext>
            </a:extLst>
          </p:cNvPr>
          <p:cNvSpPr>
            <a:spLocks noGrp="1"/>
          </p:cNvSpPr>
          <p:nvPr/>
        </p:nvSpPr>
        <p:spPr>
          <a:xfrm>
            <a:off x="809625" y="2781300"/>
            <a:ext cx="1905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27 pre-opening values: 9 variables × lags 1, 2, and 3.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E218AE-4628-4094-BC83-6CF4C348ABB8}"/>
              </a:ext>
            </a:extLst>
          </p:cNvPr>
          <p:cNvSpPr>
            <a:spLocks noGrp="1"/>
          </p:cNvSpPr>
          <p:nvPr/>
        </p:nvSpPr>
        <p:spPr>
          <a:xfrm>
            <a:off x="2952750" y="2571750"/>
            <a:ext cx="3714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70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3DFCE4-591B-471B-9128-03BAD24E3CD7}"/>
              </a:ext>
            </a:extLst>
          </p:cNvPr>
          <p:cNvSpPr>
            <a:spLocks noGrp="1"/>
          </p:cNvSpPr>
          <p:nvPr/>
        </p:nvSpPr>
        <p:spPr>
          <a:xfrm>
            <a:off x="3352800" y="1524000"/>
            <a:ext cx="2286000" cy="2524125"/>
          </a:xfrm>
          <a:prstGeom prst="rect">
            <a:avLst/>
          </a:prstGeom>
          <a:solidFill>
            <a:srgbClr val="EAF2F7"/>
          </a:solidFill>
          <a:ln w="9525">
            <a:solidFill>
              <a:srgbClr val="BED3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F6D8AFD-6C0B-4BD3-BEB4-C180412EFD83}"/>
              </a:ext>
            </a:extLst>
          </p:cNvPr>
          <p:cNvSpPr>
            <a:spLocks noGrp="1"/>
          </p:cNvSpPr>
          <p:nvPr/>
        </p:nvSpPr>
        <p:spPr>
          <a:xfrm>
            <a:off x="3514725" y="1704975"/>
            <a:ext cx="342900" cy="266700"/>
          </a:xfrm>
          <a:prstGeom prst="roundRect">
            <a:avLst>
              <a:gd name="adj" fmla="val 28571"/>
            </a:avLst>
          </a:prstGeom>
          <a:solidFill>
            <a:srgbClr val="2C6E9B"/>
          </a:solidFill>
          <a:ln w="9525">
            <a:solidFill>
              <a:srgbClr val="2C6E9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7D1F457-EDC9-4FD3-A820-14A1022A2433}"/>
              </a:ext>
            </a:extLst>
          </p:cNvPr>
          <p:cNvSpPr>
            <a:spLocks noGrp="1"/>
          </p:cNvSpPr>
          <p:nvPr/>
        </p:nvSpPr>
        <p:spPr>
          <a:xfrm>
            <a:off x="3514725" y="17335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868C60-3179-433A-8015-1ECF3995603F}"/>
              </a:ext>
            </a:extLst>
          </p:cNvPr>
          <p:cNvSpPr>
            <a:spLocks noGrp="1"/>
          </p:cNvSpPr>
          <p:nvPr/>
        </p:nvSpPr>
        <p:spPr>
          <a:xfrm>
            <a:off x="3514725" y="2257425"/>
            <a:ext cx="190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Encoder fθ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4A8955-9AA6-4EC7-92A6-77AC08A70341}"/>
              </a:ext>
            </a:extLst>
          </p:cNvPr>
          <p:cNvSpPr>
            <a:spLocks noGrp="1"/>
          </p:cNvSpPr>
          <p:nvPr/>
        </p:nvSpPr>
        <p:spPr>
          <a:xfrm>
            <a:off x="3514725" y="2781300"/>
            <a:ext cx="1905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MLP 256 → 128, batch normalization, ReLU, dropout.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A6A14C8-48CD-45FC-83F0-6CBD67A14B56}"/>
              </a:ext>
            </a:extLst>
          </p:cNvPr>
          <p:cNvSpPr>
            <a:spLocks noGrp="1"/>
          </p:cNvSpPr>
          <p:nvPr/>
        </p:nvSpPr>
        <p:spPr>
          <a:xfrm>
            <a:off x="5657850" y="2571750"/>
            <a:ext cx="3714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70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872680-73AC-43E5-A195-16517FF64A83}"/>
              </a:ext>
            </a:extLst>
          </p:cNvPr>
          <p:cNvSpPr>
            <a:spLocks noGrp="1"/>
          </p:cNvSpPr>
          <p:nvPr/>
        </p:nvSpPr>
        <p:spPr>
          <a:xfrm>
            <a:off x="6057900" y="1524000"/>
            <a:ext cx="2286000" cy="2524125"/>
          </a:xfrm>
          <a:prstGeom prst="rect">
            <a:avLst/>
          </a:prstGeom>
          <a:solidFill>
            <a:srgbClr val="F6E9EC"/>
          </a:solidFill>
          <a:ln w="9525">
            <a:solidFill>
              <a:srgbClr val="D8A8B2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38BC646-6F78-4577-A061-B19DE3D5A740}"/>
              </a:ext>
            </a:extLst>
          </p:cNvPr>
          <p:cNvSpPr>
            <a:spLocks noGrp="1"/>
          </p:cNvSpPr>
          <p:nvPr/>
        </p:nvSpPr>
        <p:spPr>
          <a:xfrm>
            <a:off x="6219825" y="1704975"/>
            <a:ext cx="342900" cy="266700"/>
          </a:xfrm>
          <a:prstGeom prst="roundRect">
            <a:avLst>
              <a:gd name="adj" fmla="val 28571"/>
            </a:avLst>
          </a:prstGeom>
          <a:solidFill>
            <a:srgbClr val="A31F34"/>
          </a:solidFill>
          <a:ln w="9525">
            <a:solidFill>
              <a:srgbClr val="A31F34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A4F0735-6522-4E1B-BBC8-FA9AA1D5CBB7}"/>
              </a:ext>
            </a:extLst>
          </p:cNvPr>
          <p:cNvSpPr>
            <a:spLocks noGrp="1"/>
          </p:cNvSpPr>
          <p:nvPr/>
        </p:nvSpPr>
        <p:spPr>
          <a:xfrm>
            <a:off x="6219825" y="17335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79EEDB9-64B0-4EA7-A6DE-6BE7E5159336}"/>
              </a:ext>
            </a:extLst>
          </p:cNvPr>
          <p:cNvSpPr>
            <a:spLocks noGrp="1"/>
          </p:cNvSpPr>
          <p:nvPr/>
        </p:nvSpPr>
        <p:spPr>
          <a:xfrm>
            <a:off x="6219825" y="2257425"/>
            <a:ext cx="190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Embedding zᵢ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07BCA0A-3572-4124-8BAE-1809B944284A}"/>
              </a:ext>
            </a:extLst>
          </p:cNvPr>
          <p:cNvSpPr>
            <a:spLocks noGrp="1"/>
          </p:cNvSpPr>
          <p:nvPr/>
        </p:nvSpPr>
        <p:spPr>
          <a:xfrm>
            <a:off x="6219825" y="2781300"/>
            <a:ext cx="1905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128-dimensional place representation; L2-normalized for response geometry.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0AEB3FD-CBD2-4D93-B089-EBC496ED4AE3}"/>
              </a:ext>
            </a:extLst>
          </p:cNvPr>
          <p:cNvSpPr>
            <a:spLocks noGrp="1"/>
          </p:cNvSpPr>
          <p:nvPr/>
        </p:nvSpPr>
        <p:spPr>
          <a:xfrm>
            <a:off x="8362950" y="2571750"/>
            <a:ext cx="3714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70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B9B9B9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AC25150-0A46-4E3C-B5EF-0D4E0234F104}"/>
              </a:ext>
            </a:extLst>
          </p:cNvPr>
          <p:cNvSpPr>
            <a:spLocks noGrp="1"/>
          </p:cNvSpPr>
          <p:nvPr/>
        </p:nvSpPr>
        <p:spPr>
          <a:xfrm>
            <a:off x="8763000" y="1524000"/>
            <a:ext cx="2286000" cy="2524125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35E54A81-8CE2-496F-8109-F0BAC31C3C91}"/>
              </a:ext>
            </a:extLst>
          </p:cNvPr>
          <p:cNvSpPr>
            <a:spLocks noGrp="1"/>
          </p:cNvSpPr>
          <p:nvPr/>
        </p:nvSpPr>
        <p:spPr>
          <a:xfrm>
            <a:off x="8924925" y="1704975"/>
            <a:ext cx="342900" cy="266700"/>
          </a:xfrm>
          <a:prstGeom prst="roundRect">
            <a:avLst>
              <a:gd name="adj" fmla="val 28571"/>
            </a:avLst>
          </a:prstGeom>
          <a:solidFill>
            <a:srgbClr val="D97B29"/>
          </a:solidFill>
          <a:ln w="9525">
            <a:solidFill>
              <a:srgbClr val="D97B29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AE9F4A9-1BFB-49F6-9BE4-6B2EAB1E9C59}"/>
              </a:ext>
            </a:extLst>
          </p:cNvPr>
          <p:cNvSpPr>
            <a:spLocks noGrp="1"/>
          </p:cNvSpPr>
          <p:nvPr/>
        </p:nvSpPr>
        <p:spPr>
          <a:xfrm>
            <a:off x="8924925" y="17335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4341657-A189-4F6C-AF7D-8342D8A9DD7C}"/>
              </a:ext>
            </a:extLst>
          </p:cNvPr>
          <p:cNvSpPr>
            <a:spLocks noGrp="1"/>
          </p:cNvSpPr>
          <p:nvPr/>
        </p:nvSpPr>
        <p:spPr>
          <a:xfrm>
            <a:off x="8924925" y="2257425"/>
            <a:ext cx="1905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Response label yᵢ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C63E9A0-2E2B-4D96-9B10-36CE35BC572B}"/>
              </a:ext>
            </a:extLst>
          </p:cNvPr>
          <p:cNvSpPr>
            <a:spLocks noGrp="1"/>
          </p:cNvSpPr>
          <p:nvPr/>
        </p:nvSpPr>
        <p:spPr>
          <a:xfrm>
            <a:off x="8924925" y="2781300"/>
            <a:ext cx="1905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Sparse outcome–horizon vector from 7,668 training rows across 387 units.</a:t>
            </a: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52230" y="4438650"/>
            <a:ext cx="5287541" cy="590550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E113704C-C224-4ACC-A71F-17CE8AEE32FB}"/>
              </a:ext>
            </a:extLst>
          </p:cNvPr>
          <p:cNvSpPr>
            <a:spLocks noGrp="1"/>
          </p:cNvSpPr>
          <p:nvPr/>
        </p:nvSpPr>
        <p:spPr>
          <a:xfrm>
            <a:off x="1571625" y="5276850"/>
            <a:ext cx="9048750" cy="647700"/>
          </a:xfrm>
          <a:prstGeom prst="rect">
            <a:avLst/>
          </a:prstGeom>
          <a:solidFill>
            <a:srgbClr val="F5F5F3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515A807-F0FB-4F91-BCE1-6A124A2E41A5}"/>
              </a:ext>
            </a:extLst>
          </p:cNvPr>
          <p:cNvSpPr>
            <a:spLocks noGrp="1"/>
          </p:cNvSpPr>
          <p:nvPr/>
        </p:nvSpPr>
        <p:spPr>
          <a:xfrm>
            <a:off x="1790700" y="5467350"/>
            <a:ext cx="1381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Learning target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5093CDA-EF31-486E-A855-CB8296D01FE8}"/>
              </a:ext>
            </a:extLst>
          </p:cNvPr>
          <p:cNvSpPr>
            <a:spLocks noGrp="1"/>
          </p:cNvSpPr>
          <p:nvPr/>
        </p:nvSpPr>
        <p:spPr>
          <a:xfrm>
            <a:off x="3162300" y="5419725"/>
            <a:ext cx="7096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If two places have similar causal response vectors, their embeddings should be close—even when their visible urban form differs.</a:t>
            </a:r>
          </a:p>
        </p:txBody>
      </p:sp>
    </p:spTree>
    <p:extLst>
      <p:ext uri="{BB962C8B-B14F-4D97-AF65-F5344CB8AC3E}">
        <p14:creationId xmlns:p14="http://schemas.microsoft.com/office/powerpoint/2010/main" val="638690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CE1E3DED-401A-4E11-8C9A-24AE87EC7933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95250" cy="3333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FDB523-5236-47AE-A9D9-60D9E1F2B12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Training is stable; predictive and cross-city evidence remains incomplete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35E463-4697-46A5-9071-82AA17FE1FC7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01375" cy="19050"/>
          </a:xfrm>
          <a:prstGeom prst="rect">
            <a:avLst/>
          </a:prstGeom>
          <a:solidFill>
            <a:srgbClr val="E8C9C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9F1375-634D-4EAA-8049-96D3E40F9679}"/>
              </a:ext>
            </a:extLst>
          </p:cNvPr>
          <p:cNvSpPr>
            <a:spLocks noGrp="1"/>
          </p:cNvSpPr>
          <p:nvPr/>
        </p:nvSpPr>
        <p:spPr>
          <a:xfrm>
            <a:off x="9525000" y="742950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LOSS AND EVALUATION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BBCA3F-1154-4A75-9FD9-86BE1102B79C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A6587D-B623-4056-8D8E-7BF51A1EF8D3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C248C0-991F-4DBA-956F-84AB4A94B659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17CB39-6988-4867-966F-A8C1B7C15FD0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C019A2-9D59-41DD-A386-7C393CAE74B7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CA74E4-960F-49CA-AAF9-C766686F215F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A3CB3E-714B-474E-8200-74011D61949E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190546"/>
            <a:ext cx="5334000" cy="301005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82D780CC-D94D-4006-BFA7-DEDAF20CD8A3}"/>
              </a:ext>
            </a:extLst>
          </p:cNvPr>
          <p:cNvSpPr>
            <a:spLocks noGrp="1"/>
          </p:cNvSpPr>
          <p:nvPr/>
        </p:nvSpPr>
        <p:spPr>
          <a:xfrm>
            <a:off x="6191250" y="1104900"/>
            <a:ext cx="5381625" cy="1695450"/>
          </a:xfrm>
          <a:prstGeom prst="rect">
            <a:avLst/>
          </a:prstGeom>
          <a:solidFill>
            <a:srgbClr val="F6E9EC"/>
          </a:solidFill>
          <a:ln w="9525">
            <a:solidFill>
              <a:srgbClr val="D8A8B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83B970-8D51-43B8-850F-2B5F695BB0C2}"/>
              </a:ext>
            </a:extLst>
          </p:cNvPr>
          <p:cNvSpPr>
            <a:spLocks noGrp="1"/>
          </p:cNvSpPr>
          <p:nvPr/>
        </p:nvSpPr>
        <p:spPr>
          <a:xfrm>
            <a:off x="6419850" y="12763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Training objectives</a:t>
            </a: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787648" y="1685925"/>
            <a:ext cx="4093580" cy="457200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787648" y="2152650"/>
            <a:ext cx="4093580" cy="4572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1CA2BACF-3FFB-4581-831D-9D806872E1C1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5381625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329966-C7A5-4B7F-BCBC-F13F85ACB59A}"/>
              </a:ext>
            </a:extLst>
          </p:cNvPr>
          <p:cNvSpPr>
            <a:spLocks noGrp="1"/>
          </p:cNvSpPr>
          <p:nvPr/>
        </p:nvSpPr>
        <p:spPr>
          <a:xfrm>
            <a:off x="6419850" y="32194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Current test and baseline status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2B5BB0-5504-4174-A5E4-4A17C7045011}"/>
              </a:ext>
            </a:extLst>
          </p:cNvPr>
          <p:cNvSpPr>
            <a:spLocks noGrp="1"/>
          </p:cNvSpPr>
          <p:nvPr/>
        </p:nvSpPr>
        <p:spPr>
          <a:xfrm>
            <a:off x="6419850" y="3590925"/>
            <a:ext cx="4857750" cy="323850"/>
          </a:xfrm>
          <a:prstGeom prst="rect">
            <a:avLst/>
          </a:prstGeom>
          <a:solidFill>
            <a:srgbClr val="F5F5F3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06AB5CD-9130-46D6-8A29-B894E5424CD9}"/>
              </a:ext>
            </a:extLst>
          </p:cNvPr>
          <p:cNvSpPr>
            <a:spLocks noGrp="1"/>
          </p:cNvSpPr>
          <p:nvPr/>
        </p:nvSpPr>
        <p:spPr>
          <a:xfrm>
            <a:off x="6515100" y="36385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Learned embedding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7C8A99B-C7D4-4415-8771-ABF3889C5124}"/>
              </a:ext>
            </a:extLst>
          </p:cNvPr>
          <p:cNvSpPr>
            <a:spLocks noGrp="1"/>
          </p:cNvSpPr>
          <p:nvPr/>
        </p:nvSpPr>
        <p:spPr>
          <a:xfrm>
            <a:off x="8620125" y="363855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nn_corr@5 = 0.0004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13BD15-0BCA-4C34-AE0D-E1D50E275BA4}"/>
              </a:ext>
            </a:extLst>
          </p:cNvPr>
          <p:cNvSpPr>
            <a:spLocks noGrp="1"/>
          </p:cNvSpPr>
          <p:nvPr/>
        </p:nvSpPr>
        <p:spPr>
          <a:xfrm>
            <a:off x="10001250" y="36385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Run; test n = 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CF1EF0D-8463-4C41-A5CB-3F6F9F5A9FE7}"/>
              </a:ext>
            </a:extLst>
          </p:cNvPr>
          <p:cNvSpPr>
            <a:spLocks noGrp="1"/>
          </p:cNvSpPr>
          <p:nvPr/>
        </p:nvSpPr>
        <p:spPr>
          <a:xfrm>
            <a:off x="6515100" y="40100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Random correlation baseline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0BB3EF9-4B1F-41E9-AAC2-B7047CDDB34D}"/>
              </a:ext>
            </a:extLst>
          </p:cNvPr>
          <p:cNvSpPr>
            <a:spLocks noGrp="1"/>
          </p:cNvSpPr>
          <p:nvPr/>
        </p:nvSpPr>
        <p:spPr>
          <a:xfrm>
            <a:off x="8620125" y="401002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0.0000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B38188-C761-4E5B-8005-7D5B9771D1A8}"/>
              </a:ext>
            </a:extLst>
          </p:cNvPr>
          <p:cNvSpPr>
            <a:spLocks noGrp="1"/>
          </p:cNvSpPr>
          <p:nvPr/>
        </p:nvSpPr>
        <p:spPr>
          <a:xfrm>
            <a:off x="10001250" y="4010025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Run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85C5E6F-0CF6-48F1-9785-664CC0937961}"/>
              </a:ext>
            </a:extLst>
          </p:cNvPr>
          <p:cNvSpPr>
            <a:spLocks noGrp="1"/>
          </p:cNvSpPr>
          <p:nvPr/>
        </p:nvSpPr>
        <p:spPr>
          <a:xfrm>
            <a:off x="6419850" y="4333875"/>
            <a:ext cx="4857750" cy="323850"/>
          </a:xfrm>
          <a:prstGeom prst="rect">
            <a:avLst/>
          </a:prstGeom>
          <a:solidFill>
            <a:srgbClr val="F5F5F3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5F6C5DA-9258-4ACD-8BC8-2E5E28C4666C}"/>
              </a:ext>
            </a:extLst>
          </p:cNvPr>
          <p:cNvSpPr>
            <a:spLocks noGrp="1"/>
          </p:cNvSpPr>
          <p:nvPr/>
        </p:nvSpPr>
        <p:spPr>
          <a:xfrm>
            <a:off x="6515100" y="43815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Raw 27-D nearest neighbors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A1B7DC5-2800-4ECB-8742-DEDA46931DF7}"/>
              </a:ext>
            </a:extLst>
          </p:cNvPr>
          <p:cNvSpPr>
            <a:spLocks noGrp="1"/>
          </p:cNvSpPr>
          <p:nvPr/>
        </p:nvSpPr>
        <p:spPr>
          <a:xfrm>
            <a:off x="8620125" y="438150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016E5C2-6C80-4108-9FC5-6BB14FCA7358}"/>
              </a:ext>
            </a:extLst>
          </p:cNvPr>
          <p:cNvSpPr>
            <a:spLocks noGrp="1"/>
          </p:cNvSpPr>
          <p:nvPr/>
        </p:nvSpPr>
        <p:spPr>
          <a:xfrm>
            <a:off x="10001250" y="43815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Not yet run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81D6A63-4256-4D8D-AA7E-D1BBC6CD50DD}"/>
              </a:ext>
            </a:extLst>
          </p:cNvPr>
          <p:cNvSpPr>
            <a:spLocks noGrp="1"/>
          </p:cNvSpPr>
          <p:nvPr/>
        </p:nvSpPr>
        <p:spPr>
          <a:xfrm>
            <a:off x="6515100" y="47529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Direct Ridge / MLP prediction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A1E67FC-C842-4FA1-AEA9-48330713472A}"/>
              </a:ext>
            </a:extLst>
          </p:cNvPr>
          <p:cNvSpPr>
            <a:spLocks noGrp="1"/>
          </p:cNvSpPr>
          <p:nvPr/>
        </p:nvSpPr>
        <p:spPr>
          <a:xfrm>
            <a:off x="8620125" y="4752975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5E5F0C1-76E9-4D9B-BD15-CF29C7537419}"/>
              </a:ext>
            </a:extLst>
          </p:cNvPr>
          <p:cNvSpPr>
            <a:spLocks noGrp="1"/>
          </p:cNvSpPr>
          <p:nvPr/>
        </p:nvSpPr>
        <p:spPr>
          <a:xfrm>
            <a:off x="10001250" y="4752975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Not yet run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680E118-7D66-45F3-9A4C-DDFC04AB5F4D}"/>
              </a:ext>
            </a:extLst>
          </p:cNvPr>
          <p:cNvSpPr>
            <a:spLocks noGrp="1"/>
          </p:cNvSpPr>
          <p:nvPr/>
        </p:nvSpPr>
        <p:spPr>
          <a:xfrm>
            <a:off x="6419850" y="5076825"/>
            <a:ext cx="4857750" cy="323850"/>
          </a:xfrm>
          <a:prstGeom prst="rect">
            <a:avLst/>
          </a:prstGeom>
          <a:solidFill>
            <a:srgbClr val="F5F5F3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500C5C2-FACF-4F7A-BF32-CC6491CBFB91}"/>
              </a:ext>
            </a:extLst>
          </p:cNvPr>
          <p:cNvSpPr>
            <a:spLocks noGrp="1"/>
          </p:cNvSpPr>
          <p:nvPr/>
        </p:nvSpPr>
        <p:spPr>
          <a:xfrm>
            <a:off x="6515100" y="51244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Leave-one-city-out transfer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F379C6F-7079-43B7-BA7B-28FCA540197E}"/>
              </a:ext>
            </a:extLst>
          </p:cNvPr>
          <p:cNvSpPr>
            <a:spLocks noGrp="1"/>
          </p:cNvSpPr>
          <p:nvPr/>
        </p:nvSpPr>
        <p:spPr>
          <a:xfrm>
            <a:off x="8620125" y="5124450"/>
            <a:ext cx="1381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—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49D9F69-AE96-450C-811A-B744268B42C6}"/>
              </a:ext>
            </a:extLst>
          </p:cNvPr>
          <p:cNvSpPr>
            <a:spLocks noGrp="1"/>
          </p:cNvSpPr>
          <p:nvPr/>
        </p:nvSpPr>
        <p:spPr>
          <a:xfrm>
            <a:off x="10001250" y="51244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0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Not yet run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374B27D-BDF0-4628-B364-D924D9C8BCB6}"/>
              </a:ext>
            </a:extLst>
          </p:cNvPr>
          <p:cNvSpPr>
            <a:spLocks noGrp="1"/>
          </p:cNvSpPr>
          <p:nvPr/>
        </p:nvSpPr>
        <p:spPr>
          <a:xfrm>
            <a:off x="523875" y="4524375"/>
            <a:ext cx="5334000" cy="1162050"/>
          </a:xfrm>
          <a:prstGeom prst="rect">
            <a:avLst/>
          </a:prstGeom>
          <a:solidFill>
            <a:srgbClr val="F5F5F3"/>
          </a:solidFill>
          <a:ln w="9525">
            <a:solidFill>
              <a:srgbClr val="D7D7D2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08E4E38-FB39-4389-A25B-6DD1DF1BF125}"/>
              </a:ext>
            </a:extLst>
          </p:cNvPr>
          <p:cNvSpPr>
            <a:spLocks noGrp="1"/>
          </p:cNvSpPr>
          <p:nvPr/>
        </p:nvSpPr>
        <p:spPr>
          <a:xfrm>
            <a:off x="742950" y="4695825"/>
            <a:ext cx="1571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30-epoch result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2BB91FC-4838-4EC2-AA63-3DF49B8339DD}"/>
              </a:ext>
            </a:extLst>
          </p:cNvPr>
          <p:cNvSpPr>
            <a:spLocks noGrp="1"/>
          </p:cNvSpPr>
          <p:nvPr/>
        </p:nvSpPr>
        <p:spPr>
          <a:xfrm>
            <a:off x="742950" y="50292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Train loss 0.229 → 0.153; validation loss 0.214 → 0.200; no NaN. Test: total 0.0799, representation 0.0886, prediction 0.0713.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E29FBFE-3C4A-4731-A8DF-2DCAABF4F7DF}"/>
              </a:ext>
            </a:extLst>
          </p:cNvPr>
          <p:cNvSpPr>
            <a:spLocks noGrp="1"/>
          </p:cNvSpPr>
          <p:nvPr/>
        </p:nvSpPr>
        <p:spPr>
          <a:xfrm>
            <a:off x="666750" y="5886450"/>
            <a:ext cx="1057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350" b="0" i="1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A stable optimization run is not yet evidence of useful city transfer.</a:t>
            </a:r>
          </a:p>
        </p:txBody>
      </p:sp>
    </p:spTree>
    <p:extLst>
      <p:ext uri="{BB962C8B-B14F-4D97-AF65-F5344CB8AC3E}">
        <p14:creationId xmlns:p14="http://schemas.microsoft.com/office/powerpoint/2010/main" val="1918673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FC98E367-5E1C-4B62-96A2-19B52368634B}"/>
              </a:ext>
            </a:extLst>
          </p:cNvPr>
          <p:cNvSpPr>
            <a:spLocks noGrp="1"/>
          </p:cNvSpPr>
          <p:nvPr/>
        </p:nvSpPr>
        <p:spPr>
          <a:xfrm>
            <a:off x="361950" y="285750"/>
            <a:ext cx="95250" cy="3333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D46010-62CF-4D20-BAD7-7921740B1D89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1104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What is established—and what must be completed next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E70F89-5C68-4738-924C-3C83937C06E1}"/>
              </a:ext>
            </a:extLst>
          </p:cNvPr>
          <p:cNvSpPr>
            <a:spLocks noGrp="1"/>
          </p:cNvSpPr>
          <p:nvPr/>
        </p:nvSpPr>
        <p:spPr>
          <a:xfrm>
            <a:off x="552450" y="685800"/>
            <a:ext cx="11001375" cy="19050"/>
          </a:xfrm>
          <a:prstGeom prst="rect">
            <a:avLst/>
          </a:prstGeom>
          <a:solidFill>
            <a:srgbClr val="E8C9CF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830728-365E-420D-A88D-E2FA5F65C266}"/>
              </a:ext>
            </a:extLst>
          </p:cNvPr>
          <p:cNvSpPr>
            <a:spLocks noGrp="1"/>
          </p:cNvSpPr>
          <p:nvPr/>
        </p:nvSpPr>
        <p:spPr>
          <a:xfrm>
            <a:off x="9525000" y="742950"/>
            <a:ext cx="20288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93F14C-DD06-4B54-976B-002F8E545B12}"/>
              </a:ext>
            </a:extLst>
          </p:cNvPr>
          <p:cNvSpPr>
            <a:spLocks noGrp="1"/>
          </p:cNvSpPr>
          <p:nvPr/>
        </p:nvSpPr>
        <p:spPr>
          <a:xfrm>
            <a:off x="3238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774AD7-0FB0-47FE-BE26-93401E6194AC}"/>
              </a:ext>
            </a:extLst>
          </p:cNvPr>
          <p:cNvSpPr>
            <a:spLocks noGrp="1"/>
          </p:cNvSpPr>
          <p:nvPr/>
        </p:nvSpPr>
        <p:spPr>
          <a:xfrm>
            <a:off x="419100" y="6448425"/>
            <a:ext cx="66675" cy="1047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EBD818-CA63-4CAD-9498-400567F1952B}"/>
              </a:ext>
            </a:extLst>
          </p:cNvPr>
          <p:cNvSpPr>
            <a:spLocks noGrp="1"/>
          </p:cNvSpPr>
          <p:nvPr/>
        </p:nvSpPr>
        <p:spPr>
          <a:xfrm>
            <a:off x="419100" y="6581775"/>
            <a:ext cx="66675" cy="857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388C04-854E-4A9E-893C-7E87573749B9}"/>
              </a:ext>
            </a:extLst>
          </p:cNvPr>
          <p:cNvSpPr>
            <a:spLocks noGrp="1"/>
          </p:cNvSpPr>
          <p:nvPr/>
        </p:nvSpPr>
        <p:spPr>
          <a:xfrm>
            <a:off x="514350" y="6448425"/>
            <a:ext cx="66675" cy="2190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998C3CC-9402-40E4-9AF0-70E457F6B887}"/>
              </a:ext>
            </a:extLst>
          </p:cNvPr>
          <p:cNvSpPr>
            <a:spLocks noGrp="1"/>
          </p:cNvSpPr>
          <p:nvPr/>
        </p:nvSpPr>
        <p:spPr>
          <a:xfrm>
            <a:off x="609600" y="6448425"/>
            <a:ext cx="142875" cy="6667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B3B9AB-80E6-415A-8664-B3EEAC114D72}"/>
              </a:ext>
            </a:extLst>
          </p:cNvPr>
          <p:cNvSpPr>
            <a:spLocks noGrp="1"/>
          </p:cNvSpPr>
          <p:nvPr/>
        </p:nvSpPr>
        <p:spPr>
          <a:xfrm>
            <a:off x="609600" y="6543675"/>
            <a:ext cx="66675" cy="123825"/>
          </a:xfrm>
          <a:prstGeom prst="rect">
            <a:avLst/>
          </a:prstGeom>
          <a:solidFill>
            <a:srgbClr val="A31F34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53C375-1B39-48CC-AB8E-4832090F4E39}"/>
              </a:ext>
            </a:extLst>
          </p:cNvPr>
          <p:cNvSpPr>
            <a:spLocks noGrp="1"/>
          </p:cNvSpPr>
          <p:nvPr/>
        </p:nvSpPr>
        <p:spPr>
          <a:xfrm>
            <a:off x="876300" y="64770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Massachusetts Institute of Technology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2B8581-16EA-4D93-9C0E-784793659B4B}"/>
              </a:ext>
            </a:extLst>
          </p:cNvPr>
          <p:cNvSpPr>
            <a:spLocks noGrp="1"/>
          </p:cNvSpPr>
          <p:nvPr/>
        </p:nvSpPr>
        <p:spPr>
          <a:xfrm>
            <a:off x="647700" y="1162050"/>
            <a:ext cx="5191125" cy="3762375"/>
          </a:xfrm>
          <a:prstGeom prst="rect">
            <a:avLst/>
          </a:prstGeom>
          <a:solidFill>
            <a:srgbClr val="EAF2F7"/>
          </a:solidFill>
          <a:ln w="9525">
            <a:solidFill>
              <a:srgbClr val="BED3E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8FB06-1313-4F4C-A537-73F1E35B5247}"/>
              </a:ext>
            </a:extLst>
          </p:cNvPr>
          <p:cNvSpPr>
            <a:spLocks noGrp="1"/>
          </p:cNvSpPr>
          <p:nvPr/>
        </p:nvSpPr>
        <p:spPr>
          <a:xfrm>
            <a:off x="904875" y="1409700"/>
            <a:ext cx="433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800" b="1" i="0">
                <a:solidFill>
                  <a:srgbClr val="2C6E9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C6E9B"/>
                </a:solidFill>
                <a:latin typeface="Times New Roman"/>
                <a:ea typeface="Times New Roman"/>
                <a:cs typeface="Times New Roman"/>
              </a:rPr>
              <a:t>Established in the current project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AF2871-B94B-43A4-9863-365510EA933C}"/>
              </a:ext>
            </a:extLst>
          </p:cNvPr>
          <p:cNvSpPr>
            <a:spLocks noGrp="1"/>
          </p:cNvSpPr>
          <p:nvPr/>
        </p:nvSpPr>
        <p:spPr>
          <a:xfrm>
            <a:off x="904875" y="200977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665D29C-60D0-4B6C-B59C-8D72DEC38418}"/>
              </a:ext>
            </a:extLst>
          </p:cNvPr>
          <p:cNvSpPr>
            <a:spLocks noGrp="1"/>
          </p:cNvSpPr>
          <p:nvPr/>
        </p:nvSpPr>
        <p:spPr>
          <a:xfrm>
            <a:off x="1114425" y="2009775"/>
            <a:ext cx="4171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A clear estimand for metro-opening responses at 500 m station grids.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07B6747-EAA4-4C9D-9FD0-B57110B17AD2}"/>
              </a:ext>
            </a:extLst>
          </p:cNvPr>
          <p:cNvSpPr>
            <a:spLocks noGrp="1"/>
          </p:cNvSpPr>
          <p:nvPr/>
        </p:nvSpPr>
        <p:spPr>
          <a:xfrm>
            <a:off x="904875" y="265747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8B79AC-919F-4E73-83EF-2EE196F8F5CF}"/>
              </a:ext>
            </a:extLst>
          </p:cNvPr>
          <p:cNvSpPr>
            <a:spLocks noGrp="1"/>
          </p:cNvSpPr>
          <p:nvPr/>
        </p:nvSpPr>
        <p:spPr>
          <a:xfrm>
            <a:off x="1114425" y="2657475"/>
            <a:ext cx="4171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A frozen 44-city treatment and donor universe with auditable routing.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3584563-C96E-4E43-8421-16101CCCC156}"/>
              </a:ext>
            </a:extLst>
          </p:cNvPr>
          <p:cNvSpPr>
            <a:spLocks noGrp="1"/>
          </p:cNvSpPr>
          <p:nvPr/>
        </p:nvSpPr>
        <p:spPr>
          <a:xfrm>
            <a:off x="904875" y="330517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71B1D84-213A-4360-B3EA-AD03C6C2BCBB}"/>
              </a:ext>
            </a:extLst>
          </p:cNvPr>
          <p:cNvSpPr>
            <a:spLocks noGrp="1"/>
          </p:cNvSpPr>
          <p:nvPr/>
        </p:nvSpPr>
        <p:spPr>
          <a:xfrm>
            <a:off x="1114425" y="3305175"/>
            <a:ext cx="4171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7,671 available response labels, of which 7,668 train the model.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E85241-B7F8-422D-AC97-E1F294154D37}"/>
              </a:ext>
            </a:extLst>
          </p:cNvPr>
          <p:cNvSpPr>
            <a:spLocks noGrp="1"/>
          </p:cNvSpPr>
          <p:nvPr/>
        </p:nvSpPr>
        <p:spPr>
          <a:xfrm>
            <a:off x="904875" y="395287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E59EBD-BF43-4259-8941-233A61E0FBCC}"/>
              </a:ext>
            </a:extLst>
          </p:cNvPr>
          <p:cNvSpPr>
            <a:spLocks noGrp="1"/>
          </p:cNvSpPr>
          <p:nvPr/>
        </p:nvSpPr>
        <p:spPr>
          <a:xfrm>
            <a:off x="1114425" y="3952875"/>
            <a:ext cx="4171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A stable 30-epoch representation run with complete model artifacts.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7841F3-0AA2-4B32-BDD2-32F97AB77EA7}"/>
              </a:ext>
            </a:extLst>
          </p:cNvPr>
          <p:cNvSpPr>
            <a:spLocks noGrp="1"/>
          </p:cNvSpPr>
          <p:nvPr/>
        </p:nvSpPr>
        <p:spPr>
          <a:xfrm>
            <a:off x="6286500" y="1162050"/>
            <a:ext cx="5286375" cy="3762375"/>
          </a:xfrm>
          <a:prstGeom prst="rect">
            <a:avLst/>
          </a:prstGeom>
          <a:solidFill>
            <a:srgbClr val="F6E9EC"/>
          </a:solidFill>
          <a:ln w="9525">
            <a:solidFill>
              <a:srgbClr val="D8A8B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A1E1B9-8CE6-47B5-8F8D-0EAC84396DCD}"/>
              </a:ext>
            </a:extLst>
          </p:cNvPr>
          <p:cNvSpPr>
            <a:spLocks noGrp="1"/>
          </p:cNvSpPr>
          <p:nvPr/>
        </p:nvSpPr>
        <p:spPr>
          <a:xfrm>
            <a:off x="6543675" y="1409700"/>
            <a:ext cx="433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8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Required before the main claim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378656-B26B-4F18-AAFA-25BE304823BF}"/>
              </a:ext>
            </a:extLst>
          </p:cNvPr>
          <p:cNvSpPr>
            <a:spLocks noGrp="1"/>
          </p:cNvSpPr>
          <p:nvPr/>
        </p:nvSpPr>
        <p:spPr>
          <a:xfrm>
            <a:off x="6543675" y="200977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3A3D67-7B0C-415B-BD55-C32AA823A68F}"/>
              </a:ext>
            </a:extLst>
          </p:cNvPr>
          <p:cNvSpPr>
            <a:spLocks noGrp="1"/>
          </p:cNvSpPr>
          <p:nvPr/>
        </p:nvSpPr>
        <p:spPr>
          <a:xfrm>
            <a:off x="6753225" y="2009775"/>
            <a:ext cx="42195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Finish counterfactual queues and publish a strict release.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93674A-8B50-4845-8253-DED634E17FFE}"/>
              </a:ext>
            </a:extLst>
          </p:cNvPr>
          <p:cNvSpPr>
            <a:spLocks noGrp="1"/>
          </p:cNvSpPr>
          <p:nvPr/>
        </p:nvSpPr>
        <p:spPr>
          <a:xfrm>
            <a:off x="6543675" y="256222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55AFE63-C5D9-4E34-90ED-2499F7A09F0A}"/>
              </a:ext>
            </a:extLst>
          </p:cNvPr>
          <p:cNvSpPr>
            <a:spLocks noGrp="1"/>
          </p:cNvSpPr>
          <p:nvPr/>
        </p:nvSpPr>
        <p:spPr>
          <a:xfrm>
            <a:off x="6753225" y="2562225"/>
            <a:ext cx="42195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Produce cohort event-study / parallel-trend and full pre-fit diagnostics.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DDD073-9937-42D5-8DDB-A0EA49913935}"/>
              </a:ext>
            </a:extLst>
          </p:cNvPr>
          <p:cNvSpPr>
            <a:spLocks noGrp="1"/>
          </p:cNvSpPr>
          <p:nvPr/>
        </p:nvSpPr>
        <p:spPr>
          <a:xfrm>
            <a:off x="6543675" y="311467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2FB9BE8-88A6-405D-8940-4DD22551DE54}"/>
              </a:ext>
            </a:extLst>
          </p:cNvPr>
          <p:cNvSpPr>
            <a:spLocks noGrp="1"/>
          </p:cNvSpPr>
          <p:nvPr/>
        </p:nvSpPr>
        <p:spPr>
          <a:xfrm>
            <a:off x="6753225" y="3114675"/>
            <a:ext cx="42195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Resolve housing coverage or keep housing outside comparative findings.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B77D40-3209-4345-8FB8-9E98CC6FCF71}"/>
              </a:ext>
            </a:extLst>
          </p:cNvPr>
          <p:cNvSpPr>
            <a:spLocks noGrp="1"/>
          </p:cNvSpPr>
          <p:nvPr/>
        </p:nvSpPr>
        <p:spPr>
          <a:xfrm>
            <a:off x="6543675" y="366712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6C1565C-045A-4FE2-BEBC-728C2FA87CAF}"/>
              </a:ext>
            </a:extLst>
          </p:cNvPr>
          <p:cNvSpPr>
            <a:spLocks noGrp="1"/>
          </p:cNvSpPr>
          <p:nvPr/>
        </p:nvSpPr>
        <p:spPr>
          <a:xfrm>
            <a:off x="6753225" y="3667125"/>
            <a:ext cx="42195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Run raw-feature and direct-prediction baselines.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B56144F-EC34-4C87-9510-786C64A96F33}"/>
              </a:ext>
            </a:extLst>
          </p:cNvPr>
          <p:cNvSpPr>
            <a:spLocks noGrp="1"/>
          </p:cNvSpPr>
          <p:nvPr/>
        </p:nvSpPr>
        <p:spPr>
          <a:xfrm>
            <a:off x="6543675" y="421957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DD2BB55-D770-4A04-B2F1-7DEB3BC0A154}"/>
              </a:ext>
            </a:extLst>
          </p:cNvPr>
          <p:cNvSpPr>
            <a:spLocks noGrp="1"/>
          </p:cNvSpPr>
          <p:nvPr/>
        </p:nvSpPr>
        <p:spPr>
          <a:xfrm>
            <a:off x="6753225" y="4219575"/>
            <a:ext cx="42195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Evaluate leave-one-city-out transfer with adequate test sample size.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1FDF7D5-24A8-403C-8BBB-8FEE2EBD13DA}"/>
              </a:ext>
            </a:extLst>
          </p:cNvPr>
          <p:cNvSpPr>
            <a:spLocks noGrp="1"/>
          </p:cNvSpPr>
          <p:nvPr/>
        </p:nvSpPr>
        <p:spPr>
          <a:xfrm>
            <a:off x="714375" y="5295900"/>
            <a:ext cx="161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5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Main takeaway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D67F611-40F1-4A15-9CFA-6F3401467DA8}"/>
              </a:ext>
            </a:extLst>
          </p:cNvPr>
          <p:cNvSpPr>
            <a:spLocks noGrp="1"/>
          </p:cNvSpPr>
          <p:nvPr/>
        </p:nvSpPr>
        <p:spPr>
          <a:xfrm>
            <a:off x="2333625" y="5219700"/>
            <a:ext cx="8858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4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242424"/>
                </a:solidFill>
                <a:latin typeface="Times New Roman"/>
                <a:ea typeface="Times New Roman"/>
                <a:cs typeface="Times New Roman"/>
              </a:rPr>
              <a:t>The project has built the causal-label-to-representation pipeline. The next scientific milestone is to prove that the labels are credible and that the learned geometry transfers beyond the cities used for training.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6E019A2-F42E-4381-97BA-5029BFBBD783}"/>
              </a:ext>
            </a:extLst>
          </p:cNvPr>
          <p:cNvSpPr>
            <a:spLocks noGrp="1"/>
          </p:cNvSpPr>
          <p:nvPr/>
        </p:nvSpPr>
        <p:spPr>
          <a:xfrm>
            <a:off x="714375" y="59626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7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A31F34"/>
                </a:solidFill>
                <a:latin typeface="Times New Roman"/>
                <a:ea typeface="Times New Roman"/>
                <a:cs typeface="Times New 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708795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1774</Words>
  <Application>Microsoft Office PowerPoint</Application>
  <DocSecurity>0</DocSecurity>
  <PresentationFormat>宽屏</PresentationFormat>
  <Paragraphs>290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思润 李</cp:lastModifiedBy>
  <cp:revision>1</cp:revision>
  <dcterms:created xsi:type="dcterms:W3CDTF">2026-08-03T11:25:54Z</dcterms:created>
  <dcterms:modified xsi:type="dcterms:W3CDTF">2026-08-03T14:23:48Z</dcterms:modified>
</cp:coreProperties>
</file>