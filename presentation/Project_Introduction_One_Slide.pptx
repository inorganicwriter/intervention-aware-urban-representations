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4"/>
  </p:notesMasterIdLst>
  <p:sldIdLst>
    <p:sldId id="256" r:id="rId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7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 am Sirun Li, and this project is supervised by my mentor, Yunhan Zheng. The project asks whether urban places can be represented by how they respond to a metro opening, rather than only by how they look before it. I first build pre-treatment inputs from five urban data sources. I then estimate causal response labels through matching, difference-in-differences, generalized synthetic control, and matrix completion. These labels supervise a one-hundred-and-twenty-eight-dimensional embedding. The latest thirty-epoch run is stable: training loss falls from 0.229 to 0.153, validation loss from 0.213 to 0.201, and total test loss is 0.0799. However, nearest-neighbor correlation at five is only 0.0004. The technical repair is therefore effective, while useful cross-city retrieval remains the next scientific test.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D:/User/Desktop/MIT_summer/docs/research/complete_project_pipeline.md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D:/User/Desktop/MIT_summer/data/causal/releases/demo2_20260802/manifest.json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D:/User/Desktop/MIT_summer/data/model_inputs/demo2_20260802/manifest.json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D:/User/Desktop/MIT_summer/outputs/representation/demo2_20260802/training_history.json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D:/User/Desktop/MIT_summer/outputs/representation/demo2_20260802/test_metrics.json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58E7F3C0-F0F8-4C82-ADBD-F03210FD2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623AEE41-B109-469C-A52C-20B11A086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AF400D3A-663D-42B3-8331-A69B4CC554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D1F019A6-0DDA-4454-8ECA-ED9ADFFE8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50BAD111-D516-45AD-BF06-003A4006476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22F46D99-BCA8-4A76-9935-0EEA0CA81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54ED38B5-7451-4CE9-A07E-CA792A2BE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0534AF5D-555C-4D94-A1BB-42DF9FCD79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C4E74B84-6655-4B30-82BF-A34EBA273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0375C83E-0578-4C70-835B-828BA41D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2654E42E-D63A-4E9A-93BD-5174D0C673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1EAA09F1-2156-4A6D-8464-738C02D3066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B0175DCB-F96C-4CA2-8004-FF2A597F8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04B45E30-E0F6-4D06-B89C-340737440D2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C047F865-B93D-42D7-9969-D508C10E4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87568B5C-45A3-4DD5-A327-53A5BFE97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9B5B1FDE-200D-4C6C-8879-022ECEE8A0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862AE2C3-6607-4308-8018-056946F42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DF2D9143-BEE5-4C38-8453-00BA7912BCD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243F59ED-7BF4-48F7-8262-2A49CD4C3C5C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764CA3FC-1AD5-4477-9C12-F81B4F689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6A7865D4-18F5-4DEB-9295-358E07796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1F1DF5C1-862A-4E62-976A-175579C773A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F0AC9734-284F-4C2A-8B1A-C7FC09D3429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A03617C6-2699-4A49-9E66-2168535DA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EB65F8AE-4F69-4522-BB4D-57065002AFC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9B1045A6-B590-4195-B092-D3C50919F6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2471AC4E-C8F0-4C9C-8C9B-80E41D2A2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163781C6-71AF-4C8F-A7E2-CD06E62EA07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4FF1BA71-4AC1-44F4-A9E7-355B5A7857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>
            <a:extLst>
              <a:ext uri="{FF2B5EF4-FFF2-40B4-BE49-F238E27FC236}">
                <a16:creationId xmlns:a16="http://schemas.microsoft.com/office/drawing/2014/main" id="{35A71F24-0132-441E-A48D-1C208BD4A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846" y="145073"/>
            <a:ext cx="8785200" cy="24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4500"/>
              <a:buFont typeface="Arial"/>
              <a:buNone/>
              <a:defRPr sz="4500" u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D7ADEC4B-0887-4FA6-847C-EA95021CD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2701530"/>
            <a:ext cx="8785200" cy="19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2A7F4E81-66AD-47F0-B0BB-D33C1E273B7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825AC0A1-464B-474D-B307-175F34B60DE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B39081E7-39F2-444C-9840-7182839513A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80E120AF-5D06-439B-8C89-7105D2C8F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45073"/>
            <a:ext cx="87783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>
            <a:extLst>
              <a:ext uri="{FF2B5EF4-FFF2-40B4-BE49-F238E27FC236}">
                <a16:creationId xmlns:a16="http://schemas.microsoft.com/office/drawing/2014/main" id="{8AA246B3-42A3-4C91-A64F-85F574395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567683"/>
            <a:ext cx="8778300" cy="40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1960E994-5FFF-4E74-A851-B30A7C12263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6003BCE-8F1F-487D-B673-3F9F54348F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9DE4B889-A3A0-4CD2-B0E4-C2FB8E4306E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35B6F153-EFAC-45A7-9861-24BB5101E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846" y="145076"/>
            <a:ext cx="87852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4500"/>
              <a:buFont typeface="Arial"/>
              <a:buNone/>
              <a:defRPr sz="45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9513ECE3-D09B-4CC9-B793-51011455E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846" y="3442098"/>
            <a:ext cx="8785200" cy="11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01771075-3DC4-4339-A2D3-03A76823DDC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33B62E10-57D7-4FA5-A0F1-405AEFE74F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60B3B4B7-A1F6-4AA9-9FAE-C62D185E183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>
            <a:extLst>
              <a:ext uri="{FF2B5EF4-FFF2-40B4-BE49-F238E27FC236}">
                <a16:creationId xmlns:a16="http://schemas.microsoft.com/office/drawing/2014/main" id="{5187760A-6CE9-412C-9756-8B88C5A9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45073"/>
            <a:ext cx="87783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>
            <a:extLst>
              <a:ext uri="{FF2B5EF4-FFF2-40B4-BE49-F238E27FC236}">
                <a16:creationId xmlns:a16="http://schemas.microsoft.com/office/drawing/2014/main" id="{1BE78250-36E9-4827-9E63-0985C8A56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558801"/>
            <a:ext cx="4332000" cy="4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7E9AEE6B-5CA7-48F5-9C6C-A5F27CA763C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29150" y="567683"/>
            <a:ext cx="4332000" cy="40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5B99D731-E8BB-4825-9034-2B69FB2F12A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68BCDA4D-2669-487F-B6BC-1730A6D91CC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609114BF-9001-4A0B-8572-06D12BF1099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>
            <a:extLst>
              <a:ext uri="{FF2B5EF4-FFF2-40B4-BE49-F238E27FC236}">
                <a16:creationId xmlns:a16="http://schemas.microsoft.com/office/drawing/2014/main" id="{A0751721-0322-466B-AEF1-5507C52A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46403"/>
            <a:ext cx="87783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>
            <a:extLst>
              <a:ext uri="{FF2B5EF4-FFF2-40B4-BE49-F238E27FC236}">
                <a16:creationId xmlns:a16="http://schemas.microsoft.com/office/drawing/2014/main" id="{BF8ECD98-8216-439B-A45E-E40772517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79" y="577604"/>
            <a:ext cx="4315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5" name="Google Shape;85;p18">
            <a:extLst>
              <a:ext uri="{FF2B5EF4-FFF2-40B4-BE49-F238E27FC236}">
                <a16:creationId xmlns:a16="http://schemas.microsoft.com/office/drawing/2014/main" id="{D2590251-C35F-44AA-8B85-5164D2F8616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82880" y="1219200"/>
            <a:ext cx="4315200" cy="3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1CC1C903-9F65-4AF1-9A74-BD2711A900D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49" y="577604"/>
            <a:ext cx="43320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7" name="Google Shape;87;p18">
            <a:extLst>
              <a:ext uri="{FF2B5EF4-FFF2-40B4-BE49-F238E27FC236}">
                <a16:creationId xmlns:a16="http://schemas.microsoft.com/office/drawing/2014/main" id="{37351790-E1DE-45AE-B4DE-5FEDFEB739FE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629150" y="1219200"/>
            <a:ext cx="4332000" cy="3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8">
            <a:extLst>
              <a:ext uri="{FF2B5EF4-FFF2-40B4-BE49-F238E27FC236}">
                <a16:creationId xmlns:a16="http://schemas.microsoft.com/office/drawing/2014/main" id="{6ED75D61-AFF3-4905-AE5B-F49C25A76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>
            <a:extLst>
              <a:ext uri="{FF2B5EF4-FFF2-40B4-BE49-F238E27FC236}">
                <a16:creationId xmlns:a16="http://schemas.microsoft.com/office/drawing/2014/main" id="{B87894EE-6FE8-49FB-B81C-9EB284519A0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0" name="Google Shape;90;p18">
            <a:extLst>
              <a:ext uri="{FF2B5EF4-FFF2-40B4-BE49-F238E27FC236}">
                <a16:creationId xmlns:a16="http://schemas.microsoft.com/office/drawing/2014/main" id="{D527DDAB-F183-4E37-95F7-B1F2B5D4AFF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>
            <a:extLst>
              <a:ext uri="{FF2B5EF4-FFF2-40B4-BE49-F238E27FC236}">
                <a16:creationId xmlns:a16="http://schemas.microsoft.com/office/drawing/2014/main" id="{AD1591D3-1191-4222-BD57-70E4D6C9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45073"/>
            <a:ext cx="87783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>
            <a:extLst>
              <a:ext uri="{FF2B5EF4-FFF2-40B4-BE49-F238E27FC236}">
                <a16:creationId xmlns:a16="http://schemas.microsoft.com/office/drawing/2014/main" id="{8DD6DB91-1161-4462-B4DD-9B98EA61F90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>
            <a:extLst>
              <a:ext uri="{FF2B5EF4-FFF2-40B4-BE49-F238E27FC236}">
                <a16:creationId xmlns:a16="http://schemas.microsoft.com/office/drawing/2014/main" id="{0693D3B4-F93E-4F46-AE74-6498412C5CD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5" name="Google Shape;95;p19">
            <a:extLst>
              <a:ext uri="{FF2B5EF4-FFF2-40B4-BE49-F238E27FC236}">
                <a16:creationId xmlns:a16="http://schemas.microsoft.com/office/drawing/2014/main" id="{04CFCEB6-0D26-487C-85D4-F12E1C80D0C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>
            <a:extLst>
              <a:ext uri="{FF2B5EF4-FFF2-40B4-BE49-F238E27FC236}">
                <a16:creationId xmlns:a16="http://schemas.microsoft.com/office/drawing/2014/main" id="{E6EF0439-5A6F-462F-A94A-52BF2388DF4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>
            <a:extLst>
              <a:ext uri="{FF2B5EF4-FFF2-40B4-BE49-F238E27FC236}">
                <a16:creationId xmlns:a16="http://schemas.microsoft.com/office/drawing/2014/main" id="{1CDBBC06-C67F-45CF-9754-2368D565BE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9" name="Google Shape;99;p20">
            <a:extLst>
              <a:ext uri="{FF2B5EF4-FFF2-40B4-BE49-F238E27FC236}">
                <a16:creationId xmlns:a16="http://schemas.microsoft.com/office/drawing/2014/main" id="{27AD6FD2-F0CC-47A1-AEAB-E2679074013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>
            <a:extLst>
              <a:ext uri="{FF2B5EF4-FFF2-40B4-BE49-F238E27FC236}">
                <a16:creationId xmlns:a16="http://schemas.microsoft.com/office/drawing/2014/main" id="{3539D69C-3A8C-4010-9C5A-F233A75C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847" y="145076"/>
            <a:ext cx="3403200" cy="13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2400"/>
              <a:buFont typeface="Arial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>
            <a:extLst>
              <a:ext uri="{FF2B5EF4-FFF2-40B4-BE49-F238E27FC236}">
                <a16:creationId xmlns:a16="http://schemas.microsoft.com/office/drawing/2014/main" id="{88EC348D-9479-445C-8F08-B00E220B5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0354" y="145076"/>
            <a:ext cx="5250900" cy="44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3" name="Google Shape;103;p21">
            <a:extLst>
              <a:ext uri="{FF2B5EF4-FFF2-40B4-BE49-F238E27FC236}">
                <a16:creationId xmlns:a16="http://schemas.microsoft.com/office/drawing/2014/main" id="{FDF6A9E6-7307-4E08-8AC3-616BB08859A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5847" y="1543050"/>
            <a:ext cx="3403200" cy="30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A7CAF70E-E408-40F6-B6B7-034819808AD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>
            <a:extLst>
              <a:ext uri="{FF2B5EF4-FFF2-40B4-BE49-F238E27FC236}">
                <a16:creationId xmlns:a16="http://schemas.microsoft.com/office/drawing/2014/main" id="{E3CE0C50-9853-4175-B8FE-2E20E1E8B9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AF619DFF-5919-4282-8F08-E4F89FC6D2B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>
            <a:extLst>
              <a:ext uri="{FF2B5EF4-FFF2-40B4-BE49-F238E27FC236}">
                <a16:creationId xmlns:a16="http://schemas.microsoft.com/office/drawing/2014/main" id="{589628E7-46B7-4D2C-A4CB-30993E359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847" y="145076"/>
            <a:ext cx="3403200" cy="13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2400"/>
              <a:buFont typeface="Arial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>
            <a:extLst>
              <a:ext uri="{FF2B5EF4-FFF2-40B4-BE49-F238E27FC236}">
                <a16:creationId xmlns:a16="http://schemas.microsoft.com/office/drawing/2014/main" id="{11AF9AB7-4A3B-4857-992B-BD3A625B7F83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710354" y="145074"/>
            <a:ext cx="5250900" cy="44577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>
            <a:extLst>
              <a:ext uri="{FF2B5EF4-FFF2-40B4-BE49-F238E27FC236}">
                <a16:creationId xmlns:a16="http://schemas.microsoft.com/office/drawing/2014/main" id="{ED3D0CEC-F452-4FA1-8C33-A24A1353A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847" y="1543052"/>
            <a:ext cx="3403200" cy="30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1" name="Google Shape;111;p22">
            <a:extLst>
              <a:ext uri="{FF2B5EF4-FFF2-40B4-BE49-F238E27FC236}">
                <a16:creationId xmlns:a16="http://schemas.microsoft.com/office/drawing/2014/main" id="{CFA881AB-1A96-4789-B348-6A75F07506C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>
            <a:extLst>
              <a:ext uri="{FF2B5EF4-FFF2-40B4-BE49-F238E27FC236}">
                <a16:creationId xmlns:a16="http://schemas.microsoft.com/office/drawing/2014/main" id="{04BC400C-2CA8-4F71-91BD-357926DA04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3" name="Google Shape;113;p22">
            <a:extLst>
              <a:ext uri="{FF2B5EF4-FFF2-40B4-BE49-F238E27FC236}">
                <a16:creationId xmlns:a16="http://schemas.microsoft.com/office/drawing/2014/main" id="{515B65DD-8CE9-452E-B52C-3E55AAD7986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>
            <a:extLst>
              <a:ext uri="{FF2B5EF4-FFF2-40B4-BE49-F238E27FC236}">
                <a16:creationId xmlns:a16="http://schemas.microsoft.com/office/drawing/2014/main" id="{4243285B-AEB7-4EFB-92BB-75D597697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45073"/>
            <a:ext cx="87783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>
            <a:extLst>
              <a:ext uri="{FF2B5EF4-FFF2-40B4-BE49-F238E27FC236}">
                <a16:creationId xmlns:a16="http://schemas.microsoft.com/office/drawing/2014/main" id="{A8C6D098-97EC-49FE-9E16-5DAEDC07C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2539620" y="-1788816"/>
            <a:ext cx="4065000" cy="87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3">
            <a:extLst>
              <a:ext uri="{FF2B5EF4-FFF2-40B4-BE49-F238E27FC236}">
                <a16:creationId xmlns:a16="http://schemas.microsoft.com/office/drawing/2014/main" id="{1F354487-2D50-4FFA-8B3D-CD190D44391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>
            <a:extLst>
              <a:ext uri="{FF2B5EF4-FFF2-40B4-BE49-F238E27FC236}">
                <a16:creationId xmlns:a16="http://schemas.microsoft.com/office/drawing/2014/main" id="{EA29C82E-B3EC-4BB0-97A9-F7F8E9E02AA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9" name="Google Shape;119;p23">
            <a:extLst>
              <a:ext uri="{FF2B5EF4-FFF2-40B4-BE49-F238E27FC236}">
                <a16:creationId xmlns:a16="http://schemas.microsoft.com/office/drawing/2014/main" id="{88D04D0F-E9A5-49C6-92D1-2C5E003A61E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>
            <a:extLst>
              <a:ext uri="{FF2B5EF4-FFF2-40B4-BE49-F238E27FC236}">
                <a16:creationId xmlns:a16="http://schemas.microsoft.com/office/drawing/2014/main" id="{96D56C5E-4DA7-40B4-B5DB-E96B7034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5795822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>
            <a:extLst>
              <a:ext uri="{FF2B5EF4-FFF2-40B4-BE49-F238E27FC236}">
                <a16:creationId xmlns:a16="http://schemas.microsoft.com/office/drawing/2014/main" id="{AAADE57A-94BE-49E8-9852-48C67C6E4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360170" y="-910707"/>
            <a:ext cx="4359000" cy="6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4">
            <a:extLst>
              <a:ext uri="{FF2B5EF4-FFF2-40B4-BE49-F238E27FC236}">
                <a16:creationId xmlns:a16="http://schemas.microsoft.com/office/drawing/2014/main" id="{6E70649D-BB8D-4A6A-9DEF-145918A9130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>
            <a:extLst>
              <a:ext uri="{FF2B5EF4-FFF2-40B4-BE49-F238E27FC236}">
                <a16:creationId xmlns:a16="http://schemas.microsoft.com/office/drawing/2014/main" id="{99720E11-B80F-4FC1-B8CC-4D94D80D2BA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25" name="Google Shape;125;p24">
            <a:extLst>
              <a:ext uri="{FF2B5EF4-FFF2-40B4-BE49-F238E27FC236}">
                <a16:creationId xmlns:a16="http://schemas.microsoft.com/office/drawing/2014/main" id="{9F0CB907-292E-4B43-A147-A674E171B80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>
            <a:extLst>
              <a:ext uri="{FF2B5EF4-FFF2-40B4-BE49-F238E27FC236}">
                <a16:creationId xmlns:a16="http://schemas.microsoft.com/office/drawing/2014/main" id="{2679F5A1-03CA-4B3B-9F4F-F4485DD05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5">
            <a:extLst>
              <a:ext uri="{FF2B5EF4-FFF2-40B4-BE49-F238E27FC236}">
                <a16:creationId xmlns:a16="http://schemas.microsoft.com/office/drawing/2014/main" id="{3DA4E502-871D-4CCB-8992-E6C4FDB7F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>
            <a:normAutofit/>
          </a:bodyPr>
          <a:lstStyle>
            <a:lvl1pPr marL="457200" indent="-36195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indent="-3429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2385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5">
            <a:extLst>
              <a:ext uri="{FF2B5EF4-FFF2-40B4-BE49-F238E27FC236}">
                <a16:creationId xmlns:a16="http://schemas.microsoft.com/office/drawing/2014/main" id="{5ECBD93D-8F0A-4F19-BEE5-892AD1D2BD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f0c80c659_20_0)">
  <p:cSld name="Generated (g3ef0c80c659_20_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>
            <a:extLst>
              <a:ext uri="{FF2B5EF4-FFF2-40B4-BE49-F238E27FC236}">
                <a16:creationId xmlns:a16="http://schemas.microsoft.com/office/drawing/2014/main" id="{07EBFA92-0B93-4FD9-94B1-668EEA619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7">
            <a:extLst>
              <a:ext uri="{FF2B5EF4-FFF2-40B4-BE49-F238E27FC236}">
                <a16:creationId xmlns:a16="http://schemas.microsoft.com/office/drawing/2014/main" id="{AC1CE08E-CA9B-4160-B452-73600A856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34" name="Google Shape;134;p27">
            <a:extLst>
              <a:ext uri="{FF2B5EF4-FFF2-40B4-BE49-F238E27FC236}">
                <a16:creationId xmlns:a16="http://schemas.microsoft.com/office/drawing/2014/main" id="{66A20431-F978-48F4-8EB1-1414947ED61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indent="-30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35" name="Google Shape;135;p27">
            <a:extLst>
              <a:ext uri="{FF2B5EF4-FFF2-40B4-BE49-F238E27FC236}">
                <a16:creationId xmlns:a16="http://schemas.microsoft.com/office/drawing/2014/main" id="{C981A92D-87B4-4A5A-86B1-E1FE92922D7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F9D1850D-5583-4BBB-A458-6F1B85A18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51EE7025-BEC4-4276-9BC2-3BBD8B826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73CF57ED-2244-4795-A394-A97C68CE59E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AB8532D3-F04E-4E7A-9B98-A9744CD71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45073"/>
            <a:ext cx="8778300" cy="10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2100"/>
              <a:buFont typeface="Arial"/>
              <a:buNone/>
              <a:defRPr sz="2100" b="0" i="0" u="sng" cap="none">
                <a:solidFill>
                  <a:srgbClr val="993333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2" name="Google Shape;52;p13">
            <a:extLst>
              <a:ext uri="{FF2B5EF4-FFF2-40B4-BE49-F238E27FC236}">
                <a16:creationId xmlns:a16="http://schemas.microsoft.com/office/drawing/2014/main" id="{C66C2E09-5158-438B-9E69-AE130D6B7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276171"/>
            <a:ext cx="8778300" cy="3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3" name="Google Shape;53;p13">
            <a:extLst>
              <a:ext uri="{FF2B5EF4-FFF2-40B4-BE49-F238E27FC236}">
                <a16:creationId xmlns:a16="http://schemas.microsoft.com/office/drawing/2014/main" id="{A13FEB5C-97FC-489E-9568-C6B318FB6EF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A6168732-FDEF-4DA5-832A-4F65DDDA544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7F8C364F-FDC7-4EFD-AD46-5B97252D5D2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pic>
        <p:nvPicPr>
          <p:cNvPr id="62" name="Google Shape;56;p13"/>
          <p:cNvPicPr>
            <a:picLocks noChangeAspect="1"/>
          </p:cNvPicPr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82880" y="4755732"/>
            <a:ext cx="2560320" cy="350728"/>
          </a:xfrm>
          <a:prstGeom prst="rect">
            <a:avLst/>
          </a:prstGeom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>
            <a:extLst>
              <a:ext uri="{FF2B5EF4-FFF2-40B4-BE49-F238E27FC236}">
                <a16:creationId xmlns:a16="http://schemas.microsoft.com/office/drawing/2014/main" id="{BDD22306-E2B3-4BC2-ABB6-335939B09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180975"/>
            <a:ext cx="7905750" cy="361950"/>
          </a:xfrm>
          <a:prstGeom prst="rect">
            <a:avLst/>
          </a:prstGeom>
        </p:spPr>
        <p:txBody>
          <a:bodyPr spcFirstLastPara="1" wrap="square" lIns="19050" tIns="0" rIns="19050" bIns="0" anchor="ctr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7F17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7F1727"/>
                </a:solidFill>
                <a:latin typeface="Times New Roman"/>
                <a:ea typeface="Times New Roman"/>
                <a:cs typeface="Times New Roman"/>
              </a:rPr>
              <a:t>Learning How Cities Respond</a:t>
            </a:r>
          </a:p>
        </p:txBody>
      </p:sp>
      <p:sp>
        <p:nvSpPr>
          <p:cNvPr id="142" name="Google Shape;142;p28">
            <a:extLst>
              <a:ext uri="{FF2B5EF4-FFF2-40B4-BE49-F238E27FC236}">
                <a16:creationId xmlns:a16="http://schemas.microsoft.com/office/drawing/2014/main" id="{66D50135-E499-40B4-878A-444AB59E9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0" y="523875"/>
            <a:ext cx="7810500" cy="238125"/>
          </a:xfrm>
          <a:prstGeom prst="rect">
            <a:avLst/>
          </a:prstGeom>
        </p:spPr>
        <p:txBody>
          <a:bodyPr spcFirstLastPara="1" wrap="square" lIns="19050" tIns="0" rIns="19050" bIns="0" anchor="ctr">
            <a:normAutofit fontScale="78068"/>
          </a:bodyPr>
          <a:lstStyle/>
          <a:p>
            <a:pPr marL="0" lvl="0" indent="0" algn="l">
              <a:spcBef>
                <a:spcPts val="800"/>
              </a:spcBef>
              <a:spcAft>
                <a:spcPts val="0"/>
              </a:spcAft>
              <a:buNone/>
              <a:defRPr sz="1275" b="1" i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Intervention-Conditioned Urban Representations from Causal Response Labels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ED0F08C5-961A-4D96-A12E-57925763D00D}"/>
              </a:ext>
            </a:extLst>
          </p:cNvPr>
          <p:cNvSpPr>
            <a:spLocks noGrp="1"/>
          </p:cNvSpPr>
          <p:nvPr/>
        </p:nvSpPr>
        <p:spPr>
          <a:xfrm>
            <a:off x="438150" y="200025"/>
            <a:ext cx="85725" cy="523875"/>
          </a:xfrm>
          <a:prstGeom prst="rect">
            <a:avLst/>
          </a:prstGeom>
          <a:solidFill>
            <a:srgbClr val="A31F34"/>
          </a:solidFill>
          <a:ln w="0">
            <a:solidFill>
              <a:srgbClr val="A31F34"/>
            </a:solidFill>
            <a:prstDash val="solid"/>
          </a:ln>
        </p:spPr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859E8CA9-E39D-4B3C-972D-CE99790F0A7F}"/>
              </a:ext>
            </a:extLst>
          </p:cNvPr>
          <p:cNvSpPr>
            <a:spLocks noGrp="1"/>
          </p:cNvSpPr>
          <p:nvPr/>
        </p:nvSpPr>
        <p:spPr>
          <a:xfrm>
            <a:off x="647700" y="790575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rPr>
              <a:t>Sirun Li  |  Mentor: Yunhan Zheng</a:t>
            </a:r>
          </a:p>
        </p:txBody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5208CC5C-B312-4A14-83CC-40FDE4EE27BF}"/>
              </a:ext>
            </a:extLst>
          </p:cNvPr>
          <p:cNvSpPr>
            <a:spLocks noGrp="1"/>
          </p:cNvSpPr>
          <p:nvPr/>
        </p:nvSpPr>
        <p:spPr>
          <a:xfrm>
            <a:off x="457200" y="1076325"/>
            <a:ext cx="8229600" cy="0"/>
          </a:xfrm>
          <a:prstGeom prst="line">
            <a:avLst/>
          </a:prstGeom>
          <a:noFill/>
          <a:ln w="19050">
            <a:solidFill>
              <a:srgbClr val="F6E9EC"/>
            </a:solidFill>
            <a:prstDash val="solid"/>
          </a:ln>
        </p:spPr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782DBAAC-AE6D-47BD-A327-5E2D6BA781EC}"/>
              </a:ext>
            </a:extLst>
          </p:cNvPr>
          <p:cNvSpPr>
            <a:spLocks noGrp="1"/>
          </p:cNvSpPr>
          <p:nvPr/>
        </p:nvSpPr>
        <p:spPr>
          <a:xfrm>
            <a:off x="495300" y="12096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1667"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7F17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7F1727"/>
                </a:solidFill>
                <a:latin typeface="Times New Roman"/>
                <a:ea typeface="Times New Roman"/>
                <a:cs typeface="Times New Roman"/>
              </a:rPr>
              <a:t>Research question</a:t>
            </a: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27098979-DF3E-448F-AEEC-0954AEDB7105}"/>
              </a:ext>
            </a:extLst>
          </p:cNvPr>
          <p:cNvSpPr>
            <a:spLocks noGrp="1"/>
          </p:cNvSpPr>
          <p:nvPr/>
        </p:nvSpPr>
        <p:spPr>
          <a:xfrm>
            <a:off x="495300" y="1476375"/>
            <a:ext cx="815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6955"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Can places be represented by how they respond to a metro opening—not only by how they look beforehand?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02EC75A7-8A70-47AB-9F59-54AA06CB6485}"/>
              </a:ext>
            </a:extLst>
          </p:cNvPr>
          <p:cNvSpPr>
            <a:spLocks noGrp="1"/>
          </p:cNvSpPr>
          <p:nvPr/>
        </p:nvSpPr>
        <p:spPr>
          <a:xfrm>
            <a:off x="495300" y="19526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F0AC6E23-94B4-47AC-B4DA-AC73B281C808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Estimate response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7429AA3E-5B5F-4A1C-BD5A-917D08F084FB}"/>
              </a:ext>
            </a:extLst>
          </p:cNvPr>
          <p:cNvSpPr>
            <a:spLocks noGrp="1"/>
          </p:cNvSpPr>
          <p:nvPr/>
        </p:nvSpPr>
        <p:spPr>
          <a:xfrm>
            <a:off x="838200" y="2200275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9206"/>
          </a:bodyPr>
          <a:lstStyle/>
          <a:p>
            <a:pPr algn="l">
              <a:lnSpc>
                <a:spcPct val="102000"/>
              </a:lnSpc>
              <a:buNone/>
              <a:defRPr sz="1050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rPr>
              <a:t>Build auditable causal labels for post-opening urban change.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63D93D1F-F081-44B7-850A-B1372CB84A9F}"/>
              </a:ext>
            </a:extLst>
          </p:cNvPr>
          <p:cNvSpPr>
            <a:spLocks noGrp="1"/>
          </p:cNvSpPr>
          <p:nvPr/>
        </p:nvSpPr>
        <p:spPr>
          <a:xfrm>
            <a:off x="3238500" y="19526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B5E71AAA-1E5A-403E-879F-6354288A50E5}"/>
              </a:ext>
            </a:extLst>
          </p:cNvPr>
          <p:cNvSpPr>
            <a:spLocks noGrp="1"/>
          </p:cNvSpPr>
          <p:nvPr/>
        </p:nvSpPr>
        <p:spPr>
          <a:xfrm>
            <a:off x="3581400" y="194310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Learn representation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D323B3DC-9DDE-4361-9F6C-10CCA89954AC}"/>
              </a:ext>
            </a:extLst>
          </p:cNvPr>
          <p:cNvSpPr>
            <a:spLocks noGrp="1"/>
          </p:cNvSpPr>
          <p:nvPr/>
        </p:nvSpPr>
        <p:spPr>
          <a:xfrm>
            <a:off x="3581400" y="2200275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9206"/>
          </a:bodyPr>
          <a:lstStyle/>
          <a:p>
            <a:pPr algn="l">
              <a:lnSpc>
                <a:spcPct val="102000"/>
              </a:lnSpc>
              <a:buNone/>
              <a:defRPr sz="1050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rPr>
              <a:t>Map pre-treatment features into a response-aligned embedding.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2F23A3CF-12A2-48EF-AC6D-A2DDF60327F3}"/>
              </a:ext>
            </a:extLst>
          </p:cNvPr>
          <p:cNvSpPr>
            <a:spLocks noGrp="1"/>
          </p:cNvSpPr>
          <p:nvPr/>
        </p:nvSpPr>
        <p:spPr>
          <a:xfrm>
            <a:off x="5981700" y="19526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0D7F5187-B84B-4DB3-88D4-145925A00BA5}"/>
              </a:ext>
            </a:extLst>
          </p:cNvPr>
          <p:cNvSpPr>
            <a:spLocks noGrp="1"/>
          </p:cNvSpPr>
          <p:nvPr/>
        </p:nvSpPr>
        <p:spPr>
          <a:xfrm>
            <a:off x="6324600" y="194310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Test transfer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9D55DF7D-1CF3-490F-9110-3BF647E0D35F}"/>
              </a:ext>
            </a:extLst>
          </p:cNvPr>
          <p:cNvSpPr>
            <a:spLocks noGrp="1"/>
          </p:cNvSpPr>
          <p:nvPr/>
        </p:nvSpPr>
        <p:spPr>
          <a:xfrm>
            <a:off x="6324600" y="2200275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9206"/>
          </a:bodyPr>
          <a:lstStyle/>
          <a:p>
            <a:pPr algn="l">
              <a:lnSpc>
                <a:spcPct val="102000"/>
              </a:lnSpc>
              <a:buNone/>
              <a:defRPr sz="1050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rPr>
              <a:t>Retrieve places with similar responses in cities held out from training.</a:t>
            </a: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9DE3E47-7A16-494E-B55C-92BE45BA27F3}"/>
              </a:ext>
            </a:extLst>
          </p:cNvPr>
          <p:cNvSpPr>
            <a:spLocks noGrp="1"/>
          </p:cNvSpPr>
          <p:nvPr/>
        </p:nvSpPr>
        <p:spPr>
          <a:xfrm>
            <a:off x="495300" y="261937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87500"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7F17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7F1727"/>
                </a:solidFill>
                <a:latin typeface="Times New Roman"/>
                <a:ea typeface="Times New Roman"/>
                <a:cs typeface="Times New Roman"/>
              </a:rPr>
              <a:t>Research workflow and progress</a:t>
            </a:r>
          </a:p>
        </p:txBody>
      </p:sp>
      <p:sp>
        <p:nvSpPr>
          <p:cNvPr id="158" name="箭头: 右 157">
            <a:extLst>
              <a:ext uri="{FF2B5EF4-FFF2-40B4-BE49-F238E27FC236}">
                <a16:creationId xmlns:a16="http://schemas.microsoft.com/office/drawing/2014/main" id="{14C087E0-8188-44A1-B4BB-E8639FF82700}"/>
              </a:ext>
            </a:extLst>
          </p:cNvPr>
          <p:cNvSpPr>
            <a:spLocks noGrp="1"/>
          </p:cNvSpPr>
          <p:nvPr/>
        </p:nvSpPr>
        <p:spPr>
          <a:xfrm>
            <a:off x="2352675" y="3238500"/>
            <a:ext cx="304800" cy="171450"/>
          </a:xfrm>
          <a:prstGeom prst="rightArrow">
            <a:avLst/>
          </a:prstGeom>
          <a:solidFill>
            <a:srgbClr val="F6E9EC"/>
          </a:solidFill>
          <a:ln w="0">
            <a:solidFill>
              <a:srgbClr val="F6E9EC"/>
            </a:solidFill>
            <a:prstDash val="solid"/>
          </a:ln>
        </p:spPr>
      </p:sp>
      <p:sp>
        <p:nvSpPr>
          <p:cNvPr id="159" name="箭头: 右 158">
            <a:extLst>
              <a:ext uri="{FF2B5EF4-FFF2-40B4-BE49-F238E27FC236}">
                <a16:creationId xmlns:a16="http://schemas.microsoft.com/office/drawing/2014/main" id="{D0188A54-709A-41D2-85ED-6CE91871EF8B}"/>
              </a:ext>
            </a:extLst>
          </p:cNvPr>
          <p:cNvSpPr>
            <a:spLocks noGrp="1"/>
          </p:cNvSpPr>
          <p:nvPr/>
        </p:nvSpPr>
        <p:spPr>
          <a:xfrm>
            <a:off x="4429125" y="3238500"/>
            <a:ext cx="304800" cy="171450"/>
          </a:xfrm>
          <a:prstGeom prst="rightArrow">
            <a:avLst/>
          </a:prstGeom>
          <a:solidFill>
            <a:srgbClr val="F6E9EC"/>
          </a:solidFill>
          <a:ln w="0">
            <a:solidFill>
              <a:srgbClr val="F6E9EC"/>
            </a:solidFill>
            <a:prstDash val="solid"/>
          </a:ln>
        </p:spPr>
      </p:sp>
      <p:sp>
        <p:nvSpPr>
          <p:cNvPr id="160" name="箭头: 右 159">
            <a:extLst>
              <a:ext uri="{FF2B5EF4-FFF2-40B4-BE49-F238E27FC236}">
                <a16:creationId xmlns:a16="http://schemas.microsoft.com/office/drawing/2014/main" id="{850F518B-0E0A-4734-896E-2FD28927F369}"/>
              </a:ext>
            </a:extLst>
          </p:cNvPr>
          <p:cNvSpPr>
            <a:spLocks noGrp="1"/>
          </p:cNvSpPr>
          <p:nvPr/>
        </p:nvSpPr>
        <p:spPr>
          <a:xfrm>
            <a:off x="6505575" y="3238500"/>
            <a:ext cx="304800" cy="171450"/>
          </a:xfrm>
          <a:prstGeom prst="rightArrow">
            <a:avLst/>
          </a:prstGeom>
          <a:solidFill>
            <a:srgbClr val="F6E9EC"/>
          </a:solidFill>
          <a:ln w="0">
            <a:solidFill>
              <a:srgbClr val="F6E9EC"/>
            </a:solidFill>
            <a:prstDash val="solid"/>
          </a:ln>
        </p:spPr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E035F14C-3375-4848-BDB7-A43E7F4C4085}"/>
              </a:ext>
            </a:extLst>
          </p:cNvPr>
          <p:cNvSpPr>
            <a:spLocks noGrp="1"/>
          </p:cNvSpPr>
          <p:nvPr/>
        </p:nvSpPr>
        <p:spPr>
          <a:xfrm>
            <a:off x="590550" y="2990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3AFF7B62-652C-41CD-83FE-8AE6042F9810}"/>
              </a:ext>
            </a:extLst>
          </p:cNvPr>
          <p:cNvSpPr>
            <a:spLocks noGrp="1"/>
          </p:cNvSpPr>
          <p:nvPr/>
        </p:nvSpPr>
        <p:spPr>
          <a:xfrm>
            <a:off x="933450" y="29718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 i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Pre-treatment data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84323C81-F0B8-4943-AA9D-F79D9DFA6C4C}"/>
              </a:ext>
            </a:extLst>
          </p:cNvPr>
          <p:cNvSpPr>
            <a:spLocks noGrp="1"/>
          </p:cNvSpPr>
          <p:nvPr/>
        </p:nvSpPr>
        <p:spPr>
          <a:xfrm>
            <a:off x="628650" y="3276600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89744"/>
          </a:bodyPr>
          <a:lstStyle/>
          <a:p>
            <a:pPr algn="ctr">
              <a:lnSpc>
                <a:spcPct val="100000"/>
              </a:lnSpc>
              <a:buNone/>
              <a:defRPr sz="975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rPr>
              <a:t>POI · population · VIIRS</a:t>
            </a:r>
          </a:p>
          <a:p>
            <a:pPr algn="ctr">
              <a:lnSpc>
                <a:spcPct val="100000"/>
              </a:lnSpc>
              <a:buNone/>
              <a:defRPr sz="975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rPr>
              <a:t>Sentinel-2 · housing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66C06E46-6493-467E-8A0A-596A892A245A}"/>
              </a:ext>
            </a:extLst>
          </p:cNvPr>
          <p:cNvSpPr>
            <a:spLocks noGrp="1"/>
          </p:cNvSpPr>
          <p:nvPr/>
        </p:nvSpPr>
        <p:spPr>
          <a:xfrm>
            <a:off x="628650" y="3600450"/>
            <a:ext cx="1657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0909"/>
          </a:bodyPr>
          <a:lstStyle/>
          <a:p>
            <a:pPr algn="ctr">
              <a:lnSpc>
                <a:spcPct val="100000"/>
              </a:lnSpc>
              <a:buNone/>
              <a:defRPr sz="825" b="1" i="0">
                <a:solidFill>
                  <a:srgbClr val="8A8A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8A8A8A"/>
                </a:solidFill>
                <a:latin typeface="Times New Roman"/>
                <a:ea typeface="Times New Roman"/>
                <a:cs typeface="Times New Roman"/>
              </a:rPr>
              <a:t>COMPLETED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937946EF-F73C-4143-BC4E-48537334C588}"/>
              </a:ext>
            </a:extLst>
          </p:cNvPr>
          <p:cNvSpPr>
            <a:spLocks noGrp="1"/>
          </p:cNvSpPr>
          <p:nvPr/>
        </p:nvSpPr>
        <p:spPr>
          <a:xfrm>
            <a:off x="2667000" y="2990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591B4B59-302D-44E9-92F2-AB5AAD34A7F3}"/>
              </a:ext>
            </a:extLst>
          </p:cNvPr>
          <p:cNvSpPr>
            <a:spLocks noGrp="1"/>
          </p:cNvSpPr>
          <p:nvPr/>
        </p:nvSpPr>
        <p:spPr>
          <a:xfrm>
            <a:off x="3009900" y="2971800"/>
            <a:ext cx="1419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 i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Causal response labels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E62B1C6F-E6FF-489F-A45F-C9AA1F705C47}"/>
              </a:ext>
            </a:extLst>
          </p:cNvPr>
          <p:cNvSpPr>
            <a:spLocks noGrp="1"/>
          </p:cNvSpPr>
          <p:nvPr/>
        </p:nvSpPr>
        <p:spPr>
          <a:xfrm>
            <a:off x="2705100" y="3276600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89744"/>
          </a:bodyPr>
          <a:lstStyle/>
          <a:p>
            <a:pPr algn="ctr">
              <a:lnSpc>
                <a:spcPct val="100000"/>
              </a:lnSpc>
              <a:buNone/>
              <a:defRPr sz="975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rPr>
              <a:t>Matching + DiD · GSC</a:t>
            </a:r>
          </a:p>
          <a:p>
            <a:pPr algn="ctr">
              <a:lnSpc>
                <a:spcPct val="100000"/>
              </a:lnSpc>
              <a:buNone/>
              <a:defRPr sz="975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rPr>
              <a:t>matrix completion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69437044-DB92-4843-8C59-E782FB031801}"/>
              </a:ext>
            </a:extLst>
          </p:cNvPr>
          <p:cNvSpPr>
            <a:spLocks noGrp="1"/>
          </p:cNvSpPr>
          <p:nvPr/>
        </p:nvSpPr>
        <p:spPr>
          <a:xfrm>
            <a:off x="2705100" y="3600450"/>
            <a:ext cx="1657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0909"/>
          </a:bodyPr>
          <a:lstStyle/>
          <a:p>
            <a:pPr algn="ctr">
              <a:lnSpc>
                <a:spcPct val="100000"/>
              </a:lnSpc>
              <a:buNone/>
              <a:defRPr sz="825" b="1" i="0">
                <a:solidFill>
                  <a:srgbClr val="8A8A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8A8A8A"/>
                </a:solidFill>
                <a:latin typeface="Times New Roman"/>
                <a:ea typeface="Times New Roman"/>
                <a:cs typeface="Times New Roman"/>
              </a:rPr>
              <a:t>STAGE RELEASE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490825F0-44C5-482A-8AE7-B6ADD758501E}"/>
              </a:ext>
            </a:extLst>
          </p:cNvPr>
          <p:cNvSpPr>
            <a:spLocks noGrp="1"/>
          </p:cNvSpPr>
          <p:nvPr/>
        </p:nvSpPr>
        <p:spPr>
          <a:xfrm>
            <a:off x="4743450" y="2990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A4238D7B-A780-4BBC-A528-9B26C4011510}"/>
              </a:ext>
            </a:extLst>
          </p:cNvPr>
          <p:cNvSpPr>
            <a:spLocks noGrp="1"/>
          </p:cNvSpPr>
          <p:nvPr/>
        </p:nvSpPr>
        <p:spPr>
          <a:xfrm>
            <a:off x="5086350" y="2971800"/>
            <a:ext cx="16159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 i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Representation training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0351BD63-99DE-4187-8A25-DB7C306D6FB0}"/>
              </a:ext>
            </a:extLst>
          </p:cNvPr>
          <p:cNvSpPr>
            <a:spLocks noGrp="1"/>
          </p:cNvSpPr>
          <p:nvPr/>
        </p:nvSpPr>
        <p:spPr>
          <a:xfrm>
            <a:off x="4781550" y="3276600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rPr>
              <a:t>27-d input → 128-d embedding</a:t>
            </a: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A9519E5C-4D85-49D7-888A-39D4476E56ED}"/>
              </a:ext>
            </a:extLst>
          </p:cNvPr>
          <p:cNvSpPr>
            <a:spLocks noGrp="1"/>
          </p:cNvSpPr>
          <p:nvPr/>
        </p:nvSpPr>
        <p:spPr>
          <a:xfrm>
            <a:off x="4781550" y="3600450"/>
            <a:ext cx="1657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0909"/>
          </a:bodyPr>
          <a:lstStyle/>
          <a:p>
            <a:pPr algn="ctr">
              <a:lnSpc>
                <a:spcPct val="100000"/>
              </a:lnSpc>
              <a:buNone/>
              <a:defRPr sz="825" b="1" i="0">
                <a:solidFill>
                  <a:srgbClr val="8A8A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8A8A8A"/>
                </a:solidFill>
                <a:latin typeface="Times New Roman"/>
                <a:ea typeface="Times New Roman"/>
                <a:cs typeface="Times New Roman"/>
              </a:rPr>
              <a:t>30 EPOCHS COMPLETE</a:t>
            </a: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F8DE349C-8A08-4FFA-A0C0-C89E37D9E283}"/>
              </a:ext>
            </a:extLst>
          </p:cNvPr>
          <p:cNvSpPr>
            <a:spLocks noGrp="1"/>
          </p:cNvSpPr>
          <p:nvPr/>
        </p:nvSpPr>
        <p:spPr>
          <a:xfrm>
            <a:off x="6819900" y="2990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6DF155BE-6FF4-4D0E-9230-0A391CC6C8DC}"/>
              </a:ext>
            </a:extLst>
          </p:cNvPr>
          <p:cNvSpPr>
            <a:spLocks noGrp="1"/>
          </p:cNvSpPr>
          <p:nvPr/>
        </p:nvSpPr>
        <p:spPr>
          <a:xfrm>
            <a:off x="7181850" y="2956309"/>
            <a:ext cx="14001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8072"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 i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Held-out-city retrieval</a:t>
            </a: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F376DA68-B69E-43FE-863E-FACA83C2C7C8}"/>
              </a:ext>
            </a:extLst>
          </p:cNvPr>
          <p:cNvSpPr>
            <a:spLocks noGrp="1"/>
          </p:cNvSpPr>
          <p:nvPr/>
        </p:nvSpPr>
        <p:spPr>
          <a:xfrm>
            <a:off x="6858000" y="3276600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F6368"/>
                </a:solidFill>
                <a:latin typeface="Times New Roman"/>
                <a:ea typeface="Times New Roman"/>
                <a:cs typeface="Times New Roman"/>
              </a:rPr>
              <a:t>Nearest-neighbor response test</a:t>
            </a:r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2B5399DA-3AA4-4F38-BC39-E9C29EFDB6A4}"/>
              </a:ext>
            </a:extLst>
          </p:cNvPr>
          <p:cNvSpPr>
            <a:spLocks noGrp="1"/>
          </p:cNvSpPr>
          <p:nvPr/>
        </p:nvSpPr>
        <p:spPr>
          <a:xfrm>
            <a:off x="6858000" y="3600450"/>
            <a:ext cx="1657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0909"/>
          </a:bodyPr>
          <a:lstStyle/>
          <a:p>
            <a:pPr algn="ctr">
              <a:lnSpc>
                <a:spcPct val="100000"/>
              </a:lnSpc>
              <a:buNone/>
              <a:defRPr sz="825" b="1" i="0">
                <a:solidFill>
                  <a:srgbClr val="7F17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7F1727"/>
                </a:solidFill>
                <a:latin typeface="Times New Roman"/>
                <a:ea typeface="Times New Roman"/>
                <a:cs typeface="Times New Roman"/>
              </a:rPr>
              <a:t>IN PROGRESS</a:t>
            </a: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84A43B8B-7D90-4A10-A5DE-E470D393665E}"/>
              </a:ext>
            </a:extLst>
          </p:cNvPr>
          <p:cNvSpPr>
            <a:spLocks noGrp="1"/>
          </p:cNvSpPr>
          <p:nvPr/>
        </p:nvSpPr>
        <p:spPr>
          <a:xfrm>
            <a:off x="495300" y="3905250"/>
            <a:ext cx="8153400" cy="657225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 w="11430">
            <a:solidFill>
              <a:srgbClr val="F6E9EC"/>
            </a:solidFill>
            <a:prstDash val="solid"/>
          </a:ln>
        </p:spPr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FE7D62FA-F2E8-46B2-BDE3-CAF889055681}"/>
              </a:ext>
            </a:extLst>
          </p:cNvPr>
          <p:cNvSpPr>
            <a:spLocks noGrp="1"/>
          </p:cNvSpPr>
          <p:nvPr/>
        </p:nvSpPr>
        <p:spPr>
          <a:xfrm>
            <a:off x="647700" y="40100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87719"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7F17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7F1727"/>
                </a:solidFill>
                <a:latin typeface="Times New Roman"/>
                <a:ea typeface="Times New Roman"/>
                <a:cs typeface="Times New Roman"/>
              </a:rPr>
              <a:t>Current evidence</a:t>
            </a: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B1F3048F-7E4F-4CB6-822D-A9BE08A10998}"/>
              </a:ext>
            </a:extLst>
          </p:cNvPr>
          <p:cNvSpPr>
            <a:spLocks noGrp="1"/>
          </p:cNvSpPr>
          <p:nvPr/>
        </p:nvSpPr>
        <p:spPr>
          <a:xfrm>
            <a:off x="2076450" y="3971925"/>
            <a:ext cx="638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0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Stable optimization: train 0.229 → 0.153; validation 0.213 → 0.201; no NaN.</a:t>
            </a:r>
          </a:p>
          <a:p>
            <a:pPr algn="l">
              <a:lnSpc>
                <a:spcPct val="104000"/>
              </a:lnSpc>
              <a:buNone/>
              <a:defRPr sz="10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Test total loss 0.0799; nn_corr@5 = 0.0004.  Conclusion: the repair works, but cross-city retrieval remains unproven.</a:t>
            </a:r>
          </a:p>
        </p:txBody>
      </p:sp>
    </p:spTree>
    <p:extLst>
      <p:ext uri="{BB962C8B-B14F-4D97-AF65-F5344CB8AC3E}">
        <p14:creationId xmlns:p14="http://schemas.microsoft.com/office/powerpoint/2010/main" val="129651408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IT-Theme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F5F3E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Microsoft Office PowerPoint</Application>
  <DocSecurity>0</DocSecurity>
  <PresentationFormat>全屏显示(16:9)</PresentationFormat>
  <Paragraphs>45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Times New Roman</vt:lpstr>
      <vt:lpstr>Simple Light</vt:lpstr>
      <vt:lpstr>MIT-Theme</vt:lpstr>
      <vt:lpstr>Learning How Cities Respond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思润 李</cp:lastModifiedBy>
  <cp:revision>1</cp:revision>
  <dcterms:created xsi:type="dcterms:W3CDTF">2026-08-03T00:51:31Z</dcterms:created>
  <dcterms:modified xsi:type="dcterms:W3CDTF">2026-08-03T00:57:36Z</dcterms:modified>
</cp:coreProperties>
</file>