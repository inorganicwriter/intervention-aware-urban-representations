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ccc3fbdde64c5b" /><Relationship Type="http://schemas.openxmlformats.org/officeDocument/2006/relationships/extended-properties" Target="/docProps/app.xml" Id="R73ef7eeb0fd746b6" /><Relationship Type="http://schemas.openxmlformats.org/officeDocument/2006/relationships/officeDocument" Target="/ppt/presentation.xml" Id="R4f5e1c8009e34174" /></Relationships>
</file>

<file path=ppt/presentation.xml><?xml version="1.0" encoding="utf-8"?>
<p:presentation xmlns:p="http://schemas.openxmlformats.org/presentationml/2006/main">
  <p:sldMasterIdLst>
    <p:sldMasterId xmlns:r="http://schemas.openxmlformats.org/officeDocument/2006/relationships" id="2147483648" r:id="R5eb120676fcf42ee"/>
  </p:sldMasterIdLst>
  <p:notesMasterIdLst>
    <p:notesMasterId xmlns:r="http://schemas.openxmlformats.org/officeDocument/2006/relationships" r:id="R02c79619feaa422a"/>
  </p:notesMasterIdLst>
  <p:sldIdLst>
    <p:sldId xmlns:r="http://schemas.openxmlformats.org/officeDocument/2006/relationships" id="256" r:id="Rc388bd70195b42c0"/>
    <p:sldId xmlns:r="http://schemas.openxmlformats.org/officeDocument/2006/relationships" id="257" r:id="R13af6d27b0a64b3b"/>
    <p:sldId xmlns:r="http://schemas.openxmlformats.org/officeDocument/2006/relationships" id="258" r:id="R4df8e9e2e15449cd"/>
    <p:sldId xmlns:r="http://schemas.openxmlformats.org/officeDocument/2006/relationships" id="259" r:id="R1e9c9fbdc9604ea8"/>
    <p:sldId xmlns:r="http://schemas.openxmlformats.org/officeDocument/2006/relationships" id="260" r:id="Rfc7c0a29cc9b4c80"/>
    <p:sldId xmlns:r="http://schemas.openxmlformats.org/officeDocument/2006/relationships" id="261" r:id="Ra9656a350f02425b"/>
    <p:sldId xmlns:r="http://schemas.openxmlformats.org/officeDocument/2006/relationships" id="262" r:id="R12f5549f29724109"/>
    <p:sldId xmlns:r="http://schemas.openxmlformats.org/officeDocument/2006/relationships" id="263" r:id="R62e2c7b4c8ec4c93"/>
    <p:sldId xmlns:r="http://schemas.openxmlformats.org/officeDocument/2006/relationships" id="264" r:id="R571aa1050a6b48ed"/>
    <p:sldId xmlns:r="http://schemas.openxmlformats.org/officeDocument/2006/relationships" id="265" r:id="R5304a04815994f6f"/>
    <p:sldId xmlns:r="http://schemas.openxmlformats.org/officeDocument/2006/relationships" id="266" r:id="Ra3823a7736d74486"/>
    <p:sldId xmlns:r="http://schemas.openxmlformats.org/officeDocument/2006/relationships" id="267" r:id="R5cf6a32fac7144a5"/>
    <p:sldId xmlns:r="http://schemas.openxmlformats.org/officeDocument/2006/relationships" id="268" r:id="R663bc81e84db46d5"/>
    <p:sldId xmlns:r="http://schemas.openxmlformats.org/officeDocument/2006/relationships" id="269" r:id="Rf62b4620f8904037"/>
    <p:sldId xmlns:r="http://schemas.openxmlformats.org/officeDocument/2006/relationships" id="270" r:id="R78b7a5e4e09f4977"/>
    <p:sldId xmlns:r="http://schemas.openxmlformats.org/officeDocument/2006/relationships" id="271" r:id="R487c260057d94b56"/>
    <p:sldId xmlns:r="http://schemas.openxmlformats.org/officeDocument/2006/relationships" id="272" r:id="R15736017dcab4c11"/>
    <p:sldId xmlns:r="http://schemas.openxmlformats.org/officeDocument/2006/relationships" id="273" r:id="Rd922b31539d94cd0"/>
    <p:sldId xmlns:r="http://schemas.openxmlformats.org/officeDocument/2006/relationships" id="274" r:id="R5e935ccd44514364"/>
    <p:sldId xmlns:r="http://schemas.openxmlformats.org/officeDocument/2006/relationships" id="275" r:id="R04550d26564d46e4"/>
    <p:sldId xmlns:r="http://schemas.openxmlformats.org/officeDocument/2006/relationships" id="276" r:id="R783f632b836c4dea"/>
    <p:sldId xmlns:r="http://schemas.openxmlformats.org/officeDocument/2006/relationships" id="277" r:id="Ra09c9bdc78414952"/>
    <p:sldId xmlns:r="http://schemas.openxmlformats.org/officeDocument/2006/relationships" id="278" r:id="Rb4557ff98bc1485a"/>
    <p:sldId xmlns:r="http://schemas.openxmlformats.org/officeDocument/2006/relationships" id="279" r:id="R06452ed9e85f4769"/>
    <p:sldId xmlns:r="http://schemas.openxmlformats.org/officeDocument/2006/relationships" id="280" r:id="Rc6c35d63cfec42c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8d00714104d49e1" /><Relationship Type="http://schemas.openxmlformats.org/officeDocument/2006/relationships/slideMaster" Target="/ppt/slideMasters/slideMaster1.xml" Id="R5eb120676fcf42ee" /><Relationship Type="http://schemas.openxmlformats.org/officeDocument/2006/relationships/notesMaster" Target="/ppt/notesMasters/notesMaster1.xml" Id="R02c79619feaa422a" /><Relationship Type="http://schemas.openxmlformats.org/officeDocument/2006/relationships/presProps" Target="/ppt/presProps.xml" Id="Rcf5139a1573e4185" /><Relationship Type="http://schemas.openxmlformats.org/officeDocument/2006/relationships/viewProps" Target="/ppt/viewProps.xml" Id="R43ea6b339df14e4c" /><Relationship Type="http://schemas.openxmlformats.org/officeDocument/2006/relationships/tableStyles" Target="/ppt/tableStyles.xml" Id="R162dec71f4ed4384" /><Relationship Type="http://schemas.openxmlformats.org/officeDocument/2006/relationships/slide" Target="/ppt/slides/slide1.xml" Id="Rc388bd70195b42c0" /><Relationship Type="http://schemas.openxmlformats.org/officeDocument/2006/relationships/slide" Target="/ppt/slides/slide2.xml" Id="R13af6d27b0a64b3b" /><Relationship Type="http://schemas.openxmlformats.org/officeDocument/2006/relationships/slide" Target="/ppt/slides/slide3.xml" Id="R4df8e9e2e15449cd" /><Relationship Type="http://schemas.openxmlformats.org/officeDocument/2006/relationships/slide" Target="/ppt/slides/slide4.xml" Id="R1e9c9fbdc9604ea8" /><Relationship Type="http://schemas.openxmlformats.org/officeDocument/2006/relationships/slide" Target="/ppt/slides/slide5.xml" Id="Rfc7c0a29cc9b4c80" /><Relationship Type="http://schemas.openxmlformats.org/officeDocument/2006/relationships/slide" Target="/ppt/slides/slide6.xml" Id="Ra9656a350f02425b" /><Relationship Type="http://schemas.openxmlformats.org/officeDocument/2006/relationships/slide" Target="/ppt/slides/slide7.xml" Id="R12f5549f29724109" /><Relationship Type="http://schemas.openxmlformats.org/officeDocument/2006/relationships/slide" Target="/ppt/slides/slide8.xml" Id="R62e2c7b4c8ec4c93" /><Relationship Type="http://schemas.openxmlformats.org/officeDocument/2006/relationships/slide" Target="/ppt/slides/slide9.xml" Id="R571aa1050a6b48ed" /><Relationship Type="http://schemas.openxmlformats.org/officeDocument/2006/relationships/slide" Target="/ppt/slides/slide10.xml" Id="R5304a04815994f6f" /><Relationship Type="http://schemas.openxmlformats.org/officeDocument/2006/relationships/slide" Target="/ppt/slides/slide11.xml" Id="Ra3823a7736d74486" /><Relationship Type="http://schemas.openxmlformats.org/officeDocument/2006/relationships/slide" Target="/ppt/slides/slide12.xml" Id="R5cf6a32fac7144a5" /><Relationship Type="http://schemas.openxmlformats.org/officeDocument/2006/relationships/slide" Target="/ppt/slides/slide13.xml" Id="R663bc81e84db46d5" /><Relationship Type="http://schemas.openxmlformats.org/officeDocument/2006/relationships/slide" Target="/ppt/slides/slide14.xml" Id="Rf62b4620f8904037" /><Relationship Type="http://schemas.openxmlformats.org/officeDocument/2006/relationships/slide" Target="/ppt/slides/slide15.xml" Id="R78b7a5e4e09f4977" /><Relationship Type="http://schemas.openxmlformats.org/officeDocument/2006/relationships/slide" Target="/ppt/slides/slide16.xml" Id="R487c260057d94b56" /><Relationship Type="http://schemas.openxmlformats.org/officeDocument/2006/relationships/slide" Target="/ppt/slides/slide17.xml" Id="R15736017dcab4c11" /><Relationship Type="http://schemas.openxmlformats.org/officeDocument/2006/relationships/slide" Target="/ppt/slides/slide18.xml" Id="Rd922b31539d94cd0" /><Relationship Type="http://schemas.openxmlformats.org/officeDocument/2006/relationships/slide" Target="/ppt/slides/slide19.xml" Id="R5e935ccd44514364" /><Relationship Type="http://schemas.openxmlformats.org/officeDocument/2006/relationships/slide" Target="/ppt/slides/slide20.xml" Id="R04550d26564d46e4" /><Relationship Type="http://schemas.openxmlformats.org/officeDocument/2006/relationships/slide" Target="/ppt/slides/slide21.xml" Id="R783f632b836c4dea" /><Relationship Type="http://schemas.openxmlformats.org/officeDocument/2006/relationships/slide" Target="/ppt/slides/slide22.xml" Id="Ra09c9bdc78414952" /><Relationship Type="http://schemas.openxmlformats.org/officeDocument/2006/relationships/slide" Target="/ppt/slides/slide23.xml" Id="Rb4557ff98bc1485a" /><Relationship Type="http://schemas.openxmlformats.org/officeDocument/2006/relationships/slide" Target="/ppt/slides/slide24.xml" Id="R06452ed9e85f4769" /><Relationship Type="http://schemas.openxmlformats.org/officeDocument/2006/relationships/slide" Target="/ppt/slides/slide25.xml" Id="Rc6c35d63cfec42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438323b7c24a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eminar_2026072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e12010001f439b" /><Relationship Type="http://schemas.openxmlformats.org/officeDocument/2006/relationships/notesMaster" Target="/ppt/notesMasters/notesMaster1.xml" Id="Rf5bd44d43b434a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22386ec1c84675" /><Relationship Type="http://schemas.openxmlformats.org/officeDocument/2006/relationships/notesMaster" Target="/ppt/notesMasters/notesMaster1.xml" Id="R02de105351b44b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b2e4499df54e19" /><Relationship Type="http://schemas.openxmlformats.org/officeDocument/2006/relationships/notesMaster" Target="/ppt/notesMasters/notesMaster1.xml" Id="R944562a25c6e44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b3c950582a42cf" /><Relationship Type="http://schemas.openxmlformats.org/officeDocument/2006/relationships/notesMaster" Target="/ppt/notesMasters/notesMaster1.xml" Id="R892b631fe17a48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d29a5e454c4b2e" /><Relationship Type="http://schemas.openxmlformats.org/officeDocument/2006/relationships/notesMaster" Target="/ppt/notesMasters/notesMaster1.xml" Id="Rc8c2b5f6e3b04b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4a609f794e489e" /><Relationship Type="http://schemas.openxmlformats.org/officeDocument/2006/relationships/notesMaster" Target="/ppt/notesMasters/notesMaster1.xml" Id="R1a583034f0844c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da3c4f9f2c4852" /><Relationship Type="http://schemas.openxmlformats.org/officeDocument/2006/relationships/notesMaster" Target="/ppt/notesMasters/notesMaster1.xml" Id="Re83867eec91a47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55afe597be4353" /><Relationship Type="http://schemas.openxmlformats.org/officeDocument/2006/relationships/notesMaster" Target="/ppt/notesMasters/notesMaster1.xml" Id="R305da212ceec45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26e34f726b42ea" /><Relationship Type="http://schemas.openxmlformats.org/officeDocument/2006/relationships/notesMaster" Target="/ppt/notesMasters/notesMaster1.xml" Id="Reb20958e039b47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d01bcf6d864b88" /><Relationship Type="http://schemas.openxmlformats.org/officeDocument/2006/relationships/notesMaster" Target="/ppt/notesMasters/notesMaster1.xml" Id="R411f3cb716314e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c480da697b5492e" /><Relationship Type="http://schemas.openxmlformats.org/officeDocument/2006/relationships/notesMaster" Target="/ppt/notesMasters/notesMaster1.xml" Id="Rf1e42890b3524e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c04885568744c3" /><Relationship Type="http://schemas.openxmlformats.org/officeDocument/2006/relationships/notesMaster" Target="/ppt/notesMasters/notesMaster1.xml" Id="R6121a5a71e7848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e16f154617549b0" /><Relationship Type="http://schemas.openxmlformats.org/officeDocument/2006/relationships/notesMaster" Target="/ppt/notesMasters/notesMaster1.xml" Id="R7ef0e7f3460147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462dc55f1848d1" /><Relationship Type="http://schemas.openxmlformats.org/officeDocument/2006/relationships/notesMaster" Target="/ppt/notesMasters/notesMaster1.xml" Id="Rd5112b763ad44e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04e1765afd4d50" /><Relationship Type="http://schemas.openxmlformats.org/officeDocument/2006/relationships/notesMaster" Target="/ppt/notesMasters/notesMaster1.xml" Id="R4081d06b29ea40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7ff1dff0ef4fb2" /><Relationship Type="http://schemas.openxmlformats.org/officeDocument/2006/relationships/notesMaster" Target="/ppt/notesMasters/notesMaster1.xml" Id="Rbed6a5f5fd564a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5d5f4d428e4005" /><Relationship Type="http://schemas.openxmlformats.org/officeDocument/2006/relationships/notesMaster" Target="/ppt/notesMasters/notesMaster1.xml" Id="R33e2f49d375a47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edefd6d85ef4f25" /><Relationship Type="http://schemas.openxmlformats.org/officeDocument/2006/relationships/notesMaster" Target="/ppt/notesMasters/notesMaster1.xml" Id="Rd8b22c4c93c745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708b4b0534499d" /><Relationship Type="http://schemas.openxmlformats.org/officeDocument/2006/relationships/notesMaster" Target="/ppt/notesMasters/notesMaster1.xml" Id="R7dc46c924cf242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4b814069744f71" /><Relationship Type="http://schemas.openxmlformats.org/officeDocument/2006/relationships/notesMaster" Target="/ppt/notesMasters/notesMaster1.xml" Id="R09f8b3d352c641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e6251719c8349fd" /><Relationship Type="http://schemas.openxmlformats.org/officeDocument/2006/relationships/notesMaster" Target="/ppt/notesMasters/notesMaster1.xml" Id="R8987bab26c2e48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16c40a855c4f40" /><Relationship Type="http://schemas.openxmlformats.org/officeDocument/2006/relationships/notesMaster" Target="/ppt/notesMasters/notesMaster1.xml" Id="R98e31a01fe4b4b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a9c7f400f5a44e2" /><Relationship Type="http://schemas.openxmlformats.org/officeDocument/2006/relationships/notesMaster" Target="/ppt/notesMasters/notesMaster1.xml" Id="R7d3b8ba61f264eb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790c4a3150740c3" /><Relationship Type="http://schemas.openxmlformats.org/officeDocument/2006/relationships/notesMaster" Target="/ppt/notesMasters/notesMaster1.xml" Id="R9fd99db795004a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348738b6114ec0" /><Relationship Type="http://schemas.openxmlformats.org/officeDocument/2006/relationships/notesMaster" Target="/ppt/notesMasters/notesMaster1.xml" Id="R34af3396915a43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everyone. I'm Sirun Li from Peking University and My mentor is Professor Yunhan Zheng, this summer, We study how places respond to a new rail station, and use these responses to train the guide comparisons across cities by representations learning. Let me start with a familiar example.</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station opens near your home. Jobs become easier to reach, shops gain customers, and housing demand may change. These changes depend on local conditions. A city center and the city edge may respond differently. Our goal is to use earlier local information to find places with similar responses.</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Background mechanism diagrams: built-in GPT-image conceptual illustrations, not measured effects. Assets and exact prompts: seminar_materials/background_images/prompts_and_usage.md.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research areas inform this goal. Transport studies estimate infrastructure effects. Urban representation learning turns local information into numerical descriptions of places. Our project connects them: estimated response paths guide how we learn those descriptions.</a:t>
            </a:r>
          </a:p>
          <a:p xmlns:a="http://schemas.openxmlformats.org/drawingml/2006/main">
            <a:r>
              <a:t/>
            </a:r>
          </a:p>
          <a:p xmlns:a="http://schemas.openxmlformats.org/drawingml/2006/main">
            <a:r>
              <a:t>Sources and figure notes:</a:t>
            </a:r>
          </a:p>
          <a:p xmlns:a="http://schemas.openxmlformats.org/drawingml/2006/main">
            <a:r>
              <a:t>Mayer &amp; Trevien (2017); Gonzalez-Navarro &amp; Turner (2018); Diao et al. (2017); Bardaka et al. (2018); Imai et al. (2023); Xu (2017); Athey et al. (2021); Sun &amp; Abraham (2021); Roth (2022). Existing project bibliography.</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Sources and figure notes:</a:t>
            </a:r>
          </a:p>
          <a:p xmlns:a="http://schemas.openxmlformats.org/drawingml/2006/main">
            <a:r>
              <a:t>Wang et al. (2020), Urban2Vec; Li et al. (2023), RegionDCL; Wei et al. (2016), Transfer knowledge between cities; Tec et al. (2023), Weather2vec; Zeng et al. (2022), CauOD; Fang et al. (2025), CGNet-PIE. Existing project bibliography.</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Conceptual illustration generated with built-in GPT-image. Assets and prompts: seminar_materials/concept_figures_v8/. Concept curves do not report measured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connect them in two steps. The treated group contains areas near new stations; the control group supplies comparison areas. First, we estimate local response paths. Then these paths guide a model that summarizes earlier information. In a new city, it uses earlier information alone.</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Conceptual illustration generated with built-in GPT-image. Assets and prompts: seminar_materials/concept_figures_v8/. Concept curves do not report measured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these two steps, we combine station openings with housing, nighttime lights, shops, services, and population. The learning tests focus on lights and points of interest, or POI. All model inputs come from before opening.</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these data, we estimate what would happen without opening. We try Matching first, then Generalized Synthetic Control, or GSC, and Matrix Completion, or MC, to extend coverage. The first method that meets the checks supplies each area's training labels. Here is how Matching works.</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Routing illustration: generated with the built-in GPT-image tool; concept diagram, no empirical values. Asset: seminar_materials/gpt_image_flowcharts/intro_routing_gpt_icons_v3.png.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Matching pairs each treated area with a similar control area. In this sketch, their earlier trends are parallel, though their levels differ. The dashed line shows the treated group's path without opening. Its gap from the observed path is the estimated effect: the difference between the two groups' changes.</a:t>
            </a:r>
          </a:p>
          <a:p xmlns:a="http://schemas.openxmlformats.org/drawingml/2006/main">
            <a:r>
              <a:t/>
            </a:r>
          </a:p>
          <a:p xmlns:a="http://schemas.openxmlformats.org/drawingml/2006/main">
            <a:r>
              <a:t>Sources and figure notes:</a:t>
            </a:r>
          </a:p>
          <a:p xmlns:a="http://schemas.openxmlformats.org/drawingml/2006/main">
            <a:r>
              <a:t>Imai et al. (2023). Monthly baseline -18..-7, anticipation -6..-1; frozen project design.</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Conceptual illustration generated with built-in GPT-image. Assets and prompts: seminar_materials/concept_figures_v8/. Concept curves do not report measured estimates.</a:t>
            </a:r>
          </a:p>
          <a:p xmlns:a="http://schemas.openxmlformats.org/drawingml/2006/main">
            <a:r>
              <a:t/>
            </a:r>
          </a:p>
          <a:p xmlns:a="http://schemas.openxmlformats.org/drawingml/2006/main">
            <a:r>
              <a:t>Matching diagram revised with built-in GPT-image: seminar_materials/concept_figures_v9/matching_parallel_trends_v9.png. Parallel trends are illustrated with two flat pre-opening paths at different levels. The dashed no-opening path starts at the treated opening-time level. The effect compares observed treated and treated counterfactual paths. Conceptual, not measured data. Full prompts: seminar_materials/concept_figures_v9/prompts_and_usage.md.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Matching has too little support, GSC learns shared control group trends and fits the treated group's earlier pattern. MC fills missing no-opening outcomes using patterns across areas and time. Both estimate what would happen without opening.</a:t>
            </a:r>
          </a:p>
          <a:p xmlns:a="http://schemas.openxmlformats.org/drawingml/2006/main">
            <a:r>
              <a:t/>
            </a:r>
          </a:p>
          <a:p xmlns:a="http://schemas.openxmlformats.org/drawingml/2006/main">
            <a:r>
              <a:t>Sources and figure notes:</a:t>
            </a:r>
          </a:p>
          <a:p xmlns:a="http://schemas.openxmlformats.org/drawingml/2006/main">
            <a:r>
              <a:t>Xu (2017); Athey et al. (2021). Current project counterfactual models.</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Conceptual illustration generated with built-in GPT-image. Assets and prompts: seminar_materials/concept_figures_v8/. Concept curves do not report measured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 study serves two purposes. Before opening, it checks whether the treated group and control group follow similar trends. This helps assess the parallel trends assumption. After opening, it shows how the estimated effect changes over time. Let us first look at the pre-opening checks.</a:t>
            </a:r>
          </a:p>
          <a:p xmlns:a="http://schemas.openxmlformats.org/drawingml/2006/main">
            <a:r>
              <a:t/>
            </a:r>
          </a:p>
          <a:p xmlns:a="http://schemas.openxmlformats.org/drawingml/2006/main">
            <a:r>
              <a:t>Sources and figure notes:</a:t>
            </a:r>
          </a:p>
          <a:p xmlns:a="http://schemas.openxmlformats.org/drawingml/2006/main">
            <a:r>
              <a:t>Sun &amp; Abraham (2021); Goodman-Bacon (2021). Released pooled matching curves use TWFE; grid responses are separate labels.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pre-opening checks. Matching's city-level tests show little evidence of different earlier trends, though some outcomes are near the cutoff. For GSC and MC, we also examine earlier fit and supporting data. These checks help us judge how credible the later comparison is. We now turn to the estimated effects.</a:t>
            </a:r>
          </a:p>
          <a:p xmlns:a="http://schemas.openxmlformats.org/drawingml/2006/main">
            <a:r>
              <a:t/>
            </a:r>
          </a:p>
          <a:p xmlns:a="http://schemas.openxmlformats.org/drawingml/2006/main">
            <a:r>
              <a:t>Sources and figure notes:</a:t>
            </a:r>
          </a:p>
          <a:p xmlns:a="http://schemas.openxmlformats.org/drawingml/2006/main">
            <a:r>
              <a:t>outputs/event_study_final/pretrend_summary.csv. Same-city controls; city-clustered joint Wald for matching and city mean pre-gap for GSC/MC. MC housing/VIIRS: 4/2 cities.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result is nighttime lights. The horizontal axis shows months before and after opening. Zero on the vertical axis means no estimated effect. Focus on Matching on the left: after opening, the estimates move above zero and stay positive over the main follow-up period. The intervals at the main reported horizons also sit above zero. This is evidence of higher nighttime brightness in the matched areas. The other panels use different supported samples. For lights, MC covers very few cities, so Matching provides the clearest evidence here. We can now look at another measure of local activity.</a:t>
            </a:r>
          </a:p>
          <a:p xmlns:a="http://schemas.openxmlformats.org/drawingml/2006/main">
            <a:r>
              <a:t/>
            </a:r>
          </a:p>
          <a:p xmlns:a="http://schemas.openxmlformats.org/drawingml/2006/main">
            <a:r>
              <a:t>Sources and figure notes:</a:t>
            </a:r>
          </a:p>
          <a:p xmlns:a="http://schemas.openxmlformats.org/drawingml/2006/main">
            <a:r>
              <a:t>outputs/event_study_final/event_study_panel.csv. Frozen same-city VIIRS event-study estimates. Effects use the asinh scale. Different methods have different supported samples and axes.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 gives another view through recorded places such as shops and services. Here, time is measured in years. Matching shows positive effects after opening, with larger estimates at later horizons. The main intervals sit above zero. This suggests more recorded places in the treated group relative to its matched control group. POI count is a proxy for local activity. Coverage changes across years, and each method uses its own supported sample. These charts describe average dynamics. Separate area-level estimates provide the response paths for training. Those paths guide which places should be close in the learned representation.</a:t>
            </a:r>
          </a:p>
          <a:p xmlns:a="http://schemas.openxmlformats.org/drawingml/2006/main">
            <a:r>
              <a:t/>
            </a:r>
          </a:p>
          <a:p xmlns:a="http://schemas.openxmlformats.org/drawingml/2006/main">
            <a:r>
              <a:t>Sources and figure notes:</a:t>
            </a:r>
          </a:p>
          <a:p xmlns:a="http://schemas.openxmlformats.org/drawingml/2006/main">
            <a:r>
              <a:t>outputs/event_study_final/event_study_panel.csv. Frozen same-city POI count event-study estimates. Effects use log count; support changes across horizons.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compare places using these paths, we mainly compare how they rise and fall together. Two areas can have a similar pattern even when their response sizes differ. We therefore check size and direction separately. The label checks show a clearer similarity structure for lights. POI combines several outcomes, so its patterns are less consistent. This makes outcome-level evaluation useful when interpreting the learning results.</a:t>
            </a:r>
          </a:p>
          <a:p xmlns:a="http://schemas.openxmlformats.org/drawingml/2006/main">
            <a:r>
              <a:t/>
            </a:r>
          </a:p>
          <a:p xmlns:a="http://schemas.openxmlformats.org/drawingml/2006/main">
            <a:r>
              <a:t>Sources and figure notes:</a:t>
            </a:r>
          </a:p>
          <a:p xmlns:a="http://schemas.openxmlformats.org/drawingml/2006/main">
            <a:r>
              <a:t>Server-reported split-half similarity-matrix diagnostic: Spearman-Brown corrected consistency. Target structure, not a causal-validity test.</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Representation learning trains the model to turn earlier local information into a short numerical summary, called a learned representation, or embedding. Response paths guide the training. In a new city, the model uses earlier information alone. We train it with three related goals.</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learn this representation, the model has three jobs: bring places with similar responses closer, match their similarity scores, and predict response values. We then check whether the learned representation helps in new cities.</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 similar paths, prediction error, and the direction of change. For retrieval, we take the nearest places in the embedding and compare their response paths. Higher similarity means better neighbors. Prediction error measures how well we recover response values. Direction measures how often we get the sign right. Direct predictions use city cross-validation; learned representations use an earlier city split. Each comparison has its own baseline. We start with the original features.</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features carry a small signal. Read the three panels from left to right. On the left, areas that are close in their original features have more similar responses than random neighbors. In the middle, ridge, a simple linear prediction model, reduces error compared with using the training average. On the right, it also improves direction prediction. For POI, it gets direction right about five more times per hundred predictions than choosing the training set's most common direction. These tests keep entire cities out of model fitting. Together, they show that information available before opening carries some predictive signal across cities. This gives us a useful baseline for judging the added value of representation learning.</a:t>
            </a:r>
          </a:p>
          <a:p xmlns:a="http://schemas.openxmlformats.org/drawingml/2006/main">
            <a:r>
              <a:t/>
            </a:r>
          </a:p>
          <a:p xmlns:a="http://schemas.openxmlformats.org/drawingml/2006/main">
            <a:r>
              <a:t>Sources and figure notes:</a:t>
            </a:r>
          </a:p>
          <a:p xmlns:a="http://schemas.openxmlformats.org/drawingml/2006/main">
            <a:r>
              <a:t>seminar_materials/data/representation_city_controls.csv. User-reported 5-fold city CV server aggregates; direction percentage-point gains are ridge versus training majority sign. No fold-level CI reconstructed.</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compare learned representations with the original features. Taller bars mean that the nearest places have more similar response paths. We also include an appearance autoencoder, which learns to reconstruct the original features. It gives us a comparison with a model trained without response supervision. For lights, the supervised models have higher average scores than the original features. For POI, the original features and appearance baseline do better. The two response families therefore lead to different results. The error bars for supervised models show variation across training runs. They help us see how much the average score depends on training. The next plot makes the gains and their variation easier to compare.</a:t>
            </a:r>
          </a:p>
          <a:p xmlns:a="http://schemas.openxmlformats.org/drawingml/2006/main">
            <a:r>
              <a:t/>
            </a:r>
          </a:p>
          <a:p xmlns:a="http://schemas.openxmlformats.org/drawingml/2006/main">
            <a:r>
              <a:t>Sources and figure notes:</a:t>
            </a:r>
          </a:p>
          <a:p xmlns:a="http://schemas.openxmlformats.org/drawingml/2006/main">
            <a:r>
              <a:t>seminar_materials/data/representation_history.csv. Earlier city split. Supervised: mean and SD over three seeds; AE: reported range. Historical test pools VIIRS 205 / POI 220.</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zero is the original-feature baseline, and moving right means improvement. The model can keep examples from earlier training batches to provide more candidates for comparison. We compare training with and without those stored examples. For lights, removing them raises the average score, but the longer horizontal bar shows more variation across runs. For POI, both settings stay below the original-feature baseline on average. So average performance and stability both matter when choosing a training setting. These results point toward keeping the useful original feature structure while adding response information. That is the next test shown on the final slide.</a:t>
            </a:r>
          </a:p>
          <a:p xmlns:a="http://schemas.openxmlformats.org/drawingml/2006/main">
            <a:r>
              <a:t/>
            </a:r>
          </a:p>
          <a:p xmlns:a="http://schemas.openxmlformats.org/drawingml/2006/main">
            <a:r>
              <a:t>Sources and figure notes:</a:t>
            </a:r>
          </a:p>
          <a:p xmlns:a="http://schemas.openxmlformats.org/drawingml/2006/main">
            <a:r>
              <a:t>seminar_materials/data/representation_history.csv and intro_representation_gains.csv. Gains in correlation-score units, SD over three seeds. No city-level significance claim.</a:t>
            </a:r>
          </a:p>
          <a:p xmlns:a="http://schemas.openxmlformats.org/drawingml/2006/main">
            <a:r>
              <a:t/>
            </a:r>
          </a:p>
          <a:p xmlns:a="http://schemas.openxmlformats.org/drawingml/2006/main">
            <a:r>
              <a:t>Assets: seminar_materials/.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results connect causal evidence with representation learning. Matching shows positive effects on lights and local activity. Earlier information predicts a small part of the responses across cities. Learned representations have a higher mean retrieval score for lights, with variation across training runs. POI favors original features. Our next test combines original features with predicted responses. Validation cities choose the mix, and separate test cities measure the gain. The goal is to use response information while keeping useful local structure. Thank you.</a:t>
            </a:r>
          </a:p>
          <a:p xmlns:a="http://schemas.openxmlformats.org/drawingml/2006/main">
            <a:r>
              <a:t/>
            </a:r>
          </a:p>
          <a:p xmlns:a="http://schemas.openxmlformats.org/drawingml/2006/main">
            <a:r>
              <a:t>Sources and figure notes:</a:t>
            </a:r>
          </a:p>
          <a:p xmlns:a="http://schemas.openxmlformats.org/drawingml/2006/main">
            <a:r>
              <a:t>Current project_intro.tex and frozen project assets. Conceptual diagrams are illustrations.</a:t>
            </a:r>
          </a:p>
          <a:p xmlns:a="http://schemas.openxmlformats.org/drawingml/2006/main">
            <a:r>
              <a:t/>
            </a:r>
          </a:p>
          <a:p xmlns:a="http://schemas.openxmlformats.org/drawingml/2006/main">
            <a:r>
              <a:t>Assets: seminar_materials/.</a:t>
            </a:r>
          </a:p>
          <a:p xmlns:a="http://schemas.openxmlformats.org/drawingml/2006/main">
            <a:r>
              <a:t/>
            </a:r>
          </a:p>
          <a:p xmlns:a="http://schemas.openxmlformats.org/drawingml/2006/main">
            <a:r>
              <a:t>Conceptual illustration generated with built-in GPT-image. Assets and prompts: seminar_materials/concept_figures_v8/. Concept curves do not report measured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page for discussion after the 20-slide main presentation. Entries reproduced from outputs/presentations/project_intro.pdf, page 22. Full reference list also appears in the source LaTeX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page for discussion after the 20-slide main presentation. Entries reproduced from outputs/presentations/project_intro.pdf, page 23. Full reference list also appears in the source LaTeX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page for discussion after the 20-slide main presentation. Entries reproduced from outputs/presentations/project_intro.pdf, page 24. Full reference list also appears in the source LaTeX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page for discussion after the 20-slide main presentation. Entries reproduced from outputs/presentations/project_intro.pdf, page 25. Full reference list also appears in the source LaTeX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page for discussion after the 20-slide main presentation. Entries reproduced from outputs/presentations/project_intro.pdf, page 26. Full reference list also appears in the source LaTeX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f712583eda48d5" /><Relationship Type="http://schemas.openxmlformats.org/officeDocument/2006/relationships/image" Target="/ppt/media/image2.jpeg" Id="R9d7f44dc909144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74ceb5c8d343a1" /><Relationship Type="http://schemas.openxmlformats.org/officeDocument/2006/relationships/image" Target="/ppt/media/image.png" Id="Rd72e052a860c493c" /><Relationship Type="http://schemas.openxmlformats.org/officeDocument/2006/relationships/image" Target="/ppt/media/image2.png" Id="R325bc15313064b79" /><Relationship Type="http://schemas.openxmlformats.org/officeDocument/2006/relationships/image" Target="/ppt/media/image3.jpeg" Id="Rf2c742b61cbe47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5a84b415554f2f" /><Relationship Type="http://schemas.openxmlformats.org/officeDocument/2006/relationships/image" Target="/ppt/media/image3.png" Id="Rb0fa05547e4c4b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0b60cfb72f4f53" /><Relationship Type="http://schemas.openxmlformats.org/officeDocument/2006/relationships/image" Target="/ppt/media/image.png" Id="R5b896d2bf0a04176" /><Relationship Type="http://schemas.openxmlformats.org/officeDocument/2006/relationships/image" Target="/ppt/media/image2.png" Id="R509ae9d716f244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ded86df8614c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39d973fcf54c7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b4ae5ebae945a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bc98fe283ab4d4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8f5b14e257e4d1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37d37080888497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cfee28301d44b2e"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6f32ad5b9804654"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9779FA7-A710-452E-E2FE-F2543F1DAF4E}"/>
              </a:ext>
            </a:extLst>
          </p:cNvPr>
          <p:cNvSpPr>
            <a:spLocks xmlns:a="http://schemas.openxmlformats.org/drawingml/2006/main" noGrp="1"/>
          </p:cNvSpPr>
          <p:nvPr>
            <p:ph type="ctrTitle" idx="0"/>
          </p:nvPr>
        </p:nvSpPr>
        <p:spPr>
          <a:xfrm xmlns:a="http://schemas.openxmlformats.org/drawingml/2006/main">
            <a:off x="1143000" y="841772"/>
            <a:ext cx="6858000" cy="1790700"/>
          </a:xfrm>
        </p:spPr>
        <p:txBody>
          <a:bodyPr xmlns:a="http://schemas.openxmlformats.org/drawingml/2006/main" anchor="b"/>
          <a:lstStyle xmlns:a="http://schemas.openxmlformats.org/drawingml/2006/main">
            <a:lvl1pPr algn="ctr">
              <a:buNone/>
              <a:defRPr sz="4500"/>
            </a:lvl1pPr>
          </a:lstStyle>
          <a:p xmlns:a="http://schemas.openxmlformats.org/drawingml/2006/main">
            <a:r>
              <a:t>单击此处编辑母版标题样式</a:t>
            </a:r>
            <a:endParaRPr/>
          </a:p>
        </p:txBody>
      </p:sp>
      <p:sp>
        <p:nvSpPr>
          <p:cNvPr id="3" name="副标题 2">
            <a:extLst xmlns:a="http://schemas.openxmlformats.org/drawingml/2006/main">
              <a:ext uri="{FF2B5EF4-FFF2-40B4-BE49-F238E27FC236}">
                <a16:creationId xmlns:a16="http://schemas.microsoft.com/office/drawing/2014/main" id="{9B7951BB-9371-1EC2-6340-1E788C2EF43F}"/>
              </a:ext>
            </a:extLst>
          </p:cNvPr>
          <p:cNvSpPr>
            <a:spLocks xmlns:a="http://schemas.openxmlformats.org/drawingml/2006/main" noGrp="1"/>
          </p:cNvSpPr>
          <p:nvPr>
            <p:ph type="subTitle" idx="1"/>
          </p:nvPr>
        </p:nvSpPr>
        <p:spPr>
          <a:xfrm xmlns:a="http://schemas.openxmlformats.org/drawingml/2006/main">
            <a:off x="1143000" y="2701528"/>
            <a:ext cx="6858000" cy="1241822"/>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3AFA57B1-2FF8-3308-95F4-1E0F25E3CB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7B195234-974D-9D14-E435-71EFDB556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1D0540C6-4210-6369-DDAC-7203E76BF2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
        <p:nvSpPr>
          <p:cNvPr id="13" name="Freeform 3">
            <a:extLst xmlns:a="http://schemas.openxmlformats.org/drawingml/2006/main">
              <a:ext uri="{FF2B5EF4-FFF2-40B4-BE49-F238E27FC236}">
                <a16:creationId xmlns:a16="http://schemas.microsoft.com/office/drawing/2014/main" id="{446BFADD-2903-36A2-53D3-304CE035C23C}"/>
              </a:ext>
            </a:extLst>
          </p:cNvPr>
          <p:cNvSpPr>
            <a:spLocks xmlns:a="http://schemas.openxmlformats.org/drawingml/2006/main" noGrp="1"/>
          </p:cNvSpPr>
          <p:nvPr/>
        </p:nvSpPr>
        <p:spPr>
          <a:xfrm xmlns:a="http://schemas.openxmlformats.org/drawingml/2006/main">
            <a:off x="1" y="968913"/>
            <a:ext cx="9144000" cy="1937826"/>
          </a:xfrm>
          <a:custGeom xmlns:a="http://schemas.openxmlformats.org/drawingml/2006/main">
            <a:rect l="l" t="t" r="r" b="b"/>
            <a:pathLst>
              <a:path w="677548" h="143588">
                <a:moveTo>
                  <a:pt x="0" y="0"/>
                </a:moveTo>
                <a:lnTo>
                  <a:pt x="677548" y="0"/>
                </a:lnTo>
                <a:lnTo>
                  <a:pt x="677548" y="143588"/>
                </a:lnTo>
                <a:lnTo>
                  <a:pt x="0" y="143588"/>
                </a:lnTo>
                <a:close/>
              </a:path>
            </a:pathLst>
          </a:custGeom>
          <a:solidFill xmlns:a="http://schemas.openxmlformats.org/drawingml/2006/main">
            <a:srgbClr val="94070A"/>
          </a:solidFill>
        </p:spPr>
      </p:sp>
      <p:sp>
        <p:nvSpPr>
          <p:cNvPr id="15" name="Freeform 5">
            <a:extLst xmlns:a="http://schemas.openxmlformats.org/drawingml/2006/main">
              <a:ext uri="{FF2B5EF4-FFF2-40B4-BE49-F238E27FC236}">
                <a16:creationId xmlns:a16="http://schemas.microsoft.com/office/drawing/2014/main" id="{0F5E8540-9E20-D79A-7FA6-DCC020084CCD}"/>
              </a:ext>
            </a:extLst>
          </p:cNvPr>
          <p:cNvSpPr>
            <a:spLocks xmlns:a="http://schemas.openxmlformats.org/drawingml/2006/main" noGrp="1"/>
          </p:cNvSpPr>
          <p:nvPr/>
        </p:nvSpPr>
        <p:spPr>
          <a:xfrm xmlns:a="http://schemas.openxmlformats.org/drawingml/2006/main">
            <a:off x="0" y="968913"/>
            <a:ext cx="9144000" cy="1937826"/>
          </a:xfrm>
          <a:custGeom xmlns:a="http://schemas.openxmlformats.org/drawingml/2006/main">
            <a:rect l="l" t="t" r="r" b="b"/>
            <a:pathLst>
              <a:path w="18288000" h="3875652">
                <a:moveTo>
                  <a:pt x="0" y="0"/>
                </a:moveTo>
                <a:lnTo>
                  <a:pt x="18288000" y="0"/>
                </a:lnTo>
                <a:lnTo>
                  <a:pt x="18288000" y="3875652"/>
                </a:lnTo>
                <a:lnTo>
                  <a:pt x="0" y="3875652"/>
                </a:lnTo>
                <a:lnTo>
                  <a:pt x="0" y="0"/>
                </a:lnTo>
                <a:close/>
              </a:path>
            </a:pathLst>
          </a:custGeom>
          <a:blipFill xmlns:a="http://schemas.openxmlformats.org/drawingml/2006/main">
            <a:blip xmlns:r="http://schemas.openxmlformats.org/officeDocument/2006/relationships" r:embed="R9d7f44dc909144f4">
              <a:alphaModFix amt="49000"/>
            </a:blip>
            <a:stretch>
              <a:fillRect l="-37" t="0" r="-37" b="-165426"/>
            </a:stretch>
          </a:blipFill>
        </p:spPr>
      </p:sp>
    </p:spTree>
  </p:cSld>
</p:sldLayout>
</file>

<file path=ppt/slideLayouts/slideLayout2.xml><?xml version="1.0" encoding="utf-8"?>
<p:sldLayout xmlns:p="http://schemas.openxmlformats.org/presentationml/2006/main" type="title" preserve="1">
  <p:cSld name="1_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9779FA7-A710-452E-E2FE-F2543F1DAF4E}"/>
              </a:ext>
            </a:extLst>
          </p:cNvPr>
          <p:cNvSpPr>
            <a:spLocks xmlns:a="http://schemas.openxmlformats.org/drawingml/2006/main" noGrp="1"/>
          </p:cNvSpPr>
          <p:nvPr>
            <p:ph type="ctrTitle" idx="0"/>
          </p:nvPr>
        </p:nvSpPr>
        <p:spPr>
          <a:xfrm xmlns:a="http://schemas.openxmlformats.org/drawingml/2006/main">
            <a:off x="1143000" y="841772"/>
            <a:ext cx="6858000" cy="1790700"/>
          </a:xfrm>
        </p:spPr>
        <p:txBody>
          <a:bodyPr xmlns:a="http://schemas.openxmlformats.org/drawingml/2006/main" anchor="b"/>
          <a:lstStyle xmlns:a="http://schemas.openxmlformats.org/drawingml/2006/main">
            <a:lvl1pPr algn="ctr">
              <a:buNone/>
              <a:defRPr sz="4500"/>
            </a:lvl1pPr>
          </a:lstStyle>
          <a:p xmlns:a="http://schemas.openxmlformats.org/drawingml/2006/main">
            <a:r>
              <a:t>单击此处编辑母版标题样式</a:t>
            </a:r>
            <a:endParaRPr/>
          </a:p>
        </p:txBody>
      </p:sp>
      <p:sp>
        <p:nvSpPr>
          <p:cNvPr id="3" name="副标题 2">
            <a:extLst xmlns:a="http://schemas.openxmlformats.org/drawingml/2006/main">
              <a:ext uri="{FF2B5EF4-FFF2-40B4-BE49-F238E27FC236}">
                <a16:creationId xmlns:a16="http://schemas.microsoft.com/office/drawing/2014/main" id="{9B7951BB-9371-1EC2-6340-1E788C2EF43F}"/>
              </a:ext>
            </a:extLst>
          </p:cNvPr>
          <p:cNvSpPr>
            <a:spLocks xmlns:a="http://schemas.openxmlformats.org/drawingml/2006/main" noGrp="1"/>
          </p:cNvSpPr>
          <p:nvPr>
            <p:ph type="subTitle" idx="1"/>
          </p:nvPr>
        </p:nvSpPr>
        <p:spPr>
          <a:xfrm xmlns:a="http://schemas.openxmlformats.org/drawingml/2006/main">
            <a:off x="1143000" y="2701528"/>
            <a:ext cx="6858000" cy="1241822"/>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3AFA57B1-2FF8-3308-95F4-1E0F25E3CB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7B195234-974D-9D14-E435-71EFDB556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1D0540C6-4210-6369-DDAC-7203E76BF2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
        <p:nvSpPr>
          <p:cNvPr id="13" name="Freeform 3">
            <a:extLst xmlns:a="http://schemas.openxmlformats.org/drawingml/2006/main">
              <a:ext uri="{FF2B5EF4-FFF2-40B4-BE49-F238E27FC236}">
                <a16:creationId xmlns:a16="http://schemas.microsoft.com/office/drawing/2014/main" id="{446BFADD-2903-36A2-53D3-304CE035C23C}"/>
              </a:ext>
            </a:extLst>
          </p:cNvPr>
          <p:cNvSpPr>
            <a:spLocks xmlns:a="http://schemas.openxmlformats.org/drawingml/2006/main" noGrp="1"/>
          </p:cNvSpPr>
          <p:nvPr/>
        </p:nvSpPr>
        <p:spPr>
          <a:xfrm xmlns:a="http://schemas.openxmlformats.org/drawingml/2006/main">
            <a:off x="1" y="968913"/>
            <a:ext cx="9144000" cy="1937826"/>
          </a:xfrm>
          <a:custGeom xmlns:a="http://schemas.openxmlformats.org/drawingml/2006/main">
            <a:rect l="l" t="t" r="r" b="b"/>
            <a:pathLst>
              <a:path w="677548" h="143588">
                <a:moveTo>
                  <a:pt x="0" y="0"/>
                </a:moveTo>
                <a:lnTo>
                  <a:pt x="677548" y="0"/>
                </a:lnTo>
                <a:lnTo>
                  <a:pt x="677548" y="143588"/>
                </a:lnTo>
                <a:lnTo>
                  <a:pt x="0" y="143588"/>
                </a:lnTo>
                <a:close/>
              </a:path>
            </a:pathLst>
          </a:custGeom>
          <a:solidFill xmlns:a="http://schemas.openxmlformats.org/drawingml/2006/main">
            <a:srgbClr val="9A3BFF"/>
          </a:solidFill>
        </p:spPr>
      </p:sp>
      <p:pic>
        <p:nvPicPr>
          <p:cNvPr id="23" name="图片 15"/>
          <p:cNvPicPr>
            <a:picLocks xmlns:a="http://schemas.openxmlformats.org/drawingml/2006/main" noChangeAspect="1"/>
          </p:cNvPicPr>
          <p:nvPr/>
        </p:nvPicPr>
        <p:blipFill>
          <a:blip xmlns:r="http://schemas.openxmlformats.org/officeDocument/2006/relationships" xmlns:a="http://schemas.openxmlformats.org/drawingml/2006/main" r:embed="Rd72e052a860c493c"/>
          <a:stretch xmlns:a="http://schemas.openxmlformats.org/drawingml/2006/main">
            <a:fillRect l="0" t="0" r="0" b="0"/>
          </a:stretch>
        </p:blipFill>
        <p:spPr>
          <a:xfrm xmlns:a="http://schemas.openxmlformats.org/drawingml/2006/main">
            <a:off x="7627850" y="116497"/>
            <a:ext cx="324866" cy="324050"/>
          </a:xfrm>
          <a:prstGeom xmlns:a="http://schemas.openxmlformats.org/drawingml/2006/main" prst="rect">
            <a:avLst/>
          </a:prstGeom>
        </p:spPr>
      </p:pic>
      <p:pic>
        <p:nvPicPr>
          <p:cNvPr id="24" name="图片 16"/>
          <p:cNvPicPr>
            <a:picLocks xmlns:a="http://schemas.openxmlformats.org/drawingml/2006/main" noChangeAspect="1"/>
          </p:cNvPicPr>
          <p:nvPr/>
        </p:nvPicPr>
        <p:blipFill>
          <a:blip xmlns:r="http://schemas.openxmlformats.org/officeDocument/2006/relationships" xmlns:a="http://schemas.openxmlformats.org/drawingml/2006/main" r:embed="R325bc15313064b79"/>
          <a:stretch xmlns:a="http://schemas.openxmlformats.org/drawingml/2006/main">
            <a:fillRect l="0" t="0" r="0" b="0"/>
          </a:stretch>
        </p:blipFill>
        <p:spPr>
          <a:xfrm xmlns:a="http://schemas.openxmlformats.org/drawingml/2006/main">
            <a:off x="7952716" y="56509"/>
            <a:ext cx="1135615" cy="434669"/>
          </a:xfrm>
          <a:prstGeom xmlns:a="http://schemas.openxmlformats.org/drawingml/2006/main" prst="rect">
            <a:avLst/>
          </a:prstGeom>
        </p:spPr>
      </p:pic>
      <p:pic>
        <p:nvPicPr>
          <p:cNvPr id="25" name="Picture 2"/>
          <p:cNvPicPr>
            <a:picLocks xmlns:a="http://schemas.openxmlformats.org/drawingml/2006/main" noChangeAspect="1"/>
          </p:cNvPicPr>
          <p:nvPr/>
        </p:nvPicPr>
        <p:blipFill rotWithShape="1">
          <a:blip xmlns:r="http://schemas.openxmlformats.org/officeDocument/2006/relationships" xmlns:a="http://schemas.openxmlformats.org/drawingml/2006/main" r:embed="Rf2c742b61cbe4762">
            <a:alphaModFix amt="35000"/>
          </a:blip>
          <a:srcRect xmlns:a="http://schemas.openxmlformats.org/drawingml/2006/main" l="0" t="0" r="0" b="32185"/>
          <a:stretch xmlns:a="http://schemas.openxmlformats.org/drawingml/2006/main"/>
        </p:blipFill>
        <p:spPr>
          <a:xfrm xmlns:a="http://schemas.openxmlformats.org/drawingml/2006/main">
            <a:off x="0" y="968913"/>
            <a:ext cx="9144000" cy="1937826"/>
          </a:xfrm>
          <a:prstGeom xmlns:a="http://schemas.openxmlformats.org/drawingml/2006/main" prst="rect">
            <a:avLst/>
          </a:prstGeom>
        </p:spPr>
      </p:pic>
    </p:spTree>
  </p:cSld>
</p:sldLayout>
</file>

<file path=ppt/slideLayouts/slideLayout3.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96A16FF-C5B7-4430-4EA8-C8BACD5A3A5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E3C36DB8-1EDB-67AA-0D0C-7A1D485C5CA9}"/>
              </a:ext>
            </a:extLst>
          </p:cNvPr>
          <p:cNvSpPr>
            <a:spLocks xmlns:a="http://schemas.openxmlformats.org/drawingml/2006/main" noGrp="1"/>
          </p:cNvSpPr>
          <p:nvPr>
            <p:ph idx="1"/>
          </p:nvPr>
        </p:nvSpPr>
        <p:spPr>
          <a:xfrm xmlns:a="http://schemas.openxmlformats.org/drawingml/2006/main">
            <a:off x="628650" y="970807"/>
            <a:ext cx="7886700" cy="4070300"/>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32ED6FFA-2A68-6C68-B71C-31312850EB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43508042-2A92-1DAC-0B74-29C7309213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4ED13A02-CB0C-F9DD-F18D-FB631035B8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pic>
        <p:nvPicPr>
          <p:cNvPr id="13" name="图片 9"/>
          <p:cNvPicPr>
            <a:picLocks xmlns:a="http://schemas.openxmlformats.org/drawingml/2006/main" noChangeAspect="1"/>
          </p:cNvPicPr>
          <p:nvPr/>
        </p:nvPicPr>
        <p:blipFill rotWithShape="1">
          <a:blip xmlns:r="http://schemas.openxmlformats.org/officeDocument/2006/relationships" xmlns:a="http://schemas.openxmlformats.org/drawingml/2006/main" r:embed="Rb0fa05547e4c4b0e">
            <a:duotone>
              <a:prstClr val="black"/>
              <a:srgbClr val="800000">
                <a:tint val="45000"/>
                <a:satMod val="400000"/>
              </a:srgbClr>
            </a:duotone>
          </a:blip>
          <a:srcRect xmlns:a="http://schemas.openxmlformats.org/drawingml/2006/main" l="50277" t="-1" r="2" b="31749"/>
          <a:stretch xmlns:a="http://schemas.openxmlformats.org/drawingml/2006/main"/>
        </p:blipFill>
        <p:spPr>
          <a:xfrm xmlns:a="http://schemas.openxmlformats.org/drawingml/2006/main">
            <a:off x="0" y="3107790"/>
            <a:ext cx="628650" cy="2035711"/>
          </a:xfrm>
          <a:prstGeom xmlns:a="http://schemas.openxmlformats.org/drawingml/2006/main" prst="rect">
            <a:avLst/>
          </a:prstGeom>
        </p:spPr>
      </p:pic>
    </p:spTree>
  </p:cSld>
</p:sldLayout>
</file>

<file path=ppt/slideLayouts/slideLayout4.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8EC3A6B-DA40-2F8C-E880-08DAE2E3A907}"/>
              </a:ext>
            </a:extLst>
          </p:cNvPr>
          <p:cNvSpPr>
            <a:spLocks xmlns:a="http://schemas.openxmlformats.org/drawingml/2006/main" noGrp="1"/>
          </p:cNvSpPr>
          <p:nvPr>
            <p:ph type="title" idx="0"/>
          </p:nvPr>
        </p:nvSpPr>
        <p:spPr>
          <a:xfrm xmlns:a="http://schemas.openxmlformats.org/drawingml/2006/main">
            <a:off x="623888" y="1282304"/>
            <a:ext cx="7886700" cy="2139553"/>
          </a:xfrm>
        </p:spPr>
        <p:txBody>
          <a:bodyPr xmlns:a="http://schemas.openxmlformats.org/drawingml/2006/main" anchor="b"/>
          <a:lstStyle xmlns:a="http://schemas.openxmlformats.org/drawingml/2006/main">
            <a:lvl1pPr>
              <a:buNone/>
              <a:defRPr sz="45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6E17C7B2-94EC-16C9-D5BB-ECE0B5EC9C82}"/>
              </a:ext>
            </a:extLst>
          </p:cNvPr>
          <p:cNvSpPr>
            <a:spLocks xmlns:a="http://schemas.openxmlformats.org/drawingml/2006/main" noGrp="1"/>
          </p:cNvSpPr>
          <p:nvPr>
            <p:ph type="body" idx="1"/>
          </p:nvPr>
        </p:nvSpPr>
        <p:spPr>
          <a:xfrm xmlns:a="http://schemas.openxmlformats.org/drawingml/2006/main">
            <a:off x="623888" y="3442098"/>
            <a:ext cx="7886700" cy="1125140"/>
          </a:xfrm>
        </p:spPr>
        <p:txBody>
          <a:bodyPr xmlns:a="http://schemas.openxmlformats.org/drawingml/2006/main"/>
          <a:lstStyle xmlns:a="http://schemas.openxmlformats.org/drawingml/2006/main">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D6FA3323-3ACB-CE05-EBCF-3DE303C20F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FB31141F-8C11-15BC-7CEC-16E2609E43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E5C28ACC-7E88-7DC7-2006-17ECF253BC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pic>
        <p:nvPicPr>
          <p:cNvPr id="14" name="图片 6"/>
          <p:cNvPicPr>
            <a:picLocks xmlns:a="http://schemas.openxmlformats.org/drawingml/2006/main" noChangeAspect="1"/>
          </p:cNvPicPr>
          <p:nvPr/>
        </p:nvPicPr>
        <p:blipFill>
          <a:blip xmlns:r="http://schemas.openxmlformats.org/officeDocument/2006/relationships" xmlns:a="http://schemas.openxmlformats.org/drawingml/2006/main" r:embed="R5b896d2bf0a04176"/>
          <a:stretch xmlns:a="http://schemas.openxmlformats.org/drawingml/2006/main">
            <a:fillRect l="0" t="0" r="0" b="0"/>
          </a:stretch>
        </p:blipFill>
        <p:spPr>
          <a:xfrm xmlns:a="http://schemas.openxmlformats.org/drawingml/2006/main">
            <a:off x="7627850" y="116497"/>
            <a:ext cx="324866" cy="324050"/>
          </a:xfrm>
          <a:prstGeom xmlns:a="http://schemas.openxmlformats.org/drawingml/2006/main" prst="rect">
            <a:avLst/>
          </a:prstGeom>
        </p:spPr>
      </p:pic>
      <p:pic>
        <p:nvPicPr>
          <p:cNvPr id="15" name="图片 7"/>
          <p:cNvPicPr>
            <a:picLocks xmlns:a="http://schemas.openxmlformats.org/drawingml/2006/main" noChangeAspect="1"/>
          </p:cNvPicPr>
          <p:nvPr/>
        </p:nvPicPr>
        <p:blipFill>
          <a:blip xmlns:r="http://schemas.openxmlformats.org/officeDocument/2006/relationships" xmlns:a="http://schemas.openxmlformats.org/drawingml/2006/main" r:embed="R509ae9d716f244a9"/>
          <a:stretch xmlns:a="http://schemas.openxmlformats.org/drawingml/2006/main">
            <a:fillRect l="0" t="0" r="0" b="0"/>
          </a:stretch>
        </p:blipFill>
        <p:spPr>
          <a:xfrm xmlns:a="http://schemas.openxmlformats.org/drawingml/2006/main">
            <a:off x="7952716" y="56509"/>
            <a:ext cx="1135615" cy="434669"/>
          </a:xfrm>
          <a:prstGeom xmlns:a="http://schemas.openxmlformats.org/drawingml/2006/main" prst="rect">
            <a:avLst/>
          </a:prstGeom>
        </p:spPr>
      </p:pic>
    </p:spTree>
  </p:cSld>
</p:sldLayout>
</file>

<file path=ppt/slideLayouts/slideLayout5.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577C1F5-7D60-8638-9C51-0283584ED0F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095DFE90-7BBD-3F61-BFE5-D167E6304139}"/>
              </a:ext>
            </a:extLst>
          </p:cNvPr>
          <p:cNvSpPr>
            <a:spLocks xmlns:a="http://schemas.openxmlformats.org/drawingml/2006/main" noGrp="1"/>
          </p:cNvSpPr>
          <p:nvPr>
            <p:ph idx="1"/>
          </p:nvPr>
        </p:nvSpPr>
        <p:spPr>
          <a:xfrm xmlns:a="http://schemas.openxmlformats.org/drawingml/2006/main">
            <a:off x="628650" y="1369219"/>
            <a:ext cx="3886200" cy="3263504"/>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内容占位符 3">
            <a:extLst xmlns:a="http://schemas.openxmlformats.org/drawingml/2006/main">
              <a:ext uri="{FF2B5EF4-FFF2-40B4-BE49-F238E27FC236}">
                <a16:creationId xmlns:a16="http://schemas.microsoft.com/office/drawing/2014/main" id="{E6D6C555-9EBF-1558-FF64-6911F7D060AE}"/>
              </a:ext>
            </a:extLst>
          </p:cNvPr>
          <p:cNvSpPr>
            <a:spLocks xmlns:a="http://schemas.openxmlformats.org/drawingml/2006/main" noGrp="1"/>
          </p:cNvSpPr>
          <p:nvPr>
            <p:ph idx="2"/>
          </p:nvPr>
        </p:nvSpPr>
        <p:spPr>
          <a:xfrm xmlns:a="http://schemas.openxmlformats.org/drawingml/2006/main">
            <a:off x="4629150" y="1369219"/>
            <a:ext cx="3886200" cy="3263504"/>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日期占位符 4">
            <a:extLst xmlns:a="http://schemas.openxmlformats.org/drawingml/2006/main">
              <a:ext uri="{FF2B5EF4-FFF2-40B4-BE49-F238E27FC236}">
                <a16:creationId xmlns:a16="http://schemas.microsoft.com/office/drawing/2014/main" id="{51990F76-7336-6AEA-6431-5549C80197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6" name="页脚占位符 5">
            <a:extLst xmlns:a="http://schemas.openxmlformats.org/drawingml/2006/main">
              <a:ext uri="{FF2B5EF4-FFF2-40B4-BE49-F238E27FC236}">
                <a16:creationId xmlns:a16="http://schemas.microsoft.com/office/drawing/2014/main" id="{29C2B52E-9041-7811-204C-124608FB76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E8E1FCEC-12EA-3945-4B72-CFECDEE8BF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6.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32B17EF-97E9-0581-54F1-4A3B911DD355}"/>
              </a:ext>
            </a:extLst>
          </p:cNvPr>
          <p:cNvSpPr>
            <a:spLocks xmlns:a="http://schemas.openxmlformats.org/drawingml/2006/main" noGrp="1"/>
          </p:cNvSpPr>
          <p:nvPr>
            <p:ph type="title" idx="0"/>
          </p:nvPr>
        </p:nvSpPr>
        <p:spPr>
          <a:xfrm xmlns:a="http://schemas.openxmlformats.org/drawingml/2006/main">
            <a:off x="629841" y="273844"/>
            <a:ext cx="7886700" cy="994172"/>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0BA0F844-CE97-F92D-9B57-B68A2DD5DA10}"/>
              </a:ext>
            </a:extLst>
          </p:cNvPr>
          <p:cNvSpPr>
            <a:spLocks xmlns:a="http://schemas.openxmlformats.org/drawingml/2006/main" noGrp="1"/>
          </p:cNvSpPr>
          <p:nvPr>
            <p:ph type="body" idx="1"/>
          </p:nvPr>
        </p:nvSpPr>
        <p:spPr>
          <a:xfrm xmlns:a="http://schemas.openxmlformats.org/drawingml/2006/main">
            <a:off x="629842" y="1260872"/>
            <a:ext cx="3868340"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8B7BBB69-62A8-17F0-12C1-F58B54771197}"/>
              </a:ext>
            </a:extLst>
          </p:cNvPr>
          <p:cNvSpPr>
            <a:spLocks xmlns:a="http://schemas.openxmlformats.org/drawingml/2006/main" noGrp="1"/>
          </p:cNvSpPr>
          <p:nvPr>
            <p:ph idx="2"/>
          </p:nvPr>
        </p:nvSpPr>
        <p:spPr>
          <a:xfrm xmlns:a="http://schemas.openxmlformats.org/drawingml/2006/main">
            <a:off x="629842" y="1878806"/>
            <a:ext cx="3868340" cy="2763441"/>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2579B12C-046F-3E1A-6E80-AFA239D02067}"/>
              </a:ext>
            </a:extLst>
          </p:cNvPr>
          <p:cNvSpPr>
            <a:spLocks xmlns:a="http://schemas.openxmlformats.org/drawingml/2006/main" noGrp="1"/>
          </p:cNvSpPr>
          <p:nvPr>
            <p:ph type="body" idx="3"/>
          </p:nvPr>
        </p:nvSpPr>
        <p:spPr>
          <a:xfrm xmlns:a="http://schemas.openxmlformats.org/drawingml/2006/main">
            <a:off x="4629150" y="1260872"/>
            <a:ext cx="3887391"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C7CCDF99-812D-73E3-5550-5E09F6404ACD}"/>
              </a:ext>
            </a:extLst>
          </p:cNvPr>
          <p:cNvSpPr>
            <a:spLocks xmlns:a="http://schemas.openxmlformats.org/drawingml/2006/main" noGrp="1"/>
          </p:cNvSpPr>
          <p:nvPr>
            <p:ph idx="4"/>
          </p:nvPr>
        </p:nvSpPr>
        <p:spPr>
          <a:xfrm xmlns:a="http://schemas.openxmlformats.org/drawingml/2006/main">
            <a:off x="4629150" y="1878806"/>
            <a:ext cx="3887391" cy="2763441"/>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2B4BD6C1-B336-E726-E1E8-477489059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8" name="页脚占位符 7">
            <a:extLst xmlns:a="http://schemas.openxmlformats.org/drawingml/2006/main">
              <a:ext uri="{FF2B5EF4-FFF2-40B4-BE49-F238E27FC236}">
                <a16:creationId xmlns:a16="http://schemas.microsoft.com/office/drawing/2014/main" id="{1CEFC2C4-5877-4926-0192-099F66B7BC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455FFE5A-A99C-0C08-E27E-873F3B2DB0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7.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A9548208-7540-D293-81FD-E4ED83354D2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AFEE9BDB-C64F-BB48-313F-471C271A2C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4" name="页脚占位符 3">
            <a:extLst xmlns:a="http://schemas.openxmlformats.org/drawingml/2006/main">
              <a:ext uri="{FF2B5EF4-FFF2-40B4-BE49-F238E27FC236}">
                <a16:creationId xmlns:a16="http://schemas.microsoft.com/office/drawing/2014/main" id="{719EBDE7-079A-DA54-3DD5-B5789907B0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84E47B96-0D16-883A-BA78-52763597CF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8.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B1CF2C12-C80D-72D6-BE02-757466CDA0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3" name="页脚占位符 2">
            <a:extLst xmlns:a="http://schemas.openxmlformats.org/drawingml/2006/main">
              <a:ext uri="{FF2B5EF4-FFF2-40B4-BE49-F238E27FC236}">
                <a16:creationId xmlns:a16="http://schemas.microsoft.com/office/drawing/2014/main" id="{CA677F67-3DFE-D97A-2C81-21AB623974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7D7039C1-45A4-4992-FB65-1AAC6E8B0A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9.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57959D4-19B9-410F-D14A-35671946D0AF}"/>
              </a:ext>
            </a:extLst>
          </p:cNvPr>
          <p:cNvSpPr>
            <a:spLocks xmlns:a="http://schemas.openxmlformats.org/drawingml/2006/main" noGrp="1"/>
          </p:cNvSpPr>
          <p:nvPr>
            <p:ph type="title" idx="0"/>
          </p:nvPr>
        </p:nvSpPr>
        <p:spPr>
          <a:xfrm xmlns:a="http://schemas.openxmlformats.org/drawingml/2006/main">
            <a:off x="629841" y="342900"/>
            <a:ext cx="2949178" cy="1200150"/>
          </a:xfrm>
        </p:spPr>
        <p:txBody>
          <a:bodyPr xmlns:a="http://schemas.openxmlformats.org/drawingml/2006/main" anchor="b"/>
          <a:lstStyle xmlns:a="http://schemas.openxmlformats.org/drawingml/2006/main">
            <a:lvl1pPr>
              <a:buNone/>
              <a:defRPr sz="24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62DC5B15-087F-F4A5-409D-8CDABE1B5CE3}"/>
              </a:ext>
            </a:extLst>
          </p:cNvPr>
          <p:cNvSpPr>
            <a:spLocks xmlns:a="http://schemas.openxmlformats.org/drawingml/2006/main" noGrp="1"/>
          </p:cNvSpPr>
          <p:nvPr>
            <p:ph idx="1"/>
          </p:nvPr>
        </p:nvSpPr>
        <p:spPr>
          <a:xfrm xmlns:a="http://schemas.openxmlformats.org/drawingml/2006/main">
            <a:off x="3887391" y="740569"/>
            <a:ext cx="4629150" cy="3655219"/>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9374AF74-CFF8-8290-A3FA-0A481F7DC7C2}"/>
              </a:ext>
            </a:extLst>
          </p:cNvPr>
          <p:cNvSpPr>
            <a:spLocks xmlns:a="http://schemas.openxmlformats.org/drawingml/2006/main" noGrp="1"/>
          </p:cNvSpPr>
          <p:nvPr>
            <p:ph type="body" idx="2"/>
          </p:nvPr>
        </p:nvSpPr>
        <p:spPr>
          <a:xfrm xmlns:a="http://schemas.openxmlformats.org/drawingml/2006/main">
            <a:off x="629841" y="1543050"/>
            <a:ext cx="2949178" cy="2858691"/>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B1CDEC5B-5A55-9049-83AE-37633CF0B9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6" name="页脚占位符 5">
            <a:extLst xmlns:a="http://schemas.openxmlformats.org/drawingml/2006/main">
              <a:ext uri="{FF2B5EF4-FFF2-40B4-BE49-F238E27FC236}">
                <a16:creationId xmlns:a16="http://schemas.microsoft.com/office/drawing/2014/main" id="{7EB86614-0B57-9B29-A651-63FDD7DA6E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0835EE07-CE6C-ADB9-6862-BB038AA6EC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10.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1AF651A-07FC-F761-811B-E423A532C4A3}"/>
              </a:ext>
            </a:extLst>
          </p:cNvPr>
          <p:cNvSpPr>
            <a:spLocks xmlns:a="http://schemas.openxmlformats.org/drawingml/2006/main" noGrp="1"/>
          </p:cNvSpPr>
          <p:nvPr>
            <p:ph type="title" idx="0"/>
          </p:nvPr>
        </p:nvSpPr>
        <p:spPr>
          <a:xfrm xmlns:a="http://schemas.openxmlformats.org/drawingml/2006/main">
            <a:off x="629841" y="342900"/>
            <a:ext cx="2949178" cy="1200150"/>
          </a:xfrm>
        </p:spPr>
        <p:txBody>
          <a:bodyPr xmlns:a="http://schemas.openxmlformats.org/drawingml/2006/main" anchor="b"/>
          <a:lstStyle xmlns:a="http://schemas.openxmlformats.org/drawingml/2006/main">
            <a:lvl1pPr>
              <a:buNone/>
              <a:defRPr sz="24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B74746C6-91F5-C0AC-2FC2-6AA9A0CEAC8C}"/>
              </a:ext>
            </a:extLst>
          </p:cNvPr>
          <p:cNvSpPr>
            <a:spLocks xmlns:a="http://schemas.openxmlformats.org/drawingml/2006/main" noGrp="1"/>
          </p:cNvSpPr>
          <p:nvPr>
            <p:ph type="pic" idx="1"/>
          </p:nvPr>
        </p:nvSpPr>
        <p:spPr>
          <a:xfrm xmlns:a="http://schemas.openxmlformats.org/drawingml/2006/main">
            <a:off x="3887391" y="740569"/>
            <a:ext cx="4629150" cy="3655219"/>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单击图标添加图片</a:t>
            </a:r>
          </a:p>
        </p:txBody>
      </p:sp>
      <p:sp>
        <p:nvSpPr>
          <p:cNvPr id="4" name="文本占位符 3">
            <a:extLst xmlns:a="http://schemas.openxmlformats.org/drawingml/2006/main">
              <a:ext uri="{FF2B5EF4-FFF2-40B4-BE49-F238E27FC236}">
                <a16:creationId xmlns:a16="http://schemas.microsoft.com/office/drawing/2014/main" id="{83537FE0-5265-1530-D387-AC28CC896532}"/>
              </a:ext>
            </a:extLst>
          </p:cNvPr>
          <p:cNvSpPr>
            <a:spLocks xmlns:a="http://schemas.openxmlformats.org/drawingml/2006/main" noGrp="1"/>
          </p:cNvSpPr>
          <p:nvPr>
            <p:ph type="body" idx="2"/>
          </p:nvPr>
        </p:nvSpPr>
        <p:spPr>
          <a:xfrm xmlns:a="http://schemas.openxmlformats.org/drawingml/2006/main">
            <a:off x="629841" y="1543050"/>
            <a:ext cx="2949178" cy="2858691"/>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29A6CB55-B064-085F-97C7-D9F2F84AC3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6" name="页脚占位符 5">
            <a:extLst xmlns:a="http://schemas.openxmlformats.org/drawingml/2006/main">
              <a:ext uri="{FF2B5EF4-FFF2-40B4-BE49-F238E27FC236}">
                <a16:creationId xmlns:a16="http://schemas.microsoft.com/office/drawing/2014/main" id="{AB0F4963-616D-4FB0-4B0A-2A324E48FB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42F2C31D-416A-2A33-7037-3338F77382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11.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1079A33-2FFF-AE16-CFD8-6906AFA54D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4A2709F9-99EC-960B-D15E-4A20E070EEF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13EE8F54-083D-B762-1C8B-662BDD1D8F2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BF4A41A4-9502-E346-C73A-FF298731C1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FA168F64-5A90-7CC6-F6C4-2F601849B1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Layouts/slideLayout12.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8E66DC80-5966-01DC-626E-A2E30BE2B360}"/>
              </a:ext>
            </a:extLst>
          </p:cNvPr>
          <p:cNvSpPr>
            <a:spLocks xmlns:a="http://schemas.openxmlformats.org/drawingml/2006/main" noGrp="1"/>
          </p:cNvSpPr>
          <p:nvPr>
            <p:ph type="title" idx="0"/>
          </p:nvPr>
        </p:nvSpPr>
        <p:spPr>
          <a:xfrm xmlns:a="http://schemas.openxmlformats.org/drawingml/2006/main">
            <a:off x="6543675" y="273844"/>
            <a:ext cx="1971675" cy="4358879"/>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016545DD-9FA1-43AF-75B1-F4C4B6B87057}"/>
              </a:ext>
            </a:extLst>
          </p:cNvPr>
          <p:cNvSpPr>
            <a:spLocks xmlns:a="http://schemas.openxmlformats.org/drawingml/2006/main" noGrp="1"/>
          </p:cNvSpPr>
          <p:nvPr>
            <p:ph type="body" idx="1"/>
          </p:nvPr>
        </p:nvSpPr>
        <p:spPr>
          <a:xfrm xmlns:a="http://schemas.openxmlformats.org/drawingml/2006/main">
            <a:off x="628650" y="273844"/>
            <a:ext cx="5800725" cy="4358879"/>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E2EE6826-CDCE-6CA1-0DBC-4943377631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740A0317-B7F6-220A-22B6-8F04A193C4C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908A5A60-809F-E8A4-C346-869EB7B446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5EF2332-01BF-834F-8236-50238282D53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0b5351174cf14a90" /><Relationship Type="http://schemas.openxmlformats.org/officeDocument/2006/relationships/theme" Target="/ppt/slideMasters/theme/theme2.xml" Id="R0a9c521e1060427b" /><Relationship Type="http://schemas.openxmlformats.org/officeDocument/2006/relationships/slideLayout" Target="/ppt/slideLayouts/slideLayout1.xml" Id="R86e21d2e8b134017" /><Relationship Type="http://schemas.openxmlformats.org/officeDocument/2006/relationships/slideLayout" Target="/ppt/slideLayouts/slideLayout2.xml" Id="R905bb0f14ad747bf" /><Relationship Type="http://schemas.openxmlformats.org/officeDocument/2006/relationships/slideLayout" Target="/ppt/slideLayouts/slideLayout3.xml" Id="Rc4bc73e4cc3a4693" /><Relationship Type="http://schemas.openxmlformats.org/officeDocument/2006/relationships/slideLayout" Target="/ppt/slideLayouts/slideLayout4.xml" Id="R3393abbec0b043db" /><Relationship Type="http://schemas.openxmlformats.org/officeDocument/2006/relationships/slideLayout" Target="/ppt/slideLayouts/slideLayout5.xml" Id="R2221b9e1b58f45ab" /><Relationship Type="http://schemas.openxmlformats.org/officeDocument/2006/relationships/slideLayout" Target="/ppt/slideLayouts/slideLayout6.xml" Id="R61340e7ea2394cf8" /><Relationship Type="http://schemas.openxmlformats.org/officeDocument/2006/relationships/slideLayout" Target="/ppt/slideLayouts/slideLayout7.xml" Id="R95c86694446048ca" /><Relationship Type="http://schemas.openxmlformats.org/officeDocument/2006/relationships/slideLayout" Target="/ppt/slideLayouts/slideLayout8.xml" Id="R8dd55ed68a924d8f" /><Relationship Type="http://schemas.openxmlformats.org/officeDocument/2006/relationships/slideLayout" Target="/ppt/slideLayouts/slideLayout9.xml" Id="R6dfbc7bf691947e5" /><Relationship Type="http://schemas.openxmlformats.org/officeDocument/2006/relationships/slideLayout" Target="/ppt/slideLayouts/slideLayout10.xml" Id="R969ef49a95d6461a" /><Relationship Type="http://schemas.openxmlformats.org/officeDocument/2006/relationships/slideLayout" Target="/ppt/slideLayouts/slideLayout11.xml" Id="Rab9a400480a44bc3" /><Relationship Type="http://schemas.openxmlformats.org/officeDocument/2006/relationships/slideLayout" Target="/ppt/slideLayouts/slideLayout12.xml" Id="Rd74f49c14e004c49"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0b5351174cf14a90">
            <a:lum/>
          </a:blip>
          <a:srcRect l="0" t="0" r="0" b="0"/>
          <a:stretch>
            <a:fillRect l="0" t="0" r="0" b="0"/>
          </a:stretch>
        </a:blipFill>
      </p:bgPr>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662F370D-F49A-722A-8257-4CE9F1B20BCC}"/>
              </a:ext>
            </a:extLst>
          </p:cNvPr>
          <p:cNvSpPr>
            <a:spLocks xmlns:a="http://schemas.openxmlformats.org/drawingml/2006/main" noGrp="1"/>
          </p:cNvSpPr>
          <p:nvPr>
            <p:ph type="title" idx="0"/>
          </p:nvPr>
        </p:nvSpPr>
        <p:spPr>
          <a:xfrm xmlns:a="http://schemas.openxmlformats.org/drawingml/2006/main">
            <a:off x="628650" y="273845"/>
            <a:ext cx="7886700" cy="6390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F3B3257-B89B-93C1-9E3E-1728EBEB4F9C}"/>
              </a:ext>
            </a:extLst>
          </p:cNvPr>
          <p:cNvSpPr>
            <a:spLocks xmlns:a="http://schemas.openxmlformats.org/drawingml/2006/main" noGrp="1"/>
          </p:cNvSpPr>
          <p:nvPr>
            <p:ph type="body" idx="1"/>
          </p:nvPr>
        </p:nvSpPr>
        <p:spPr>
          <a:xfrm xmlns:a="http://schemas.openxmlformats.org/drawingml/2006/main">
            <a:off x="628650" y="970807"/>
            <a:ext cx="7886700" cy="375408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48352D04-8577-6B71-E247-B9EC4F87B366}"/>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82000"/>
                  </a:schemeClr>
                </a:solidFill>
              </a:defRPr>
            </a:lvl1pPr>
          </a:lstStyle>
          <a:p xmlns:a="http://schemas.openxmlformats.org/drawingml/2006/main">
            <a:fld id="{241EB5C9-1307-BA42-ABA2-0BC069CD8E7F}" type="datetimeFigureOut">
              <a:t>10/5/2026</a:t>
            </a:fld>
            <a:endParaRPr/>
          </a:p>
        </p:txBody>
      </p:sp>
      <p:sp>
        <p:nvSpPr>
          <p:cNvPr id="5" name="页脚占位符 4">
            <a:extLst xmlns:a="http://schemas.openxmlformats.org/drawingml/2006/main">
              <a:ext uri="{FF2B5EF4-FFF2-40B4-BE49-F238E27FC236}">
                <a16:creationId xmlns:a16="http://schemas.microsoft.com/office/drawing/2014/main" id="{C77371F6-059E-40C2-47E0-D65D68C183A9}"/>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82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EA45B785-A0C6-CAA6-D859-23F54835F694}"/>
              </a:ext>
            </a:extLst>
          </p:cNvPr>
          <p:cNvSpPr>
            <a:spLocks xmlns:a="http://schemas.openxmlformats.org/drawingml/2006/main" noGrp="1"/>
          </p:cNvSpPr>
          <p:nvPr>
            <p:ph type="sldNum" idx="4"/>
          </p:nvPr>
        </p:nvSpPr>
        <p:spPr>
          <a:xfrm xmlns:a="http://schemas.openxmlformats.org/drawingml/2006/main">
            <a:off x="6992339" y="4767263"/>
            <a:ext cx="2057400" cy="27384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82000"/>
                  </a:schemeClr>
                </a:solidFill>
              </a:defRPr>
            </a:lvl1pPr>
          </a:lstStyle>
          <a:p xmlns:a="http://schemas.openxmlformats.org/drawingml/2006/main">
            <a:fld id="{C5EF2332-01BF-834F-8236-50238282D533}"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e21d2e8b134017"/>
    <p:sldLayoutId xmlns:r="http://schemas.openxmlformats.org/officeDocument/2006/relationships" id="2147483650" r:id="R905bb0f14ad747bf"/>
    <p:sldLayoutId xmlns:r="http://schemas.openxmlformats.org/officeDocument/2006/relationships" id="2147483651" r:id="Rc4bc73e4cc3a4693"/>
    <p:sldLayoutId xmlns:r="http://schemas.openxmlformats.org/officeDocument/2006/relationships" id="2147483652" r:id="R3393abbec0b043db"/>
    <p:sldLayoutId xmlns:r="http://schemas.openxmlformats.org/officeDocument/2006/relationships" id="2147483653" r:id="R2221b9e1b58f45ab"/>
    <p:sldLayoutId xmlns:r="http://schemas.openxmlformats.org/officeDocument/2006/relationships" id="2147483654" r:id="R61340e7ea2394cf8"/>
    <p:sldLayoutId xmlns:r="http://schemas.openxmlformats.org/officeDocument/2006/relationships" id="2147483655" r:id="R95c86694446048ca"/>
    <p:sldLayoutId xmlns:r="http://schemas.openxmlformats.org/officeDocument/2006/relationships" id="2147483656" r:id="R8dd55ed68a924d8f"/>
    <p:sldLayoutId xmlns:r="http://schemas.openxmlformats.org/officeDocument/2006/relationships" id="2147483657" r:id="R6dfbc7bf691947e5"/>
    <p:sldLayoutId xmlns:r="http://schemas.openxmlformats.org/officeDocument/2006/relationships" id="2147483658" r:id="R969ef49a95d6461a"/>
    <p:sldLayoutId xmlns:r="http://schemas.openxmlformats.org/officeDocument/2006/relationships" id="2147483659" r:id="Rab9a400480a44bc3"/>
    <p:sldLayoutId xmlns:r="http://schemas.openxmlformats.org/officeDocument/2006/relationships" id="2147483660" r:id="Rd74f49c14e004c49"/>
  </p:sldLayoutIdLst>
  <p:txStyles>
    <p:titleStyle>
      <a:lvl1pPr xmlns:a="http://schemas.openxmlformats.org/drawingml/2006/main" algn="l" defTabSz="685800">
        <a:lnSpc>
          <a:spcPct val="90000"/>
        </a:lnSpc>
        <a:spcBef>
          <a:spcPct val="0"/>
        </a:spcBef>
        <a:buNone/>
        <a:defRPr sz="3300" kern="1200">
          <a:solidFill>
            <a:schemeClr val="tx1"/>
          </a:solidFill>
          <a:latin typeface="Open Sans ExtraBold"/>
          <a:ea typeface="Open Sans ExtraBold"/>
          <a:cs typeface="Open Sans ExtraBold"/>
        </a:defRPr>
      </a:lvl1pPr>
    </p:titleStyle>
    <p:bodyStyle>
      <a:lvl1pPr xmlns:a="http://schemas.openxmlformats.org/drawingml/2006/main" marL="171450" indent="-171450" algn="l" defTabSz="685800">
        <a:lnSpc>
          <a:spcPct val="100000"/>
        </a:lnSpc>
        <a:spcBef>
          <a:spcPts val="1200"/>
        </a:spcBef>
        <a:buFont typeface="Arial"/>
        <a:buChar char="•"/>
        <a:defRPr sz="2100" kern="1200">
          <a:solidFill>
            <a:schemeClr val="tx1"/>
          </a:solidFill>
          <a:latin typeface="UCL Sans"/>
          <a:ea typeface="UCL Sans"/>
          <a:cs typeface="UCL Sans"/>
        </a:defRPr>
      </a:lvl1pPr>
      <a:lvl2pPr xmlns:a="http://schemas.openxmlformats.org/drawingml/2006/main" marL="514350" indent="-171450" algn="l" defTabSz="685800">
        <a:lnSpc>
          <a:spcPct val="100000"/>
        </a:lnSpc>
        <a:spcBef>
          <a:spcPts val="1200"/>
        </a:spcBef>
        <a:buFont typeface="Arial"/>
        <a:buChar char="•"/>
        <a:defRPr sz="1800" kern="1200">
          <a:solidFill>
            <a:schemeClr val="tx1"/>
          </a:solidFill>
          <a:latin typeface="UCL Sans"/>
          <a:ea typeface="UCL Sans"/>
          <a:cs typeface="UCL Sans"/>
        </a:defRPr>
      </a:lvl2pPr>
      <a:lvl3pPr xmlns:a="http://schemas.openxmlformats.org/drawingml/2006/main" marL="857250" indent="-171450" algn="l" defTabSz="685800">
        <a:lnSpc>
          <a:spcPct val="100000"/>
        </a:lnSpc>
        <a:spcBef>
          <a:spcPts val="1200"/>
        </a:spcBef>
        <a:buFont typeface="Arial"/>
        <a:buChar char="•"/>
        <a:defRPr sz="1500" kern="1200">
          <a:solidFill>
            <a:schemeClr val="tx1"/>
          </a:solidFill>
          <a:latin typeface="UCL Sans"/>
          <a:ea typeface="UCL Sans"/>
          <a:cs typeface="UCL Sans"/>
        </a:defRPr>
      </a:lvl3pPr>
      <a:lvl4pPr xmlns:a="http://schemas.openxmlformats.org/drawingml/2006/main" marL="1200150" indent="-171450" algn="l" defTabSz="685800">
        <a:lnSpc>
          <a:spcPct val="100000"/>
        </a:lnSpc>
        <a:spcBef>
          <a:spcPts val="1200"/>
        </a:spcBef>
        <a:buFont typeface="Arial"/>
        <a:buChar char="•"/>
        <a:defRPr sz="1350" kern="1200">
          <a:solidFill>
            <a:schemeClr val="tx1"/>
          </a:solidFill>
          <a:latin typeface="UCL Sans"/>
          <a:ea typeface="UCL Sans"/>
          <a:cs typeface="UCL Sans"/>
        </a:defRPr>
      </a:lvl4pPr>
      <a:lvl5pPr xmlns:a="http://schemas.openxmlformats.org/drawingml/2006/main" marL="1543050" indent="-171450" algn="l" defTabSz="685800">
        <a:lnSpc>
          <a:spcPct val="100000"/>
        </a:lnSpc>
        <a:spcBef>
          <a:spcPts val="1200"/>
        </a:spcBef>
        <a:buFont typeface="Arial"/>
        <a:buChar char="•"/>
        <a:defRPr sz="1350" kern="1200">
          <a:solidFill>
            <a:schemeClr val="tx1"/>
          </a:solidFill>
          <a:latin typeface="UCL Sans"/>
          <a:ea typeface="UCL Sans"/>
          <a:cs typeface="UCL Sans"/>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Seminar_2026072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22e31c9d3f4a65" /><Relationship Type="http://schemas.openxmlformats.org/officeDocument/2006/relationships/notesSlide" Target="/ppt/notesSlides/notesSlide1.xml" Id="R4376562811a54c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e621d2b6997a456b" /><Relationship Type="http://schemas.openxmlformats.org/officeDocument/2006/relationships/image" Target="/ppt/media/image4.png" Id="Rcd37e44db4ae4a7d" /><Relationship Type="http://schemas.openxmlformats.org/officeDocument/2006/relationships/image" Target="/ppt/media/image5.png" Id="R73447017ef5547b4" /><Relationship Type="http://schemas.openxmlformats.org/officeDocument/2006/relationships/notesSlide" Target="/ppt/notesSlides/notesSlide2.xml" Id="R559f5a354c4b46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d65b97ee3bf4e9d" /><Relationship Type="http://schemas.openxmlformats.org/officeDocument/2006/relationships/image" Target="/ppt/media/image6.png" Id="R9896a7a03c644aec" /><Relationship Type="http://schemas.openxmlformats.org/officeDocument/2006/relationships/notesSlide" Target="/ppt/notesSlides/notesSlide3.xml" Id="R2c04213c507e4a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b6dc20ac93004256" /><Relationship Type="http://schemas.openxmlformats.org/officeDocument/2006/relationships/image" Target="/ppt/media/image7.png" Id="R509c16d9a3cb4fb5" /><Relationship Type="http://schemas.openxmlformats.org/officeDocument/2006/relationships/notesSlide" Target="/ppt/notesSlides/notesSlide4.xml" Id="Rd37fb895b1594e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62984784ba514216" /><Relationship Type="http://schemas.openxmlformats.org/officeDocument/2006/relationships/image" Target="/ppt/media/image8.png" Id="R0bd8b9d1cb374bbe" /><Relationship Type="http://schemas.openxmlformats.org/officeDocument/2006/relationships/notesSlide" Target="/ppt/notesSlides/notesSlide5.xml" Id="Rd123e0f0a28b45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fcabdfa0bac46d2" /><Relationship Type="http://schemas.openxmlformats.org/officeDocument/2006/relationships/image" Target="/ppt/media/image9.png" Id="Ra5cf910f7b1d404b" /><Relationship Type="http://schemas.openxmlformats.org/officeDocument/2006/relationships/notesSlide" Target="/ppt/notesSlides/notesSlide6.xml" Id="R29a47a32dcc140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4c677160d3b4572" /><Relationship Type="http://schemas.openxmlformats.org/officeDocument/2006/relationships/image" Target="/ppt/media/image10.png" Id="R057466359cb84190" /><Relationship Type="http://schemas.openxmlformats.org/officeDocument/2006/relationships/image" Target="/ppt/media/image11.png" Id="R148fe7ed97f54dc2" /><Relationship Type="http://schemas.openxmlformats.org/officeDocument/2006/relationships/notesSlide" Target="/ppt/notesSlides/notesSlide7.xml" Id="R7a8465247ffc49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fb955625fb7d44b3" /><Relationship Type="http://schemas.openxmlformats.org/officeDocument/2006/relationships/image" Target="/ppt/media/image12.png" Id="Rcb8a41d7bdc541f4" /><Relationship Type="http://schemas.openxmlformats.org/officeDocument/2006/relationships/image" Target="/ppt/media/image13.png" Id="Rd9d249d6f9be4b0c" /><Relationship Type="http://schemas.openxmlformats.org/officeDocument/2006/relationships/image" Target="/ppt/media/image14.png" Id="R3babfd22eaf1415b" /><Relationship Type="http://schemas.openxmlformats.org/officeDocument/2006/relationships/notesSlide" Target="/ppt/notesSlides/notesSlide8.xml" Id="Rc5b17a30dbba41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39fa7df096fb4c69" /><Relationship Type="http://schemas.openxmlformats.org/officeDocument/2006/relationships/image" Target="/ppt/media/image15.png" Id="R7a1612457bcc4c97" /><Relationship Type="http://schemas.openxmlformats.org/officeDocument/2006/relationships/notesSlide" Target="/ppt/notesSlides/notesSlide9.xml" Id="R2cf2e3f3a33742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763926d7cb714d82" /><Relationship Type="http://schemas.openxmlformats.org/officeDocument/2006/relationships/notesSlide" Target="/ppt/notesSlides/notesSlide10.xml" Id="R274f3155844449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fa1e6e8ccc5e4a56" /><Relationship Type="http://schemas.openxmlformats.org/officeDocument/2006/relationships/image" Target="/ppt/media/image16.png" Id="R74c91dbc437b4a4c" /><Relationship Type="http://schemas.openxmlformats.org/officeDocument/2006/relationships/notesSlide" Target="/ppt/notesSlides/notesSlide11.xml" Id="R0486fd3a9f1f4d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037272611ca04ef2" /><Relationship Type="http://schemas.openxmlformats.org/officeDocument/2006/relationships/image" Target="/ppt/media/image17.png" Id="R6b7c769563bc40c9" /><Relationship Type="http://schemas.openxmlformats.org/officeDocument/2006/relationships/notesSlide" Target="/ppt/notesSlides/notesSlide12.xml" Id="Ra0f707060ceb45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97dd4240d6d54c9f" /><Relationship Type="http://schemas.openxmlformats.org/officeDocument/2006/relationships/image" Target="/ppt/media/image18.png" Id="Re459d53e59b34c76" /><Relationship Type="http://schemas.openxmlformats.org/officeDocument/2006/relationships/notesSlide" Target="/ppt/notesSlides/notesSlide13.xml" Id="R0c36a2cf2ffb42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d72a8d528a444da9" /><Relationship Type="http://schemas.openxmlformats.org/officeDocument/2006/relationships/image" Target="/ppt/media/image19.png" Id="R734355176f8c4516" /><Relationship Type="http://schemas.openxmlformats.org/officeDocument/2006/relationships/notesSlide" Target="/ppt/notesSlides/notesSlide14.xml" Id="Rf6b0466a25d747d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b68dec2b5b5448f4" /><Relationship Type="http://schemas.openxmlformats.org/officeDocument/2006/relationships/image" Target="/ppt/media/image20.png" Id="R203499d3b73e4e44" /><Relationship Type="http://schemas.openxmlformats.org/officeDocument/2006/relationships/image" Target="/ppt/media/image21.png" Id="Ra7d9ce7e10e74d82" /><Relationship Type="http://schemas.openxmlformats.org/officeDocument/2006/relationships/notesSlide" Target="/ppt/notesSlides/notesSlide15.xml" Id="Rf7e855257c4c42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7fb82353072741a7" /><Relationship Type="http://schemas.openxmlformats.org/officeDocument/2006/relationships/notesSlide" Target="/ppt/notesSlides/notesSlide16.xml" Id="Re9d83ebb9a1445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ee730d1004804307" /><Relationship Type="http://schemas.openxmlformats.org/officeDocument/2006/relationships/image" Target="/ppt/media/image22.png" Id="R5a9a81d1ae3f4985" /><Relationship Type="http://schemas.openxmlformats.org/officeDocument/2006/relationships/notesSlide" Target="/ppt/notesSlides/notesSlide17.xml" Id="R659b150d05bc4fb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e463d8abc15048a9" /><Relationship Type="http://schemas.openxmlformats.org/officeDocument/2006/relationships/image" Target="/ppt/media/image23.png" Id="R8c38d17b37e94dd7" /><Relationship Type="http://schemas.openxmlformats.org/officeDocument/2006/relationships/notesSlide" Target="/ppt/notesSlides/notesSlide18.xml" Id="R0cb5a5b136c645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d896f6c13b7342e0" /><Relationship Type="http://schemas.openxmlformats.org/officeDocument/2006/relationships/image" Target="/ppt/media/image24.png" Id="R0f65eb4aa333434a" /><Relationship Type="http://schemas.openxmlformats.org/officeDocument/2006/relationships/notesSlide" Target="/ppt/notesSlides/notesSlide19.xml" Id="R53f18327d80644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8e8f90047b7f40d7" /><Relationship Type="http://schemas.openxmlformats.org/officeDocument/2006/relationships/image" Target="/ppt/media/image25.png" Id="R4adb470a0a9c4d85" /><Relationship Type="http://schemas.openxmlformats.org/officeDocument/2006/relationships/image" Target="/ppt/media/image26.png" Id="R2d1e294f4e924483" /><Relationship Type="http://schemas.openxmlformats.org/officeDocument/2006/relationships/notesSlide" Target="/ppt/notesSlides/notesSlide20.xml" Id="R649a13d75b6142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999623e4d2644c27" /><Relationship Type="http://schemas.openxmlformats.org/officeDocument/2006/relationships/notesSlide" Target="/ppt/notesSlides/notesSlide21.xml" Id="Rb784bf5041ad440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88fa7b954c614360" /><Relationship Type="http://schemas.openxmlformats.org/officeDocument/2006/relationships/notesSlide" Target="/ppt/notesSlides/notesSlide22.xml" Id="Rbb5bb32a56b246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11e6ed38183b4a99" /><Relationship Type="http://schemas.openxmlformats.org/officeDocument/2006/relationships/notesSlide" Target="/ppt/notesSlides/notesSlide23.xml" Id="R6cccede2fabe40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95d8a72a5249472b" /><Relationship Type="http://schemas.openxmlformats.org/officeDocument/2006/relationships/notesSlide" Target="/ppt/notesSlides/notesSlide24.xml" Id="R1b77573b12c046f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0f12715a21b04854" /><Relationship Type="http://schemas.openxmlformats.org/officeDocument/2006/relationships/notesSlide" Target="/ppt/notesSlides/notesSlide25.xml" Id="R1bb22a301d2d470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E0EF7F-841C-4B82-944D-A59FD477DB97}"/>
              </a:ext>
            </a:extLst>
          </p:cNvPr>
          <p:cNvSpPr>
            <a:spLocks xmlns:a="http://schemas.openxmlformats.org/drawingml/2006/main" noGrp="1"/>
          </p:cNvSpPr>
          <p:nvPr>
            <p:ph type="ctrTitle" idx="0"/>
          </p:nvPr>
        </p:nvSpPr>
        <p:spPr>
          <a:xfrm xmlns:a="http://schemas.openxmlformats.org/drawingml/2006/main">
            <a:off x="0" y="974559"/>
            <a:ext cx="9144000" cy="1934678"/>
          </a:xfrm>
        </p:spPr>
        <p:txBody>
          <a:bodyPr xmlns:a="http://schemas.openxmlformats.org/drawingml/2006/main" anchor="ctr">
            <a:noAutofit/>
          </a:bodyPr>
          <a:lstStyle xmlns:a="http://schemas.openxmlformats.org/drawingml/2006/main"/>
          <a:p xmlns:a="http://schemas.openxmlformats.org/drawingml/2006/main">
            <a:pPr algn="ctr">
              <a:buNone/>
              <a:defRPr sz="2400">
                <a:solidFill>
                  <a:srgbClr val="FFFFFF"/>
                </a:solidFill>
                <a:latin typeface="Open Sans ExtraBold"/>
                <a:ea typeface="Open Sans ExtraBold"/>
                <a:cs typeface="Open Sans ExtraBold"/>
              </a:defRPr>
            </a:pPr>
            <a:r>
              <a:rPr sz="2400" b="1">
                <a:solidFill>
                  <a:srgbClr val="FFFFFF"/>
                </a:solidFill>
                <a:latin typeface="Open Sans ExtraBold"/>
                <a:ea typeface="Open Sans ExtraBold"/>
                <a:cs typeface="Open Sans ExtraBold"/>
              </a:rPr>
              <a:t>Learning How Cities Respond</a:t>
            </a:r>
          </a:p>
          <a:p xmlns:a="http://schemas.openxmlformats.org/drawingml/2006/main">
            <a:pPr algn="ctr">
              <a:buNone/>
              <a:defRPr sz="2400">
                <a:solidFill>
                  <a:srgbClr val="FFFFFF"/>
                </a:solidFill>
                <a:latin typeface="Open Sans ExtraBold"/>
                <a:ea typeface="Open Sans ExtraBold"/>
                <a:cs typeface="Open Sans ExtraBold"/>
              </a:defRPr>
            </a:pPr>
            <a:r>
              <a:rPr sz="2400" b="1">
                <a:solidFill>
                  <a:srgbClr val="FFFFFF"/>
                </a:solidFill>
                <a:latin typeface="Open Sans ExtraBold"/>
                <a:ea typeface="Open Sans ExtraBold"/>
                <a:cs typeface="Open Sans ExtraBold"/>
              </a:rPr>
              <a:t>Intervention-Conditioned Urban Representations</a:t>
            </a:r>
          </a:p>
          <a:p xmlns:a="http://schemas.openxmlformats.org/drawingml/2006/main">
            <a:pPr algn="ctr">
              <a:buNone/>
              <a:defRPr sz="2400">
                <a:solidFill>
                  <a:srgbClr val="FFFFFF"/>
                </a:solidFill>
                <a:latin typeface="Open Sans ExtraBold"/>
                <a:ea typeface="Open Sans ExtraBold"/>
                <a:cs typeface="Open Sans ExtraBold"/>
              </a:defRPr>
            </a:pPr>
            <a:r>
              <a:rPr sz="2400">
                <a:solidFill>
                  <a:srgbClr val="FFFFFF"/>
                </a:solidFill>
                <a:latin typeface="Open Sans ExtraBold"/>
                <a:ea typeface="Open Sans ExtraBold"/>
                <a:cs typeface="Open Sans ExtraBold"/>
              </a:rPr>
              <a:t>Dynamic responses to rail station openings</a:t>
            </a:r>
          </a:p>
        </p:txBody>
      </p:sp>
      <p:sp>
        <p:nvSpPr>
          <p:cNvPr id="3" name="Subtitle 2">
            <a:extLst xmlns:a="http://schemas.openxmlformats.org/drawingml/2006/main">
              <a:ext uri="{FF2B5EF4-FFF2-40B4-BE49-F238E27FC236}">
                <a16:creationId xmlns:a16="http://schemas.microsoft.com/office/drawing/2014/main" id="{4C48849C-D1F2-4BBB-81B0-FEF2D4561EF7}"/>
              </a:ext>
            </a:extLst>
          </p:cNvPr>
          <p:cNvSpPr>
            <a:spLocks xmlns:a="http://schemas.openxmlformats.org/drawingml/2006/main" noGrp="1"/>
          </p:cNvSpPr>
          <p:nvPr>
            <p:ph type="subTitle" idx="1"/>
          </p:nvPr>
        </p:nvSpPr>
        <p:spPr>
          <a:xfrm xmlns:a="http://schemas.openxmlformats.org/drawingml/2006/main">
            <a:off x="822960" y="3186112"/>
            <a:ext cx="7498080" cy="1471613"/>
          </a:xfrm>
        </p:spPr>
        <p:txBody>
          <a:bodyPr xmlns:a="http://schemas.openxmlformats.org/drawingml/2006/main">
            <a:normAutofit/>
          </a:bodyPr>
          <a:lstStyle xmlns:a="http://schemas.openxmlformats.org/drawingml/2006/main"/>
          <a:p xmlns:a="http://schemas.openxmlformats.org/drawingml/2006/main">
            <a:pPr>
              <a:spcBef>
                <a:spcPts val="0"/>
              </a:spcBef>
              <a:spcAft>
                <a:spcPts val="600"/>
              </a:spcAft>
              <a:buNone/>
            </a:pPr>
            <a:r>
              <a:rPr b="1">
                <a:solidFill>
                  <a:srgbClr val="242424"/>
                </a:solidFill>
                <a:latin typeface="UCL Sans"/>
                <a:ea typeface="UCL Sans"/>
                <a:cs typeface="UCL Sans"/>
              </a:rPr>
              <a:t>Sirun Li</a:t>
            </a:r>
            <a:endParaRPr sz="1500"/>
          </a:p>
          <a:p xmlns:a="http://schemas.openxmlformats.org/drawingml/2006/main">
            <a:pPr>
              <a:spcBef>
                <a:spcPts val="0"/>
              </a:spcBef>
              <a:spcAft>
                <a:spcPts val="600"/>
              </a:spcAft>
              <a:buNone/>
              <a:tabLst>
                <a:tab pos="4457588" algn="r"/>
              </a:tabLst>
            </a:pPr>
            <a:r>
              <a:rPr sz="1350"/>
              <a:t>Undergraduate Student, Institute of Remote Sensing and Geographical Information Systems</a:t>
            </a:r>
            <a:br/>
            <a:r>
              <a:rPr sz="1350"/>
              <a:t>Peking University, Beijing, China</a:t>
            </a:r>
            <a:endParaRPr sz="1350"/>
          </a:p>
          <a:p xmlns:a="http://schemas.openxmlformats.org/drawingml/2006/main">
            <a:pPr>
              <a:spcBef>
                <a:spcPts val="0"/>
              </a:spcBef>
              <a:spcAft>
                <a:spcPts val="600"/>
              </a:spcAft>
              <a:buNone/>
              <a:tabLst>
                <a:tab pos="4457588" algn="r"/>
              </a:tabLst>
            </a:pPr>
            <a:br/>
            <a:r>
              <a:rPr sz="1350"/>
              <a:t>Supervised by </a:t>
            </a:r>
            <a:r>
              <a:rPr sz="1350"/>
              <a:t>Prof.</a:t>
            </a:r>
            <a:r>
              <a:rPr sz="1350"/>
              <a:t> </a:t>
            </a:r>
            <a:r>
              <a:rPr sz="1350"/>
              <a:t>Yunhan</a:t>
            </a:r>
            <a:r>
              <a:rPr sz="1350"/>
              <a:t> Zheng</a:t>
            </a:r>
            <a:endParaRPr sz="1350">
              <a:solidFill>
                <a:srgbClr val="000000"/>
              </a:solidFill>
            </a:endParaRPr>
          </a:p>
        </p:txBody>
      </p:sp>
      <p:sp>
        <p:nvSpPr>
          <p:cNvPr id="4" name="cover-project-scope">
            <a:extLst xmlns:a="http://schemas.openxmlformats.org/drawingml/2006/main">
              <a:ext uri="{FF2B5EF4-FFF2-40B4-BE49-F238E27FC236}">
                <a16:creationId xmlns:a16="http://schemas.microsoft.com/office/drawing/2014/main" id="{91131327-1211-4309-BDB3-FDA83D4BF1E6}"/>
              </a:ext>
            </a:extLst>
          </p:cNvPr>
          <p:cNvSpPr>
            <a:spLocks xmlns:a="http://schemas.openxmlformats.org/drawingml/2006/main" noGrp="1"/>
          </p:cNvSpPr>
          <p:nvPr/>
        </p:nvSpPr>
        <p:spPr>
          <a:xfrm xmlns:a="http://schemas.openxmlformats.org/drawingml/2006/main">
            <a:off x="723900" y="2962275"/>
            <a:ext cx="7791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8B3247"/>
                </a:solidFill>
                <a:latin typeface="UCL Sans"/>
                <a:ea typeface="UCL Sans"/>
                <a:cs typeface="UCL Sans"/>
              </a:defRPr>
            </a:pPr>
            <a:r>
              <a:rPr sz="1425" b="0">
                <a:solidFill>
                  <a:srgbClr val="8B3247"/>
                </a:solidFill>
                <a:latin typeface="UCL Sans"/>
                <a:ea typeface="UCL Sans"/>
                <a:cs typeface="UCL Sans"/>
              </a:rPr>
              <a:t>Estimating local responses and testing urban representations across cities</a:t>
            </a:r>
          </a:p>
        </p:txBody>
      </p:sp>
      <p:sp>
        <p:nvSpPr>
          <p:cNvPr id="5" name="seminar-page-number">
            <a:extLst xmlns:a="http://schemas.openxmlformats.org/drawingml/2006/main">
              <a:ext uri="{FF2B5EF4-FFF2-40B4-BE49-F238E27FC236}">
                <a16:creationId xmlns:a16="http://schemas.microsoft.com/office/drawing/2014/main" id="{C0450781-A3DA-4CCB-92D2-37E2BE4EBC02}"/>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a:t>
            </a:r>
          </a:p>
        </p:txBody>
      </p:sp>
    </p:spTree>
    <p:extLst>
      <p:ext uri="{BB962C8B-B14F-4D97-AF65-F5344CB8AC3E}">
        <p14:creationId xmlns:p14="http://schemas.microsoft.com/office/powerpoint/2010/main" val="5678735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Why do places respond differently?</a:t>
            </a:r>
          </a:p>
        </p:txBody>
      </p:sp>
      <p:sp>
        <p:nvSpPr>
          <p:cNvPr id="3" name="background-rail-tod">
            <a:extLst xmlns:a="http://schemas.openxmlformats.org/drawingml/2006/main">
              <a:ext uri="{FF2B5EF4-FFF2-40B4-BE49-F238E27FC236}">
                <a16:creationId xmlns:a16="http://schemas.microsoft.com/office/drawing/2014/main" id="{9F92A07F-4DE0-4FB6-B16A-E4B8399DA97B}"/>
              </a:ext>
            </a:extLst>
          </p:cNvPr>
          <p:cNvSpPr>
            <a:spLocks xmlns:a="http://schemas.openxmlformats.org/drawingml/2006/main" noGrp="1"/>
          </p:cNvSpPr>
          <p:nvPr/>
        </p:nvSpPr>
        <p:spPr>
          <a:xfrm xmlns:a="http://schemas.openxmlformats.org/drawingml/2006/main">
            <a:off x="723900" y="1133475"/>
            <a:ext cx="3733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B3247"/>
                </a:solidFill>
                <a:latin typeface="UCL Sans"/>
                <a:ea typeface="UCL Sans"/>
                <a:cs typeface="UCL Sans"/>
              </a:defRPr>
            </a:pPr>
            <a:r>
              <a:rPr sz="1725" b="1">
                <a:solidFill>
                  <a:srgbClr val="8B3247"/>
                </a:solidFill>
                <a:latin typeface="UCL Sans"/>
                <a:ea typeface="UCL Sans"/>
                <a:cs typeface="UCL Sans"/>
              </a:rPr>
              <a:t>Rail expansion and</a:t>
            </a:r>
          </a:p>
          <a:p xmlns:a="http://schemas.openxmlformats.org/drawingml/2006/main">
            <a:pPr algn="l">
              <a:buNone/>
              <a:defRPr sz="1725" b="1">
                <a:solidFill>
                  <a:srgbClr val="8B3247"/>
                </a:solidFill>
                <a:latin typeface="UCL Sans"/>
                <a:ea typeface="UCL Sans"/>
                <a:cs typeface="UCL Sans"/>
              </a:defRPr>
            </a:pPr>
            <a:r>
              <a:rPr sz="1725" b="1">
                <a:solidFill>
                  <a:srgbClr val="8B3247"/>
                </a:solidFill>
                <a:latin typeface="UCL Sans"/>
                <a:ea typeface="UCL Sans"/>
                <a:cs typeface="UCL Sans"/>
              </a:rPr>
              <a:t>transit-oriented development</a:t>
            </a:r>
          </a:p>
        </p:txBody>
      </p:sp>
      <p:sp>
        <p:nvSpPr>
          <p:cNvPr id="4" name="background-local-conditions">
            <a:extLst xmlns:a="http://schemas.openxmlformats.org/drawingml/2006/main">
              <a:ext uri="{FF2B5EF4-FFF2-40B4-BE49-F238E27FC236}">
                <a16:creationId xmlns:a16="http://schemas.microsoft.com/office/drawing/2014/main" id="{C670B450-C626-404B-A61A-57C455F105CE}"/>
              </a:ext>
            </a:extLst>
          </p:cNvPr>
          <p:cNvSpPr>
            <a:spLocks xmlns:a="http://schemas.openxmlformats.org/drawingml/2006/main" noGrp="1"/>
          </p:cNvSpPr>
          <p:nvPr/>
        </p:nvSpPr>
        <p:spPr>
          <a:xfrm xmlns:a="http://schemas.openxmlformats.org/drawingml/2006/main">
            <a:off x="4810125" y="1133475"/>
            <a:ext cx="3705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6D3FA3"/>
                </a:solidFill>
                <a:latin typeface="UCL Sans"/>
                <a:ea typeface="UCL Sans"/>
                <a:cs typeface="UCL Sans"/>
              </a:defRPr>
            </a:pPr>
            <a:r>
              <a:rPr sz="1725" b="1">
                <a:solidFill>
                  <a:srgbClr val="6D3FA3"/>
                </a:solidFill>
                <a:latin typeface="UCL Sans"/>
                <a:ea typeface="UCL Sans"/>
                <a:cs typeface="UCL Sans"/>
              </a:rPr>
              <a:t>Mechanisms and</a:t>
            </a:r>
          </a:p>
          <a:p xmlns:a="http://schemas.openxmlformats.org/drawingml/2006/main">
            <a:pPr algn="l">
              <a:buNone/>
              <a:defRPr sz="1725" b="1">
                <a:solidFill>
                  <a:srgbClr val="6D3FA3"/>
                </a:solidFill>
                <a:latin typeface="UCL Sans"/>
                <a:ea typeface="UCL Sans"/>
                <a:cs typeface="UCL Sans"/>
              </a:defRPr>
            </a:pPr>
            <a:r>
              <a:rPr sz="1725" b="1">
                <a:solidFill>
                  <a:srgbClr val="6D3FA3"/>
                </a:solidFill>
                <a:latin typeface="UCL Sans"/>
                <a:ea typeface="UCL Sans"/>
                <a:cs typeface="UCL Sans"/>
              </a:rPr>
              <a:t>local conditions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d37e44db4ae4a7d"/>
          <a:stretch xmlns:a="http://schemas.openxmlformats.org/drawingml/2006/main"/>
        </p:blipFill>
        <p:spPr>
          <a:xfrm xmlns:a="http://schemas.openxmlformats.org/drawingml/2006/main">
            <a:off x="723900" y="1803400"/>
            <a:ext cx="3705225" cy="24701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3447017ef5547b4"/>
          <a:stretch xmlns:a="http://schemas.openxmlformats.org/drawingml/2006/main"/>
        </p:blipFill>
        <p:spPr>
          <a:xfrm xmlns:a="http://schemas.openxmlformats.org/drawingml/2006/main">
            <a:off x="4810125" y="1803400"/>
            <a:ext cx="3705225" cy="2470150"/>
          </a:xfrm>
          <a:prstGeom xmlns:a="http://schemas.openxmlformats.org/drawingml/2006/main" prst="rect">
            <a:avLst/>
          </a:prstGeom>
        </p:spPr>
      </p:pic>
      <p:sp>
        <p:nvSpPr>
          <p:cNvPr id="7" name="background-question">
            <a:extLst xmlns:a="http://schemas.openxmlformats.org/drawingml/2006/main">
              <a:ext uri="{FF2B5EF4-FFF2-40B4-BE49-F238E27FC236}">
                <a16:creationId xmlns:a16="http://schemas.microsoft.com/office/drawing/2014/main" id="{34C54900-0514-461E-9A42-1BBFD60CF90D}"/>
              </a:ext>
            </a:extLst>
          </p:cNvPr>
          <p:cNvSpPr>
            <a:spLocks xmlns:a="http://schemas.openxmlformats.org/drawingml/2006/main" noGrp="1"/>
          </p:cNvSpPr>
          <p:nvPr/>
        </p:nvSpPr>
        <p:spPr>
          <a:xfrm xmlns:a="http://schemas.openxmlformats.org/drawingml/2006/main">
            <a:off x="723900" y="4400550"/>
            <a:ext cx="7791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B3247"/>
                </a:solidFill>
                <a:latin typeface="UCL Sans"/>
                <a:ea typeface="UCL Sans"/>
                <a:cs typeface="UCL Sans"/>
              </a:defRPr>
            </a:pPr>
            <a:r>
              <a:rPr sz="1650" b="1">
                <a:solidFill>
                  <a:srgbClr val="8B3247"/>
                </a:solidFill>
                <a:latin typeface="UCL Sans"/>
                <a:ea typeface="UCL Sans"/>
                <a:cs typeface="UCL Sans"/>
              </a:rPr>
              <a:t>Can past response profiles help us compare places in new cities?</a:t>
            </a:r>
          </a:p>
        </p:txBody>
      </p:sp>
      <p:sp>
        <p:nvSpPr>
          <p:cNvPr id="8" name="background-citations">
            <a:extLst xmlns:a="http://schemas.openxmlformats.org/drawingml/2006/main">
              <a:ext uri="{FF2B5EF4-FFF2-40B4-BE49-F238E27FC236}">
                <a16:creationId xmlns:a16="http://schemas.microsoft.com/office/drawing/2014/main" id="{03746C19-2C6B-4E2A-AEDC-2C5F10430FEC}"/>
              </a:ext>
            </a:extLst>
          </p:cNvPr>
          <p:cNvSpPr>
            <a:spLocks xmlns:a="http://schemas.openxmlformats.org/drawingml/2006/main" noGrp="1"/>
          </p:cNvSpPr>
          <p:nvPr/>
        </p:nvSpPr>
        <p:spPr>
          <a:xfrm xmlns:a="http://schemas.openxmlformats.org/drawingml/2006/main">
            <a:off x="723900" y="4800600"/>
            <a:ext cx="779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38" b="0">
                <a:solidFill>
                  <a:srgbClr val="67635F"/>
                </a:solidFill>
                <a:latin typeface="UCL Sans"/>
                <a:ea typeface="UCL Sans"/>
                <a:cs typeface="UCL Sans"/>
              </a:defRPr>
            </a:pPr>
            <a:r>
              <a:rPr sz="938" b="0">
                <a:solidFill>
                  <a:srgbClr val="67635F"/>
                </a:solidFill>
                <a:latin typeface="UCL Sans"/>
                <a:ea typeface="UCL Sans"/>
                <a:cs typeface="UCL Sans"/>
              </a:rPr>
              <a:t>Conceptual illustrations. Lu et al. (2016); Wang &amp; Xia (2024); Cervero &amp; Kockelman (1997);</a:t>
            </a:r>
          </a:p>
          <a:p xmlns:a="http://schemas.openxmlformats.org/drawingml/2006/main">
            <a:pPr algn="l">
              <a:buNone/>
              <a:defRPr sz="938" b="0">
                <a:solidFill>
                  <a:srgbClr val="67635F"/>
                </a:solidFill>
                <a:latin typeface="UCL Sans"/>
                <a:ea typeface="UCL Sans"/>
                <a:cs typeface="UCL Sans"/>
              </a:defRPr>
            </a:pPr>
            <a:r>
              <a:rPr sz="938" b="0">
                <a:solidFill>
                  <a:srgbClr val="67635F"/>
                </a:solidFill>
                <a:latin typeface="UCL Sans"/>
                <a:ea typeface="UCL Sans"/>
                <a:cs typeface="UCL Sans"/>
              </a:rPr>
              <a:t>Gonzalez-Navarro &amp; Turner (2018).</a:t>
            </a:r>
          </a:p>
        </p:txBody>
      </p:sp>
      <p:sp>
        <p:nvSpPr>
          <p:cNvPr id="11" name="seminar-page-number">
            <a:extLst xmlns:a="http://schemas.openxmlformats.org/drawingml/2006/main">
              <a:ext uri="{FF2B5EF4-FFF2-40B4-BE49-F238E27FC236}">
                <a16:creationId xmlns:a16="http://schemas.microsoft.com/office/drawing/2014/main" id="{49802C93-EEE7-4CF5-8D7C-F40275C15C8D}"/>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a:t>
            </a:r>
          </a:p>
        </p:txBody>
      </p:sp>
    </p:spTree>
    <p:extLst>
      <p:ext uri="{BB962C8B-B14F-4D97-AF65-F5344CB8AC3E}">
        <p14:creationId xmlns:p14="http://schemas.microsoft.com/office/powerpoint/2010/main" val="12767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Related Work: causal effects and representation learning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896a7a03c644aec"/>
          <a:stretch xmlns:a="http://schemas.openxmlformats.org/drawingml/2006/main"/>
        </p:blipFill>
        <p:spPr>
          <a:xfrm xmlns:a="http://schemas.openxmlformats.org/drawingml/2006/main">
            <a:off x="941769" y="1133475"/>
            <a:ext cx="7355713" cy="3276600"/>
          </a:xfrm>
          <a:prstGeom xmlns:a="http://schemas.openxmlformats.org/drawingml/2006/main" prst="rect">
            <a:avLst/>
          </a:prstGeom>
        </p:spPr>
      </p:pic>
      <p:sp>
        <p:nvSpPr>
          <p:cNvPr id="4" name="related-method-examples">
            <a:extLst xmlns:a="http://schemas.openxmlformats.org/drawingml/2006/main">
              <a:ext uri="{FF2B5EF4-FFF2-40B4-BE49-F238E27FC236}">
                <a16:creationId xmlns:a16="http://schemas.microsoft.com/office/drawing/2014/main" id="{A34CE8AF-97E0-4B10-8B64-D2DFFB63609E}"/>
              </a:ext>
            </a:extLst>
          </p:cNvPr>
          <p:cNvSpPr>
            <a:spLocks xmlns:a="http://schemas.openxmlformats.org/drawingml/2006/main" noGrp="1"/>
          </p:cNvSpPr>
          <p:nvPr/>
        </p:nvSpPr>
        <p:spPr>
          <a:xfrm xmlns:a="http://schemas.openxmlformats.org/drawingml/2006/main">
            <a:off x="723900" y="44767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27445C"/>
                </a:solidFill>
                <a:latin typeface="UCL Sans"/>
                <a:ea typeface="UCL Sans"/>
                <a:cs typeface="UCL Sans"/>
              </a:defRPr>
            </a:pPr>
            <a:r>
              <a:rPr sz="1275" b="1">
                <a:solidFill>
                  <a:srgbClr val="27445C"/>
                </a:solidFill>
                <a:latin typeface="UCL Sans"/>
                <a:ea typeface="UCL Sans"/>
                <a:cs typeface="UCL Sans"/>
              </a:rPr>
              <a:t>Matching · GSC · MC · event studies</a:t>
            </a:r>
          </a:p>
        </p:txBody>
      </p:sp>
      <p:sp>
        <p:nvSpPr>
          <p:cNvPr id="5" name="related-learning-examples">
            <a:extLst xmlns:a="http://schemas.openxmlformats.org/drawingml/2006/main">
              <a:ext uri="{FF2B5EF4-FFF2-40B4-BE49-F238E27FC236}">
                <a16:creationId xmlns:a16="http://schemas.microsoft.com/office/drawing/2014/main" id="{87352B25-5BD1-4EEF-AE03-FE6369F56459}"/>
              </a:ext>
            </a:extLst>
          </p:cNvPr>
          <p:cNvSpPr>
            <a:spLocks xmlns:a="http://schemas.openxmlformats.org/drawingml/2006/main" noGrp="1"/>
          </p:cNvSpPr>
          <p:nvPr/>
        </p:nvSpPr>
        <p:spPr>
          <a:xfrm xmlns:a="http://schemas.openxmlformats.org/drawingml/2006/main">
            <a:off x="4810125" y="4476750"/>
            <a:ext cx="3705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6D3FA3"/>
                </a:solidFill>
                <a:latin typeface="UCL Sans"/>
                <a:ea typeface="UCL Sans"/>
                <a:cs typeface="UCL Sans"/>
              </a:defRPr>
            </a:pPr>
            <a:r>
              <a:rPr sz="1275" b="1">
                <a:solidFill>
                  <a:srgbClr val="6D3FA3"/>
                </a:solidFill>
                <a:latin typeface="UCL Sans"/>
                <a:ea typeface="UCL Sans"/>
                <a:cs typeface="UCL Sans"/>
              </a:rPr>
              <a:t>Urban2Vec · RegionDCL · FLORAL</a:t>
            </a:r>
          </a:p>
        </p:txBody>
      </p:sp>
      <p:sp>
        <p:nvSpPr>
          <p:cNvPr id="6" name="related-citations">
            <a:extLst xmlns:a="http://schemas.openxmlformats.org/drawingml/2006/main">
              <a:ext uri="{FF2B5EF4-FFF2-40B4-BE49-F238E27FC236}">
                <a16:creationId xmlns:a16="http://schemas.microsoft.com/office/drawing/2014/main" id="{F4644DB4-DA6A-4BB1-9A8F-A29B476CF43A}"/>
              </a:ext>
            </a:extLst>
          </p:cNvPr>
          <p:cNvSpPr>
            <a:spLocks xmlns:a="http://schemas.openxmlformats.org/drawingml/2006/main" noGrp="1"/>
          </p:cNvSpPr>
          <p:nvPr/>
        </p:nvSpPr>
        <p:spPr>
          <a:xfrm xmlns:a="http://schemas.openxmlformats.org/drawingml/2006/main">
            <a:off x="723900" y="4800600"/>
            <a:ext cx="779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67635F"/>
                </a:solidFill>
                <a:latin typeface="UCL Sans"/>
                <a:ea typeface="UCL Sans"/>
                <a:cs typeface="UCL Sans"/>
              </a:defRPr>
            </a:pPr>
            <a:r>
              <a:rPr sz="900" b="0">
                <a:solidFill>
                  <a:srgbClr val="67635F"/>
                </a:solidFill>
                <a:latin typeface="UCL Sans"/>
                <a:ea typeface="UCL Sans"/>
                <a:cs typeface="UCL Sans"/>
              </a:rPr>
              <a:t>Conceptual illustrations. Gonzalez-Navarro &amp; Turner (2018); Xu (2017); Athey et al. (2021); Sun &amp; Abraham (2021);</a:t>
            </a:r>
          </a:p>
          <a:p xmlns:a="http://schemas.openxmlformats.org/drawingml/2006/main">
            <a:pPr algn="l">
              <a:buNone/>
              <a:defRPr sz="900" b="0">
                <a:solidFill>
                  <a:srgbClr val="67635F"/>
                </a:solidFill>
                <a:latin typeface="UCL Sans"/>
                <a:ea typeface="UCL Sans"/>
                <a:cs typeface="UCL Sans"/>
              </a:defRPr>
            </a:pPr>
            <a:r>
              <a:rPr sz="900" b="0">
                <a:solidFill>
                  <a:srgbClr val="67635F"/>
                </a:solidFill>
                <a:latin typeface="UCL Sans"/>
                <a:ea typeface="UCL Sans"/>
                <a:cs typeface="UCL Sans"/>
              </a:rPr>
              <a:t>Wang et al. (2020); Li et al. (2023); Wei et al. (2016); Tec et al. (2023); Zeng et al. (2022); Fang et al. (2025).</a:t>
            </a:r>
          </a:p>
        </p:txBody>
      </p:sp>
      <p:sp>
        <p:nvSpPr>
          <p:cNvPr id="7" name="seminar-page-number">
            <a:extLst xmlns:a="http://schemas.openxmlformats.org/drawingml/2006/main">
              <a:ext uri="{FF2B5EF4-FFF2-40B4-BE49-F238E27FC236}">
                <a16:creationId xmlns:a16="http://schemas.microsoft.com/office/drawing/2014/main" id="{33016D96-619B-458B-A2A7-8BC2A6A8EC78}"/>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3</a:t>
            </a:r>
          </a:p>
        </p:txBody>
      </p:sp>
    </p:spTree>
    <p:extLst>
      <p:ext uri="{BB962C8B-B14F-4D97-AF65-F5344CB8AC3E}">
        <p14:creationId xmlns:p14="http://schemas.microsoft.com/office/powerpoint/2010/main" val="12767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Problem setup: learning from local responses</a:t>
            </a:r>
          </a:p>
        </p:txBody>
      </p:sp>
      <p:sp>
        <p:nvSpPr>
          <p:cNvPr id="3" name="problem-unit">
            <a:extLst xmlns:a="http://schemas.openxmlformats.org/drawingml/2006/main">
              <a:ext uri="{FF2B5EF4-FFF2-40B4-BE49-F238E27FC236}">
                <a16:creationId xmlns:a16="http://schemas.microsoft.com/office/drawing/2014/main" id="{F9945002-1B49-4F42-BB61-BBB0BCCF3895}"/>
              </a:ext>
            </a:extLst>
          </p:cNvPr>
          <p:cNvSpPr>
            <a:spLocks xmlns:a="http://schemas.openxmlformats.org/drawingml/2006/main" noGrp="1"/>
          </p:cNvSpPr>
          <p:nvPr/>
        </p:nvSpPr>
        <p:spPr>
          <a:xfrm xmlns:a="http://schemas.openxmlformats.org/drawingml/2006/main">
            <a:off x="723900" y="1095375"/>
            <a:ext cx="7791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B3247"/>
                </a:solidFill>
                <a:latin typeface="UCL Sans"/>
                <a:ea typeface="UCL Sans"/>
                <a:cs typeface="UCL Sans"/>
              </a:defRPr>
            </a:pPr>
            <a:r>
              <a:rPr sz="1725" b="1">
                <a:solidFill>
                  <a:srgbClr val="8B3247"/>
                </a:solidFill>
                <a:latin typeface="UCL Sans"/>
                <a:ea typeface="UCL Sans"/>
                <a:cs typeface="UCL Sans"/>
              </a:rPr>
              <a:t>Each sample is a grid near a station opening.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09c16d9a3cb4fb5"/>
          <a:stretch xmlns:a="http://schemas.openxmlformats.org/drawingml/2006/main"/>
        </p:blipFill>
        <p:spPr>
          <a:xfrm xmlns:a="http://schemas.openxmlformats.org/drawingml/2006/main">
            <a:off x="1054117" y="1457325"/>
            <a:ext cx="7131016" cy="3133725"/>
          </a:xfrm>
          <a:prstGeom xmlns:a="http://schemas.openxmlformats.org/drawingml/2006/main" prst="rect">
            <a:avLst/>
          </a:prstGeom>
        </p:spPr>
      </p:pic>
      <p:sp>
        <p:nvSpPr>
          <p:cNvPr id="5" name="problem-groups">
            <a:extLst xmlns:a="http://schemas.openxmlformats.org/drawingml/2006/main">
              <a:ext uri="{FF2B5EF4-FFF2-40B4-BE49-F238E27FC236}">
                <a16:creationId xmlns:a16="http://schemas.microsoft.com/office/drawing/2014/main" id="{2C3A8A02-74E0-4AAD-B06A-D04826D4AF94}"/>
              </a:ext>
            </a:extLst>
          </p:cNvPr>
          <p:cNvSpPr>
            <a:spLocks xmlns:a="http://schemas.openxmlformats.org/drawingml/2006/main" noGrp="1"/>
          </p:cNvSpPr>
          <p:nvPr/>
        </p:nvSpPr>
        <p:spPr>
          <a:xfrm xmlns:a="http://schemas.openxmlformats.org/drawingml/2006/main">
            <a:off x="723900" y="4667250"/>
            <a:ext cx="7791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Conceptual illustration. Treated group: grids near new stations. Control group: eligible comparison grids.</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Goal: similar representations should find similar response paths; also check amount and direction.</a:t>
            </a:r>
          </a:p>
        </p:txBody>
      </p:sp>
      <p:sp>
        <p:nvSpPr>
          <p:cNvPr id="6" name="seminar-page-number">
            <a:extLst xmlns:a="http://schemas.openxmlformats.org/drawingml/2006/main">
              <a:ext uri="{FF2B5EF4-FFF2-40B4-BE49-F238E27FC236}">
                <a16:creationId xmlns:a16="http://schemas.microsoft.com/office/drawing/2014/main" id="{70103051-B08E-49D8-BAC0-3277C737830E}"/>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4</a:t>
            </a:r>
          </a:p>
        </p:txBody>
      </p:sp>
    </p:spTree>
    <p:extLst>
      <p:ext uri="{BB962C8B-B14F-4D97-AF65-F5344CB8AC3E}">
        <p14:creationId xmlns:p14="http://schemas.microsoft.com/office/powerpoint/2010/main" val="12767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Data: station openings across 44 cities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bd8b9d1cb374bbe"/>
          <a:stretch xmlns:a="http://schemas.openxmlformats.org/drawingml/2006/main"/>
        </p:blipFill>
        <p:spPr>
          <a:xfrm xmlns:a="http://schemas.openxmlformats.org/drawingml/2006/main">
            <a:off x="723900" y="1257300"/>
            <a:ext cx="7791450" cy="2813780"/>
          </a:xfrm>
          <a:prstGeom xmlns:a="http://schemas.openxmlformats.org/drawingml/2006/main" prst="rect">
            <a:avLst/>
          </a:prstGeom>
        </p:spPr>
      </p:pic>
      <p:sp>
        <p:nvSpPr>
          <p:cNvPr id="10" name="urban-text-29">
            <a:extLst xmlns:a="http://schemas.openxmlformats.org/drawingml/2006/main">
              <a:ext uri="{FF2B5EF4-FFF2-40B4-BE49-F238E27FC236}">
                <a16:creationId xmlns:a16="http://schemas.microsoft.com/office/drawing/2014/main" id="{063935ED-B5AB-41BF-8B91-0276EDD12773}"/>
              </a:ext>
            </a:extLst>
          </p:cNvPr>
          <p:cNvSpPr>
            <a:spLocks xmlns:a="http://schemas.openxmlformats.org/drawingml/2006/main" noGrp="1"/>
          </p:cNvSpPr>
          <p:nvPr/>
        </p:nvSpPr>
        <p:spPr>
          <a:xfrm xmlns:a="http://schemas.openxmlformats.org/drawingml/2006/main">
            <a:off x="723900" y="4143375"/>
            <a:ext cx="779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242424"/>
                </a:solidFill>
                <a:latin typeface="UCL Sans"/>
                <a:ea typeface="UCL Sans"/>
                <a:cs typeface="UCL Sans"/>
              </a:defRPr>
            </a:pPr>
            <a:r>
              <a:rPr sz="1575" b="0">
                <a:solidFill>
                  <a:srgbClr val="242424"/>
                </a:solidFill>
                <a:latin typeface="UCL Sans"/>
                <a:ea typeface="UCL Sans"/>
                <a:cs typeface="UCL Sans"/>
              </a:rPr>
              <a:t>VIIRS: 6 horizons (1–24 months)    |    POI: 4 outcomes × 3 years</a:t>
            </a:r>
          </a:p>
        </p:txBody>
      </p:sp>
      <p:sp>
        <p:nvSpPr>
          <p:cNvPr id="11" name="urban-text-30">
            <a:extLst xmlns:a="http://schemas.openxmlformats.org/drawingml/2006/main">
              <a:ext uri="{FF2B5EF4-FFF2-40B4-BE49-F238E27FC236}">
                <a16:creationId xmlns:a16="http://schemas.microsoft.com/office/drawing/2014/main" id="{2C9BBEC7-227B-4A41-889C-0AED38C233E7}"/>
              </a:ext>
            </a:extLst>
          </p:cNvPr>
          <p:cNvSpPr>
            <a:spLocks xmlns:a="http://schemas.openxmlformats.org/drawingml/2006/main" noGrp="1"/>
          </p:cNvSpPr>
          <p:nvPr/>
        </p:nvSpPr>
        <p:spPr>
          <a:xfrm xmlns:a="http://schemas.openxmlformats.org/drawingml/2006/main">
            <a:off x="723900" y="4562475"/>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Annual housing, POI, lights, population and Sentinel-2 features use 1–3 year lags.</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Coverage and design support define eligible labels; preprocessing uses training-side cities.</a:t>
            </a:r>
          </a:p>
        </p:txBody>
      </p:sp>
      <p:sp>
        <p:nvSpPr>
          <p:cNvPr id="13" name="seminar-page-number">
            <a:extLst xmlns:a="http://schemas.openxmlformats.org/drawingml/2006/main">
              <a:ext uri="{FF2B5EF4-FFF2-40B4-BE49-F238E27FC236}">
                <a16:creationId xmlns:a16="http://schemas.microsoft.com/office/drawing/2014/main" id="{6F146E14-FA2D-40FB-AAD6-29232DDF1375}"/>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5</a:t>
            </a:r>
          </a:p>
        </p:txBody>
      </p:sp>
    </p:spTree>
    <p:extLst>
      <p:ext uri="{BB962C8B-B14F-4D97-AF65-F5344CB8AC3E}">
        <p14:creationId xmlns:p14="http://schemas.microsoft.com/office/powerpoint/2010/main" val="12767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Causal labels: method routing and a frozen dataset</a:t>
            </a:r>
          </a:p>
        </p:txBody>
      </p:sp>
      <p:sp>
        <p:nvSpPr>
          <p:cNvPr id="3" name="urban-text-31">
            <a:extLst xmlns:a="http://schemas.openxmlformats.org/drawingml/2006/main">
              <a:ext uri="{FF2B5EF4-FFF2-40B4-BE49-F238E27FC236}">
                <a16:creationId xmlns:a16="http://schemas.microsoft.com/office/drawing/2014/main" id="{80E91AA0-21A5-4A7A-9F55-54AA7A383583}"/>
              </a:ext>
            </a:extLst>
          </p:cNvPr>
          <p:cNvSpPr>
            <a:spLocks xmlns:a="http://schemas.openxmlformats.org/drawingml/2006/main" noGrp="1"/>
          </p:cNvSpPr>
          <p:nvPr/>
        </p:nvSpPr>
        <p:spPr>
          <a:xfrm xmlns:a="http://schemas.openxmlformats.org/drawingml/2006/main">
            <a:off x="723900" y="1114425"/>
            <a:ext cx="7791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2C7A78"/>
                </a:solidFill>
                <a:latin typeface="UCL Sans"/>
                <a:ea typeface="UCL Sans"/>
                <a:cs typeface="UCL Sans"/>
              </a:defRPr>
            </a:pPr>
            <a:r>
              <a:rPr sz="1425" b="1">
                <a:solidFill>
                  <a:srgbClr val="2C7A78"/>
                </a:solidFill>
                <a:latin typeface="UCL Sans"/>
                <a:ea typeface="UCL Sans"/>
                <a:cs typeface="UCL Sans"/>
              </a:rPr>
              <a:t>Prefer within-city designs; extend across cities when support requires it.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5cf910f7b1d404b"/>
          <a:stretch xmlns:a="http://schemas.openxmlformats.org/drawingml/2006/main"/>
        </p:blipFill>
        <p:spPr>
          <a:xfrm xmlns:a="http://schemas.openxmlformats.org/drawingml/2006/main">
            <a:off x="723900" y="1468417"/>
            <a:ext cx="7791450" cy="3387765"/>
          </a:xfrm>
          <a:prstGeom xmlns:a="http://schemas.openxmlformats.org/drawingml/2006/main" prst="rect">
            <a:avLst/>
          </a:prstGeom>
        </p:spPr>
      </p:pic>
      <p:sp>
        <p:nvSpPr>
          <p:cNvPr id="5" name="seminar-page-number">
            <a:extLst xmlns:a="http://schemas.openxmlformats.org/drawingml/2006/main">
              <a:ext uri="{FF2B5EF4-FFF2-40B4-BE49-F238E27FC236}">
                <a16:creationId xmlns:a16="http://schemas.microsoft.com/office/drawing/2014/main" id="{918A7EDF-41FE-4BBE-8F6C-DCB3198B89C7}"/>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6</a:t>
            </a:r>
          </a:p>
        </p:txBody>
      </p:sp>
    </p:spTree>
    <p:extLst>
      <p:ext uri="{BB962C8B-B14F-4D97-AF65-F5344CB8AC3E}">
        <p14:creationId xmlns:p14="http://schemas.microsoft.com/office/powerpoint/2010/main" val="12767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Matching: compare changes in the two groups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7466359cb84190"/>
          <a:stretch xmlns:a="http://schemas.openxmlformats.org/drawingml/2006/main"/>
        </p:blipFill>
        <p:spPr>
          <a:xfrm xmlns:a="http://schemas.openxmlformats.org/drawingml/2006/main">
            <a:off x="1619250" y="3562350"/>
            <a:ext cx="6000750" cy="828675"/>
          </a:xfrm>
          <a:prstGeom xmlns:a="http://schemas.openxmlformats.org/drawingml/2006/main" prst="rect">
            <a:avLst/>
          </a:prstGeom>
        </p:spPr>
      </p:pic>
      <p:sp>
        <p:nvSpPr>
          <p:cNvPr id="11" name="matching-details">
            <a:extLst xmlns:a="http://schemas.openxmlformats.org/drawingml/2006/main">
              <a:ext uri="{FF2B5EF4-FFF2-40B4-BE49-F238E27FC236}">
                <a16:creationId xmlns:a16="http://schemas.microsoft.com/office/drawing/2014/main" id="{0C36B0F5-C0E4-4D04-B930-0686FE79D99F}"/>
              </a:ext>
            </a:extLst>
          </p:cNvPr>
          <p:cNvSpPr>
            <a:spLocks xmlns:a="http://schemas.openxmlformats.org/drawingml/2006/main" noGrp="1"/>
          </p:cNvSpPr>
          <p:nvPr/>
        </p:nvSpPr>
        <p:spPr>
          <a:xfrm xmlns:a="http://schemas.openxmlformats.org/drawingml/2006/main">
            <a:off x="723900" y="45434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c(i): fixed matched grid from the control group. Each treated grid gets its own response path.</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Baseline: months −18 to −7 (−6 to −1 anticipation); annual: previous year.</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Similar pre-opening trends and a suitable control group support Matching. Imai et al. (2023). Conceptual figure.</a:t>
            </a:r>
          </a:p>
        </p:txBody>
      </p:sp>
      <p:sp>
        <p:nvSpPr>
          <p:cNvPr id="12" name="seminar-page-number">
            <a:extLst xmlns:a="http://schemas.openxmlformats.org/drawingml/2006/main">
              <a:ext uri="{FF2B5EF4-FFF2-40B4-BE49-F238E27FC236}">
                <a16:creationId xmlns:a16="http://schemas.microsoft.com/office/drawing/2014/main" id="{9549F06A-7221-418C-A60B-525CFF5F6FBD}"/>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7</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48fe7ed97f54dc2"/>
          <a:stretch xmlns:a="http://schemas.openxmlformats.org/drawingml/2006/main"/>
        </p:blipFill>
        <p:spPr>
          <a:xfrm xmlns:a="http://schemas.openxmlformats.org/drawingml/2006/main">
            <a:off x="1133475" y="1181100"/>
            <a:ext cx="6972300" cy="2324100"/>
          </a:xfrm>
          <a:prstGeom xmlns:a="http://schemas.openxmlformats.org/drawingml/2006/main" prst="rect">
            <a:avLst/>
          </a:prstGeom>
        </p:spPr>
      </p:pic>
    </p:spTree>
    <p:extLst>
      <p:ext uri="{BB962C8B-B14F-4D97-AF65-F5344CB8AC3E}">
        <p14:creationId xmlns:p14="http://schemas.microsoft.com/office/powerpoint/2010/main" val="12767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GSC and MC: predict the path without opening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b8a41d7bdc541f4"/>
          <a:stretch xmlns:a="http://schemas.openxmlformats.org/drawingml/2006/main"/>
        </p:blipFill>
        <p:spPr>
          <a:xfrm xmlns:a="http://schemas.openxmlformats.org/drawingml/2006/main">
            <a:off x="981075" y="3705225"/>
            <a:ext cx="3143250" cy="50673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9d249d6f9be4b0c"/>
          <a:stretch xmlns:a="http://schemas.openxmlformats.org/drawingml/2006/main"/>
        </p:blipFill>
        <p:spPr>
          <a:xfrm xmlns:a="http://schemas.openxmlformats.org/drawingml/2006/main">
            <a:off x="5448300" y="3705225"/>
            <a:ext cx="2571750" cy="568643"/>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babfd22eaf1415b"/>
          <a:stretch xmlns:a="http://schemas.openxmlformats.org/drawingml/2006/main"/>
        </p:blipFill>
        <p:spPr>
          <a:xfrm xmlns:a="http://schemas.openxmlformats.org/drawingml/2006/main">
            <a:off x="1133475" y="1228725"/>
            <a:ext cx="6972300" cy="2324100"/>
          </a:xfrm>
          <a:prstGeom xmlns:a="http://schemas.openxmlformats.org/drawingml/2006/main" prst="rect">
            <a:avLst/>
          </a:prstGeom>
        </p:spPr>
      </p:pic>
      <p:sp>
        <p:nvSpPr>
          <p:cNvPr id="14" name="counterfactual-meaning">
            <a:extLst xmlns:a="http://schemas.openxmlformats.org/drawingml/2006/main">
              <a:ext uri="{FF2B5EF4-FFF2-40B4-BE49-F238E27FC236}">
                <a16:creationId xmlns:a16="http://schemas.microsoft.com/office/drawing/2014/main" id="{8520A7CB-4F4E-4EB9-A6F1-828724F609BB}"/>
              </a:ext>
            </a:extLst>
          </p:cNvPr>
          <p:cNvSpPr>
            <a:spLocks xmlns:a="http://schemas.openxmlformats.org/drawingml/2006/main" noGrp="1"/>
          </p:cNvSpPr>
          <p:nvPr/>
        </p:nvSpPr>
        <p:spPr>
          <a:xfrm xmlns:a="http://schemas.openxmlformats.org/drawingml/2006/main">
            <a:off x="723900" y="4324350"/>
            <a:ext cx="7791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8B3247"/>
                </a:solidFill>
                <a:latin typeface="UCL Sans"/>
                <a:ea typeface="UCL Sans"/>
                <a:cs typeface="UCL Sans"/>
              </a:defRPr>
            </a:pPr>
            <a:r>
              <a:rPr sz="1500" b="1">
                <a:solidFill>
                  <a:srgbClr val="8B3247"/>
                </a:solidFill>
                <a:latin typeface="UCL Sans"/>
                <a:ea typeface="UCL Sans"/>
                <a:cs typeface="UCL Sans"/>
              </a:rPr>
              <a:t>Response = observed outcome − predicted outcome without opening</a:t>
            </a:r>
          </a:p>
        </p:txBody>
      </p:sp>
      <p:sp>
        <p:nvSpPr>
          <p:cNvPr id="15" name="counterfactual-details">
            <a:extLst xmlns:a="http://schemas.openxmlformats.org/drawingml/2006/main">
              <a:ext uri="{FF2B5EF4-FFF2-40B4-BE49-F238E27FC236}">
                <a16:creationId xmlns:a16="http://schemas.microsoft.com/office/drawing/2014/main" id="{F14D81A6-2C8F-4523-9948-2979E15D70A9}"/>
              </a:ext>
            </a:extLst>
          </p:cNvPr>
          <p:cNvSpPr>
            <a:spLocks xmlns:a="http://schemas.openxmlformats.org/drawingml/2006/main" noGrp="1"/>
          </p:cNvSpPr>
          <p:nvPr/>
        </p:nvSpPr>
        <p:spPr>
          <a:xfrm xmlns:a="http://schemas.openxmlformats.org/drawingml/2006/main">
            <a:off x="723900" y="4705350"/>
            <a:ext cx="7791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13" b="0">
                <a:solidFill>
                  <a:srgbClr val="67635F"/>
                </a:solidFill>
                <a:latin typeface="UCL Sans"/>
                <a:ea typeface="UCL Sans"/>
                <a:cs typeface="UCL Sans"/>
              </a:defRPr>
            </a:pPr>
            <a:r>
              <a:rPr sz="1013" b="0">
                <a:solidFill>
                  <a:srgbClr val="67635F"/>
                </a:solidFill>
                <a:latin typeface="UCL Sans"/>
                <a:ea typeface="UCL Sans"/>
                <a:cs typeface="UCL Sans"/>
              </a:rPr>
              <a:t>GSC: factors and loadings; MC: fixed effects and a low-rank matrix. Both need pre-period and control group support.</a:t>
            </a:r>
          </a:p>
          <a:p xmlns:a="http://schemas.openxmlformats.org/drawingml/2006/main">
            <a:pPr algn="l">
              <a:buNone/>
              <a:defRPr sz="1013" b="0">
                <a:solidFill>
                  <a:srgbClr val="67635F"/>
                </a:solidFill>
                <a:latin typeface="UCL Sans"/>
                <a:ea typeface="UCL Sans"/>
                <a:cs typeface="UCL Sans"/>
              </a:defRPr>
            </a:pPr>
            <a:r>
              <a:rPr sz="1013" b="0">
                <a:solidFill>
                  <a:srgbClr val="67635F"/>
                </a:solidFill>
                <a:latin typeface="UCL Sans"/>
                <a:ea typeface="UCL Sans"/>
                <a:cs typeface="UCL Sans"/>
              </a:rPr>
              <a:t>Uncertainty: GSC bootstrap; MC jackknife. Xu (2017); Athey et al. (2021). Conceptual illustration.</a:t>
            </a:r>
          </a:p>
        </p:txBody>
      </p:sp>
      <p:sp>
        <p:nvSpPr>
          <p:cNvPr id="16" name="seminar-page-number">
            <a:extLst xmlns:a="http://schemas.openxmlformats.org/drawingml/2006/main">
              <a:ext uri="{FF2B5EF4-FFF2-40B4-BE49-F238E27FC236}">
                <a16:creationId xmlns:a16="http://schemas.microsoft.com/office/drawing/2014/main" id="{60017B49-1020-46CC-A0D8-B2FE51BE0935}"/>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8</a:t>
            </a:r>
          </a:p>
        </p:txBody>
      </p:sp>
    </p:spTree>
    <p:extLst>
      <p:ext uri="{BB962C8B-B14F-4D97-AF65-F5344CB8AC3E}">
        <p14:creationId xmlns:p14="http://schemas.microsoft.com/office/powerpoint/2010/main" val="12767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Event study: pre-opening trends and dynamic effects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a1612457bcc4c97"/>
          <a:stretch xmlns:a="http://schemas.openxmlformats.org/drawingml/2006/main"/>
        </p:blipFill>
        <p:spPr>
          <a:xfrm xmlns:a="http://schemas.openxmlformats.org/drawingml/2006/main">
            <a:off x="1571625" y="1224536"/>
            <a:ext cx="6096000" cy="1037079"/>
          </a:xfrm>
          <a:prstGeom xmlns:a="http://schemas.openxmlformats.org/drawingml/2006/main" prst="rect">
            <a:avLst/>
          </a:prstGeom>
        </p:spPr>
      </p:pic>
      <p:sp>
        <p:nvSpPr>
          <p:cNvPr id="4" name="urban-text-45">
            <a:extLst xmlns:a="http://schemas.openxmlformats.org/drawingml/2006/main">
              <a:ext uri="{FF2B5EF4-FFF2-40B4-BE49-F238E27FC236}">
                <a16:creationId xmlns:a16="http://schemas.microsoft.com/office/drawing/2014/main" id="{9BEAE03E-DF56-4D74-BAB6-5108D1EE91BB}"/>
              </a:ext>
            </a:extLst>
          </p:cNvPr>
          <p:cNvSpPr>
            <a:spLocks xmlns:a="http://schemas.openxmlformats.org/drawingml/2006/main" noGrp="1"/>
          </p:cNvSpPr>
          <p:nvPr/>
        </p:nvSpPr>
        <p:spPr>
          <a:xfrm xmlns:a="http://schemas.openxmlformats.org/drawingml/2006/main">
            <a:off x="723900" y="2533650"/>
            <a:ext cx="7791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242424"/>
                </a:solidFill>
                <a:latin typeface="UCL Sans"/>
                <a:ea typeface="UCL Sans"/>
                <a:cs typeface="UCL Sans"/>
              </a:defRPr>
            </a:pPr>
            <a:r>
              <a:rPr sz="1725" b="0">
                <a:solidFill>
                  <a:srgbClr val="242424"/>
                </a:solidFill>
                <a:latin typeface="UCL Sans"/>
                <a:ea typeface="UCL Sans"/>
                <a:cs typeface="UCL Sans"/>
              </a:rPr>
              <a:t>Before opening: assess the parallel trends assumption.</a:t>
            </a:r>
          </a:p>
          <a:p xmlns:a="http://schemas.openxmlformats.org/drawingml/2006/main">
            <a:pPr algn="l">
              <a:buNone/>
              <a:defRPr sz="1725" b="0">
                <a:solidFill>
                  <a:srgbClr val="242424"/>
                </a:solidFill>
                <a:latin typeface="UCL Sans"/>
                <a:ea typeface="UCL Sans"/>
                <a:cs typeface="UCL Sans"/>
              </a:defRPr>
            </a:pPr>
            <a:r>
              <a:rPr sz="1725" b="0">
                <a:solidFill>
                  <a:srgbClr val="242424"/>
                </a:solidFill>
                <a:latin typeface="UCL Sans"/>
                <a:ea typeface="UCL Sans"/>
                <a:cs typeface="UCL Sans"/>
              </a:rPr>
              <a:t>After opening: show how the estimated effects change over time.</a:t>
            </a:r>
          </a:p>
        </p:txBody>
      </p:sp>
      <p:sp>
        <p:nvSpPr>
          <p:cNvPr id="5" name="urban-text-46">
            <a:extLst xmlns:a="http://schemas.openxmlformats.org/drawingml/2006/main">
              <a:ext uri="{FF2B5EF4-FFF2-40B4-BE49-F238E27FC236}">
                <a16:creationId xmlns:a16="http://schemas.microsoft.com/office/drawing/2014/main" id="{993D9C26-16D1-4028-9E20-7E913C9FB200}"/>
              </a:ext>
            </a:extLst>
          </p:cNvPr>
          <p:cNvSpPr>
            <a:spLocks xmlns:a="http://schemas.openxmlformats.org/drawingml/2006/main" noGrp="1"/>
          </p:cNvSpPr>
          <p:nvPr/>
        </p:nvSpPr>
        <p:spPr>
          <a:xfrm xmlns:a="http://schemas.openxmlformats.org/drawingml/2006/main">
            <a:off x="723900" y="3114675"/>
            <a:ext cx="7791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242424"/>
                </a:solidFill>
                <a:latin typeface="UCL Sans"/>
                <a:ea typeface="UCL Sans"/>
                <a:cs typeface="UCL Sans"/>
              </a:defRPr>
            </a:pPr>
            <a:r>
              <a:rPr sz="1725" b="0">
                <a:solidFill>
                  <a:srgbClr val="242424"/>
                </a:solidFill>
                <a:latin typeface="UCL Sans"/>
                <a:ea typeface="UCL Sans"/>
                <a:cs typeface="UCL Sans"/>
              </a:rPr>
              <a:t>The control group follows the treated group’s opening dates; h = −1 is the reference.</a:t>
            </a:r>
          </a:p>
        </p:txBody>
      </p:sp>
      <p:sp>
        <p:nvSpPr>
          <p:cNvPr id="6" name="urban-text-47">
            <a:extLst xmlns:a="http://schemas.openxmlformats.org/drawingml/2006/main">
              <a:ext uri="{FF2B5EF4-FFF2-40B4-BE49-F238E27FC236}">
                <a16:creationId xmlns:a16="http://schemas.microsoft.com/office/drawing/2014/main" id="{90E9A3C7-F068-4DD2-9A4F-30F1C158F37F}"/>
              </a:ext>
            </a:extLst>
          </p:cNvPr>
          <p:cNvSpPr>
            <a:spLocks xmlns:a="http://schemas.openxmlformats.org/drawingml/2006/main" noGrp="1"/>
          </p:cNvSpPr>
          <p:nvPr/>
        </p:nvSpPr>
        <p:spPr>
          <a:xfrm xmlns:a="http://schemas.openxmlformats.org/drawingml/2006/main">
            <a:off x="723900" y="3762375"/>
            <a:ext cx="7791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242424"/>
                </a:solidFill>
                <a:latin typeface="UCL Sans"/>
                <a:ea typeface="UCL Sans"/>
                <a:cs typeface="UCL Sans"/>
              </a:defRPr>
            </a:pPr>
            <a:r>
              <a:rPr sz="1725" b="0">
                <a:solidFill>
                  <a:srgbClr val="242424"/>
                </a:solidFill>
                <a:latin typeface="UCL Sans"/>
                <a:ea typeface="UCL Sans"/>
                <a:cs typeface="UCL Sans"/>
              </a:rPr>
              <a:t>βₕ shows the average path; rᵢ,ₕ is the response for each treated grid.</a:t>
            </a:r>
          </a:p>
        </p:txBody>
      </p:sp>
      <p:sp>
        <p:nvSpPr>
          <p:cNvPr id="7" name="urban-text-48">
            <a:extLst xmlns:a="http://schemas.openxmlformats.org/drawingml/2006/main">
              <a:ext uri="{FF2B5EF4-FFF2-40B4-BE49-F238E27FC236}">
                <a16:creationId xmlns:a16="http://schemas.microsoft.com/office/drawing/2014/main" id="{EAD4E282-B806-4F80-B664-AF106BE8D627}"/>
              </a:ext>
            </a:extLst>
          </p:cNvPr>
          <p:cNvSpPr>
            <a:spLocks xmlns:a="http://schemas.openxmlformats.org/drawingml/2006/main" noGrp="1"/>
          </p:cNvSpPr>
          <p:nvPr/>
        </p:nvSpPr>
        <p:spPr>
          <a:xfrm xmlns:a="http://schemas.openxmlformats.org/drawingml/2006/main">
            <a:off x="723900" y="4543425"/>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TWFE event study: staggered openings and heterogeneous effects shape its interpretation.</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Sun &amp; Abraham (2021); Goodman-Bacon (2021).</a:t>
            </a:r>
          </a:p>
        </p:txBody>
      </p:sp>
      <p:sp>
        <p:nvSpPr>
          <p:cNvPr id="9" name="seminar-page-number">
            <a:extLst xmlns:a="http://schemas.openxmlformats.org/drawingml/2006/main">
              <a:ext uri="{FF2B5EF4-FFF2-40B4-BE49-F238E27FC236}">
                <a16:creationId xmlns:a16="http://schemas.microsoft.com/office/drawing/2014/main" id="{98DBF1F3-A619-4A24-A68E-BE012A9BFB24}"/>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9</a:t>
            </a:r>
          </a:p>
        </p:txBody>
      </p:sp>
    </p:spTree>
    <p:extLst>
      <p:ext uri="{BB962C8B-B14F-4D97-AF65-F5344CB8AC3E}">
        <p14:creationId xmlns:p14="http://schemas.microsoft.com/office/powerpoint/2010/main" val="127674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Pre-treatment diagnostics: evidence by method</a:t>
            </a:r>
          </a:p>
        </p:txBody>
      </p:sp>
      <p:graphicFrame>
        <p:nvGraphicFramePr>
          <p:cNvPr id="10" name=""/>
          <p:cNvGraphicFramePr/>
          <p:nvPr/>
        </p:nvGraphicFramePr>
        <p:xfrm>
          <a:off xmlns:a="http://schemas.openxmlformats.org/drawingml/2006/main" x="723900" y="1362075"/>
          <a:ext xmlns:a="http://schemas.openxmlformats.org/drawingml/2006/main" cx="7791450" cy="2657475"/>
        </p:xfrm>
        <a:graphic xmlns:a="http://schemas.openxmlformats.org/drawingml/2006/main">
          <a:graphicData uri="http://schemas.openxmlformats.org/drawingml/2006/table">
            <a:tbl>
              <a:tblPr/>
              <a:tblGrid>
                <a:gridCol w="1666875"/>
                <a:gridCol w="2047875"/>
                <a:gridCol w="2038350"/>
                <a:gridCol w="2038350"/>
              </a:tblGrid>
              <a:tr h="531495">
                <a:tc>
                  <a:txBody>
                    <a:bodyPr wrap="square" lIns="95250" tIns="57150" rIns="76200" bIns="57150">
                      <a:noAutofit/>
                    </a:bodyPr>
                    <a:lstStyle/>
                    <a:p>
                      <a:pPr algn="l">
                        <a:buNone/>
                      </a:pPr>
                      <a:r>
                        <a:rPr sz="1500" b="1">
                          <a:solidFill>
                            <a:srgbClr val="FFFFFF"/>
                          </a:solidFill>
                          <a:latin typeface="UCL Sans"/>
                          <a:ea typeface="UCL Sans"/>
                          <a:cs typeface="UCL Sans"/>
                        </a:rPr>
                        <a:t>Outcome</a:t>
                      </a:r>
                    </a:p>
                  </a:txBody>
                  <a:tcPr marL="91440" marR="91440" marT="45720" marB="45720" anchor="ctr">
                    <a:solidFill>
                      <a:srgbClr val="27445C"/>
                    </a:solidFill>
                  </a:tcPr>
                </a:tc>
                <a:tc>
                  <a:txBody>
                    <a:bodyPr wrap="square" lIns="95250" tIns="57150" rIns="76200" bIns="57150">
                      <a:noAutofit/>
                    </a:bodyPr>
                    <a:lstStyle/>
                    <a:p>
                      <a:pPr algn="l">
                        <a:buNone/>
                      </a:pPr>
                      <a:r>
                        <a:rPr sz="1500" b="1">
                          <a:solidFill>
                            <a:srgbClr val="FFFFFF"/>
                          </a:solidFill>
                          <a:latin typeface="UCL Sans"/>
                          <a:ea typeface="UCL Sans"/>
                          <a:cs typeface="UCL Sans"/>
                        </a:rPr>
                        <a:t>Matching</a:t>
                      </a:r>
                    </a:p>
                    <a:p>
                      <a:pPr algn="l">
                        <a:buNone/>
                      </a:pPr>
                      <a:r>
                        <a:rPr sz="1500" b="1">
                          <a:solidFill>
                            <a:srgbClr val="FFFFFF"/>
                          </a:solidFill>
                          <a:latin typeface="UCL Sans"/>
                          <a:ea typeface="UCL Sans"/>
                          <a:cs typeface="UCL Sans"/>
                        </a:rPr>
                        <a:t>Joint Wald p</a:t>
                      </a:r>
                    </a:p>
                  </a:txBody>
                  <a:tcPr marL="91440" marR="91440" marT="45720" marB="45720" anchor="ctr">
                    <a:solidFill>
                      <a:srgbClr val="27445C"/>
                    </a:solidFill>
                  </a:tcPr>
                </a:tc>
                <a:tc>
                  <a:txBody>
                    <a:bodyPr wrap="square" lIns="95250" tIns="57150" rIns="76200" bIns="57150">
                      <a:noAutofit/>
                    </a:bodyPr>
                    <a:lstStyle/>
                    <a:p>
                      <a:pPr algn="l">
                        <a:buNone/>
                      </a:pPr>
                      <a:r>
                        <a:rPr sz="1500" b="1">
                          <a:solidFill>
                            <a:srgbClr val="FFFFFF"/>
                          </a:solidFill>
                          <a:latin typeface="UCL Sans"/>
                          <a:ea typeface="UCL Sans"/>
                          <a:cs typeface="UCL Sans"/>
                        </a:rPr>
                        <a:t>GSC</a:t>
                      </a:r>
                    </a:p>
                    <a:p>
                      <a:pPr algn="l">
                        <a:buNone/>
                      </a:pPr>
                      <a:r>
                        <a:rPr sz="1500" b="1">
                          <a:solidFill>
                            <a:srgbClr val="FFFFFF"/>
                          </a:solidFill>
                          <a:latin typeface="UCL Sans"/>
                          <a:ea typeface="UCL Sans"/>
                          <a:cs typeface="UCL Sans"/>
                        </a:rPr>
                        <a:t>Mean-gap p</a:t>
                      </a:r>
                    </a:p>
                  </a:txBody>
                  <a:tcPr marL="91440" marR="91440" marT="45720" marB="45720" anchor="ctr">
                    <a:solidFill>
                      <a:srgbClr val="27445C"/>
                    </a:solidFill>
                  </a:tcPr>
                </a:tc>
                <a:tc>
                  <a:txBody>
                    <a:bodyPr wrap="square" lIns="95250" tIns="57150" rIns="76200" bIns="57150">
                      <a:noAutofit/>
                    </a:bodyPr>
                    <a:lstStyle/>
                    <a:p>
                      <a:pPr algn="l">
                        <a:buNone/>
                      </a:pPr>
                      <a:r>
                        <a:rPr sz="1500" b="1">
                          <a:solidFill>
                            <a:srgbClr val="FFFFFF"/>
                          </a:solidFill>
                          <a:latin typeface="UCL Sans"/>
                          <a:ea typeface="UCL Sans"/>
                          <a:cs typeface="UCL Sans"/>
                        </a:rPr>
                        <a:t>MC</a:t>
                      </a:r>
                    </a:p>
                    <a:p>
                      <a:pPr algn="l">
                        <a:buNone/>
                      </a:pPr>
                      <a:r>
                        <a:rPr sz="1500" b="1">
                          <a:solidFill>
                            <a:srgbClr val="FFFFFF"/>
                          </a:solidFill>
                          <a:latin typeface="UCL Sans"/>
                          <a:ea typeface="UCL Sans"/>
                          <a:cs typeface="UCL Sans"/>
                        </a:rPr>
                        <a:t>Mean-gap p</a:t>
                      </a:r>
                    </a:p>
                  </a:txBody>
                  <a:tcPr marL="91440" marR="91440" marT="45720" marB="45720" anchor="ctr">
                    <a:solidFill>
                      <a:srgbClr val="27445C"/>
                    </a:solidFill>
                  </a:tcPr>
                </a:tc>
              </a:tr>
              <a:tr h="531495">
                <a:tc>
                  <a:txBody>
                    <a:bodyPr wrap="square" lIns="95250" tIns="57150" rIns="76200" bIns="57150">
                      <a:noAutofit/>
                    </a:bodyPr>
                    <a:lstStyle/>
                    <a:p>
                      <a:pPr algn="l">
                        <a:buNone/>
                      </a:pPr>
                      <a:r>
                        <a:rPr sz="1500" b="1">
                          <a:solidFill>
                            <a:srgbClr val="242424"/>
                          </a:solidFill>
                          <a:latin typeface="UCL Sans"/>
                          <a:ea typeface="UCL Sans"/>
                          <a:cs typeface="UCL Sans"/>
                        </a:rPr>
                        <a:t>Housing</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0.055</a:t>
                      </a:r>
                    </a:p>
                  </a:txBody>
                  <a:tcPr marL="91440" marR="91440" marT="45720" marB="45720" anchor="ctr">
                    <a:solidFill>
                      <a:srgbClr val="FFFFFF"/>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a:t>
                      </a:r>
                    </a:p>
                  </a:txBody>
                  <a:tcPr marL="91440" marR="91440" marT="45720" marB="45720" anchor="ctr">
                    <a:solidFill>
                      <a:srgbClr val="FFFFFF"/>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0.955</a:t>
                      </a:r>
                    </a:p>
                  </a:txBody>
                  <a:tcPr marL="91440" marR="91440" marT="45720" marB="45720" anchor="ctr">
                    <a:solidFill>
                      <a:srgbClr val="FFFFFF"/>
                    </a:solidFill>
                  </a:tcPr>
                </a:tc>
              </a:tr>
              <a:tr h="531495">
                <a:tc>
                  <a:txBody>
                    <a:bodyPr wrap="square" lIns="95250" tIns="57150" rIns="76200" bIns="57150">
                      <a:noAutofit/>
                    </a:bodyPr>
                    <a:lstStyle/>
                    <a:p>
                      <a:pPr algn="l">
                        <a:buNone/>
                      </a:pPr>
                      <a:r>
                        <a:rPr sz="1500" b="1">
                          <a:solidFill>
                            <a:srgbClr val="242424"/>
                          </a:solidFill>
                          <a:latin typeface="UCL Sans"/>
                          <a:ea typeface="UCL Sans"/>
                          <a:cs typeface="UCL Sans"/>
                        </a:rPr>
                        <a:t>VIIRS</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0.063</a:t>
                      </a:r>
                    </a:p>
                  </a:txBody>
                  <a:tcPr marL="91440" marR="91440" marT="45720" marB="45720" anchor="ctr">
                    <a:solidFill>
                      <a:srgbClr val="F3F6F8"/>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0.278</a:t>
                      </a:r>
                    </a:p>
                  </a:txBody>
                  <a:tcPr marL="91440" marR="91440" marT="45720" marB="45720" anchor="ctr">
                    <a:solidFill>
                      <a:srgbClr val="F3F6F8"/>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0.364</a:t>
                      </a:r>
                    </a:p>
                  </a:txBody>
                  <a:tcPr marL="91440" marR="91440" marT="45720" marB="45720" anchor="ctr">
                    <a:solidFill>
                      <a:srgbClr val="F3F6F8"/>
                    </a:solidFill>
                  </a:tcPr>
                </a:tc>
              </a:tr>
              <a:tr h="531495">
                <a:tc>
                  <a:txBody>
                    <a:bodyPr wrap="square" lIns="95250" tIns="57150" rIns="76200" bIns="57150">
                      <a:noAutofit/>
                    </a:bodyPr>
                    <a:lstStyle/>
                    <a:p>
                      <a:pPr algn="l">
                        <a:buNone/>
                      </a:pPr>
                      <a:r>
                        <a:rPr sz="1500" b="1">
                          <a:solidFill>
                            <a:srgbClr val="242424"/>
                          </a:solidFill>
                          <a:latin typeface="UCL Sans"/>
                          <a:ea typeface="UCL Sans"/>
                          <a:cs typeface="UCL Sans"/>
                        </a:rPr>
                        <a:t>POI count</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0.072</a:t>
                      </a:r>
                    </a:p>
                  </a:txBody>
                  <a:tcPr marL="91440" marR="91440" marT="45720" marB="45720" anchor="ctr">
                    <a:solidFill>
                      <a:srgbClr val="FFFFFF"/>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0.217</a:t>
                      </a:r>
                    </a:p>
                  </a:txBody>
                  <a:tcPr marL="91440" marR="91440" marT="45720" marB="45720" anchor="ctr">
                    <a:solidFill>
                      <a:srgbClr val="FFFFFF"/>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&lt;0.001</a:t>
                      </a:r>
                    </a:p>
                  </a:txBody>
                  <a:tcPr marL="91440" marR="91440" marT="45720" marB="45720" anchor="ctr">
                    <a:solidFill>
                      <a:srgbClr val="FFFFFF"/>
                    </a:solidFill>
                  </a:tcPr>
                </a:tc>
              </a:tr>
              <a:tr h="531495">
                <a:tc>
                  <a:txBody>
                    <a:bodyPr wrap="square" lIns="95250" tIns="57150" rIns="76200" bIns="57150">
                      <a:noAutofit/>
                    </a:bodyPr>
                    <a:lstStyle/>
                    <a:p>
                      <a:pPr algn="l">
                        <a:buNone/>
                      </a:pPr>
                      <a:r>
                        <a:rPr sz="1500" b="1">
                          <a:solidFill>
                            <a:srgbClr val="242424"/>
                          </a:solidFill>
                          <a:latin typeface="UCL Sans"/>
                          <a:ea typeface="UCL Sans"/>
                          <a:cs typeface="UCL Sans"/>
                        </a:rPr>
                        <a:t>Population</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0.328</a:t>
                      </a:r>
                    </a:p>
                  </a:txBody>
                  <a:tcPr marL="91440" marR="91440" marT="45720" marB="45720" anchor="ctr">
                    <a:solidFill>
                      <a:srgbClr val="F3F6F8"/>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0.002</a:t>
                      </a:r>
                    </a:p>
                  </a:txBody>
                  <a:tcPr marL="91440" marR="91440" marT="45720" marB="45720" anchor="ctr">
                    <a:solidFill>
                      <a:srgbClr val="F3F6F8"/>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&lt;0.001</a:t>
                      </a:r>
                    </a:p>
                  </a:txBody>
                  <a:tcPr marL="91440" marR="91440" marT="45720" marB="45720" anchor="ctr">
                    <a:solidFill>
                      <a:srgbClr val="F3F6F8"/>
                    </a:solidFill>
                  </a:tcPr>
                </a:tc>
              </a:tr>
            </a:tbl>
          </a:graphicData>
        </a:graphic>
      </p:graphicFrame>
      <p:sp>
        <p:nvSpPr>
          <p:cNvPr id="4" name="urban-text-49">
            <a:extLst xmlns:a="http://schemas.openxmlformats.org/drawingml/2006/main">
              <a:ext uri="{FF2B5EF4-FFF2-40B4-BE49-F238E27FC236}">
                <a16:creationId xmlns:a16="http://schemas.microsoft.com/office/drawing/2014/main" id="{B525562C-DBD7-4FEC-9807-212CC6A4CB92}"/>
              </a:ext>
            </a:extLst>
          </p:cNvPr>
          <p:cNvSpPr>
            <a:spLocks xmlns:a="http://schemas.openxmlformats.org/drawingml/2006/main" noGrp="1"/>
          </p:cNvSpPr>
          <p:nvPr/>
        </p:nvSpPr>
        <p:spPr>
          <a:xfrm xmlns:a="http://schemas.openxmlformats.org/drawingml/2006/main">
            <a:off x="723900" y="4238625"/>
            <a:ext cx="7791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8B3247"/>
                </a:solidFill>
                <a:latin typeface="UCL Sans"/>
                <a:ea typeface="UCL Sans"/>
                <a:cs typeface="UCL Sans"/>
              </a:defRPr>
            </a:pPr>
            <a:r>
              <a:rPr sz="1500" b="1">
                <a:solidFill>
                  <a:srgbClr val="8B3247"/>
                </a:solidFill>
                <a:latin typeface="UCL Sans"/>
                <a:ea typeface="UCL Sans"/>
                <a:cs typeface="UCL Sans"/>
              </a:rPr>
              <a:t>Matching pre-trend tests: all p &gt; 0.05; three p &lt; 0.10.</a:t>
            </a:r>
          </a:p>
        </p:txBody>
      </p:sp>
      <p:sp>
        <p:nvSpPr>
          <p:cNvPr id="5" name="urban-text-50">
            <a:extLst xmlns:a="http://schemas.openxmlformats.org/drawingml/2006/main">
              <a:ext uri="{FF2B5EF4-FFF2-40B4-BE49-F238E27FC236}">
                <a16:creationId xmlns:a16="http://schemas.microsoft.com/office/drawing/2014/main" id="{671BBE68-1DF1-4F5B-9CFA-F776A66F6180}"/>
              </a:ext>
            </a:extLst>
          </p:cNvPr>
          <p:cNvSpPr>
            <a:spLocks xmlns:a="http://schemas.openxmlformats.org/drawingml/2006/main" noGrp="1"/>
          </p:cNvSpPr>
          <p:nvPr/>
        </p:nvSpPr>
        <p:spPr>
          <a:xfrm xmlns:a="http://schemas.openxmlformats.org/drawingml/2006/main">
            <a:off x="723900" y="46482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Matching: joint Wald; GSC/MC: mean pre-gap. Grid-clustered tests also flag VIIRS and POI count.</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MC housing/VIIRS: 4/2 cities. Interpret alongside pre-fit and support.</a:t>
            </a:r>
          </a:p>
        </p:txBody>
      </p:sp>
      <p:sp>
        <p:nvSpPr>
          <p:cNvPr id="7" name="seminar-page-number">
            <a:extLst xmlns:a="http://schemas.openxmlformats.org/drawingml/2006/main">
              <a:ext uri="{FF2B5EF4-FFF2-40B4-BE49-F238E27FC236}">
                <a16:creationId xmlns:a16="http://schemas.microsoft.com/office/drawing/2014/main" id="{6C5A5BF6-68BA-44D9-8B92-212E9EBB31AC}"/>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10</a:t>
            </a:r>
          </a:p>
        </p:txBody>
      </p:sp>
    </p:spTree>
    <p:extLst>
      <p:ext uri="{BB962C8B-B14F-4D97-AF65-F5344CB8AC3E}">
        <p14:creationId xmlns:p14="http://schemas.microsoft.com/office/powerpoint/2010/main" val="127674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Nighttime lights: positive effects after opening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4c91dbc437b4a4c"/>
          <a:stretch xmlns:a="http://schemas.openxmlformats.org/drawingml/2006/main"/>
        </p:blipFill>
        <p:spPr>
          <a:xfrm xmlns:a="http://schemas.openxmlformats.org/drawingml/2006/main">
            <a:off x="723900" y="1260755"/>
            <a:ext cx="7791450" cy="2774391"/>
          </a:xfrm>
          <a:prstGeom xmlns:a="http://schemas.openxmlformats.org/drawingml/2006/main" prst="rect">
            <a:avLst/>
          </a:prstGeom>
        </p:spPr>
      </p:pic>
      <p:sp>
        <p:nvSpPr>
          <p:cNvPr id="4" name="urban-text-51">
            <a:extLst xmlns:a="http://schemas.openxmlformats.org/drawingml/2006/main">
              <a:ext uri="{FF2B5EF4-FFF2-40B4-BE49-F238E27FC236}">
                <a16:creationId xmlns:a16="http://schemas.microsoft.com/office/drawing/2014/main" id="{FF3815F1-048E-4811-B759-5228DCDDAB4C}"/>
              </a:ext>
            </a:extLst>
          </p:cNvPr>
          <p:cNvSpPr>
            <a:spLocks xmlns:a="http://schemas.openxmlformats.org/drawingml/2006/main" noGrp="1"/>
          </p:cNvSpPr>
          <p:nvPr/>
        </p:nvSpPr>
        <p:spPr>
          <a:xfrm xmlns:a="http://schemas.openxmlformats.org/drawingml/2006/main">
            <a:off x="723900" y="4276725"/>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B3247"/>
                </a:solidFill>
                <a:latin typeface="UCL Sans"/>
                <a:ea typeface="UCL Sans"/>
                <a:cs typeface="UCL Sans"/>
              </a:defRPr>
            </a:pPr>
            <a:r>
              <a:rPr sz="1650" b="1">
                <a:solidFill>
                  <a:srgbClr val="8B3247"/>
                </a:solidFill>
                <a:latin typeface="UCL Sans"/>
                <a:ea typeface="UCL Sans"/>
                <a:cs typeface="UCL Sans"/>
              </a:rPr>
              <a:t>Matching: positive light effects in the treated group.</a:t>
            </a:r>
          </a:p>
        </p:txBody>
      </p:sp>
      <p:sp>
        <p:nvSpPr>
          <p:cNvPr id="5" name="urban-text-52">
            <a:extLst xmlns:a="http://schemas.openxmlformats.org/drawingml/2006/main">
              <a:ext uri="{FF2B5EF4-FFF2-40B4-BE49-F238E27FC236}">
                <a16:creationId xmlns:a16="http://schemas.microsoft.com/office/drawing/2014/main" id="{4C79B60B-7658-4541-8F29-96DC0C52BC77}"/>
              </a:ext>
            </a:extLst>
          </p:cNvPr>
          <p:cNvSpPr>
            <a:spLocks xmlns:a="http://schemas.openxmlformats.org/drawingml/2006/main" noGrp="1"/>
          </p:cNvSpPr>
          <p:nvPr/>
        </p:nvSpPr>
        <p:spPr>
          <a:xfrm xmlns:a="http://schemas.openxmlformats.org/drawingml/2006/main">
            <a:off x="723900" y="46672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Matching: 43 cities; 6/12/18/24-month city-level 95% CIs above zero; 2,255–2,264 units. Asinh scale.</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Month 24 CI [0.0475, 0.0935]. Panel axes and samples differ; crosses mark fewer than 3 cities.</a:t>
            </a:r>
          </a:p>
        </p:txBody>
      </p:sp>
      <p:sp>
        <p:nvSpPr>
          <p:cNvPr id="7" name="seminar-page-number">
            <a:extLst xmlns:a="http://schemas.openxmlformats.org/drawingml/2006/main">
              <a:ext uri="{FF2B5EF4-FFF2-40B4-BE49-F238E27FC236}">
                <a16:creationId xmlns:a16="http://schemas.microsoft.com/office/drawing/2014/main" id="{250B7649-DD9C-4F1E-8A8A-530EB042C533}"/>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11</a:t>
            </a:r>
          </a:p>
        </p:txBody>
      </p:sp>
    </p:spTree>
    <p:extLst>
      <p:ext uri="{BB962C8B-B14F-4D97-AF65-F5344CB8AC3E}">
        <p14:creationId xmlns:p14="http://schemas.microsoft.com/office/powerpoint/2010/main" val="127674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Local activity: more recorded places after opening</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b7c769563bc40c9"/>
          <a:stretch xmlns:a="http://schemas.openxmlformats.org/drawingml/2006/main"/>
        </p:blipFill>
        <p:spPr>
          <a:xfrm xmlns:a="http://schemas.openxmlformats.org/drawingml/2006/main">
            <a:off x="723900" y="1260755"/>
            <a:ext cx="7791450" cy="2774391"/>
          </a:xfrm>
          <a:prstGeom xmlns:a="http://schemas.openxmlformats.org/drawingml/2006/main" prst="rect">
            <a:avLst/>
          </a:prstGeom>
        </p:spPr>
      </p:pic>
      <p:sp>
        <p:nvSpPr>
          <p:cNvPr id="4" name="urban-text-53">
            <a:extLst xmlns:a="http://schemas.openxmlformats.org/drawingml/2006/main">
              <a:ext uri="{FF2B5EF4-FFF2-40B4-BE49-F238E27FC236}">
                <a16:creationId xmlns:a16="http://schemas.microsoft.com/office/drawing/2014/main" id="{DFE5027E-1F1E-4F11-BDCB-5656971C31D2}"/>
              </a:ext>
            </a:extLst>
          </p:cNvPr>
          <p:cNvSpPr>
            <a:spLocks xmlns:a="http://schemas.openxmlformats.org/drawingml/2006/main" noGrp="1"/>
          </p:cNvSpPr>
          <p:nvPr/>
        </p:nvSpPr>
        <p:spPr>
          <a:xfrm xmlns:a="http://schemas.openxmlformats.org/drawingml/2006/main">
            <a:off x="723900" y="4276725"/>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B3247"/>
                </a:solidFill>
                <a:latin typeface="UCL Sans"/>
                <a:ea typeface="UCL Sans"/>
                <a:cs typeface="UCL Sans"/>
              </a:defRPr>
            </a:pPr>
            <a:r>
              <a:rPr sz="1650" b="1">
                <a:solidFill>
                  <a:srgbClr val="8B3247"/>
                </a:solidFill>
                <a:latin typeface="UCL Sans"/>
                <a:ea typeface="UCL Sans"/>
                <a:cs typeface="UCL Sans"/>
              </a:rPr>
              <a:t>Matching: higher POI counts in the treated group.</a:t>
            </a:r>
          </a:p>
        </p:txBody>
      </p:sp>
      <p:sp>
        <p:nvSpPr>
          <p:cNvPr id="5" name="urban-text-54">
            <a:extLst xmlns:a="http://schemas.openxmlformats.org/drawingml/2006/main">
              <a:ext uri="{FF2B5EF4-FFF2-40B4-BE49-F238E27FC236}">
                <a16:creationId xmlns:a16="http://schemas.microsoft.com/office/drawing/2014/main" id="{5175383C-D8D8-4548-A93B-D661C812264B}"/>
              </a:ext>
            </a:extLst>
          </p:cNvPr>
          <p:cNvSpPr>
            <a:spLocks xmlns:a="http://schemas.openxmlformats.org/drawingml/2006/main" noGrp="1"/>
          </p:cNvSpPr>
          <p:nvPr/>
        </p:nvSpPr>
        <p:spPr>
          <a:xfrm xmlns:a="http://schemas.openxmlformats.org/drawingml/2006/main">
            <a:off x="723900" y="46672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Matching: 44 cities; all three city-level 95% CIs above zero. Log count scale; POI count is an activity proxy.</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Support: 2,476 / 2,242 / 1,947 units. Year 3 CI [0.0701, 0.1564].</a:t>
            </a:r>
          </a:p>
        </p:txBody>
      </p:sp>
      <p:sp>
        <p:nvSpPr>
          <p:cNvPr id="7" name="seminar-page-number">
            <a:extLst xmlns:a="http://schemas.openxmlformats.org/drawingml/2006/main">
              <a:ext uri="{FF2B5EF4-FFF2-40B4-BE49-F238E27FC236}">
                <a16:creationId xmlns:a16="http://schemas.microsoft.com/office/drawing/2014/main" id="{874DD082-FC9E-4525-87DB-D4AFB7E6D5C9}"/>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12</a:t>
            </a:r>
          </a:p>
        </p:txBody>
      </p:sp>
    </p:spTree>
    <p:extLst>
      <p:ext uri="{BB962C8B-B14F-4D97-AF65-F5344CB8AC3E}">
        <p14:creationId xmlns:p14="http://schemas.microsoft.com/office/powerpoint/2010/main" val="127674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Learning target: response shape and consistency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459d53e59b34c76"/>
          <a:stretch xmlns:a="http://schemas.openxmlformats.org/drawingml/2006/main"/>
        </p:blipFill>
        <p:spPr>
          <a:xfrm xmlns:a="http://schemas.openxmlformats.org/drawingml/2006/main">
            <a:off x="3334310" y="1238250"/>
            <a:ext cx="2570629" cy="590550"/>
          </a:xfrm>
          <a:prstGeom xmlns:a="http://schemas.openxmlformats.org/drawingml/2006/main" prst="rect">
            <a:avLst/>
          </a:prstGeom>
        </p:spPr>
      </p:pic>
      <p:sp>
        <p:nvSpPr>
          <p:cNvPr id="4" name="urban-text-55">
            <a:extLst xmlns:a="http://schemas.openxmlformats.org/drawingml/2006/main">
              <a:ext uri="{FF2B5EF4-FFF2-40B4-BE49-F238E27FC236}">
                <a16:creationId xmlns:a16="http://schemas.microsoft.com/office/drawing/2014/main" id="{A2D8A114-71F0-4912-897B-C33EDB726A17}"/>
              </a:ext>
            </a:extLst>
          </p:cNvPr>
          <p:cNvSpPr>
            <a:spLocks xmlns:a="http://schemas.openxmlformats.org/drawingml/2006/main" noGrp="1"/>
          </p:cNvSpPr>
          <p:nvPr/>
        </p:nvSpPr>
        <p:spPr>
          <a:xfrm xmlns:a="http://schemas.openxmlformats.org/drawingml/2006/main">
            <a:off x="723900" y="1943100"/>
            <a:ext cx="7791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7635F"/>
                </a:solidFill>
                <a:latin typeface="UCL Sans"/>
                <a:ea typeface="UCL Sans"/>
                <a:cs typeface="UCL Sans"/>
              </a:defRPr>
            </a:pPr>
            <a:r>
              <a:rPr sz="1500" b="0">
                <a:solidFill>
                  <a:srgbClr val="67635F"/>
                </a:solidFill>
                <a:latin typeface="UCL Sans"/>
                <a:ea typeface="UCL Sans"/>
                <a:cs typeface="UCL Sans"/>
              </a:rPr>
              <a:t>Pearson compares response shape, allowing shifts and positive rescaling.</a:t>
            </a:r>
          </a:p>
          <a:p xmlns:a="http://schemas.openxmlformats.org/drawingml/2006/main">
            <a:pPr algn="ctr">
              <a:buNone/>
              <a:defRPr sz="1500" b="0">
                <a:solidFill>
                  <a:srgbClr val="67635F"/>
                </a:solidFill>
                <a:latin typeface="UCL Sans"/>
                <a:ea typeface="UCL Sans"/>
                <a:cs typeface="UCL Sans"/>
              </a:defRPr>
            </a:pPr>
            <a:r>
              <a:rPr sz="1500" b="0">
                <a:solidFill>
                  <a:srgbClr val="67635F"/>
                </a:solidFill>
                <a:latin typeface="UCL Sans"/>
                <a:ea typeface="UCL Sans"/>
                <a:cs typeface="UCL Sans"/>
              </a:rPr>
              <a:t>Use shared observed cells; evaluate magnitude and direction separately.</a:t>
            </a:r>
          </a:p>
        </p:txBody>
      </p:sp>
      <p:graphicFrame>
        <p:nvGraphicFramePr>
          <p:cNvPr id="16" name=""/>
          <p:cNvGraphicFramePr/>
          <p:nvPr/>
        </p:nvGraphicFramePr>
        <p:xfrm>
          <a:off xmlns:a="http://schemas.openxmlformats.org/drawingml/2006/main" x="1171575" y="2657475"/>
          <a:ext xmlns:a="http://schemas.openxmlformats.org/drawingml/2006/main" cx="6858000" cy="1371600"/>
        </p:xfrm>
        <a:graphic xmlns:a="http://schemas.openxmlformats.org/drawingml/2006/main">
          <a:graphicData uri="http://schemas.openxmlformats.org/drawingml/2006/table">
            <a:tbl>
              <a:tblPr/>
              <a:tblGrid>
                <a:gridCol w="3409950"/>
                <a:gridCol w="1724025"/>
                <a:gridCol w="1724025"/>
              </a:tblGrid>
              <a:tr h="457200">
                <a:tc>
                  <a:txBody>
                    <a:bodyPr wrap="square" lIns="95250" tIns="57150" rIns="76200" bIns="57150">
                      <a:noAutofit/>
                    </a:bodyPr>
                    <a:lstStyle/>
                    <a:p>
                      <a:pPr algn="l">
                        <a:buNone/>
                      </a:pPr>
                      <a:r>
                        <a:rPr sz="1575" b="1">
                          <a:solidFill>
                            <a:srgbClr val="FFFFFF"/>
                          </a:solidFill>
                          <a:latin typeface="UCL Sans"/>
                          <a:ea typeface="UCL Sans"/>
                          <a:cs typeface="UCL Sans"/>
                        </a:rPr>
                        <a:t>Split-half consistency</a:t>
                      </a:r>
                    </a:p>
                    <a:p>
                      <a:pPr algn="l">
                        <a:buNone/>
                      </a:pPr>
                      <a:r>
                        <a:rPr sz="1575" b="1">
                          <a:solidFill>
                            <a:srgbClr val="FFFFFF"/>
                          </a:solidFill>
                          <a:latin typeface="UCL Sans"/>
                          <a:ea typeface="UCL Sans"/>
                          <a:cs typeface="UCL Sans"/>
                        </a:rPr>
                        <a:t>SB corrected</a:t>
                      </a:r>
                    </a:p>
                  </a:txBody>
                  <a:tcPr marL="91440" marR="91440" marT="45720" marB="45720" anchor="ctr">
                    <a:solidFill>
                      <a:srgbClr val="27445C"/>
                    </a:solidFill>
                  </a:tcPr>
                </a:tc>
                <a:tc>
                  <a:txBody>
                    <a:bodyPr wrap="square" lIns="95250" tIns="57150" rIns="76200" bIns="57150">
                      <a:noAutofit/>
                    </a:bodyPr>
                    <a:lstStyle/>
                    <a:p>
                      <a:pPr algn="l">
                        <a:buNone/>
                      </a:pPr>
                      <a:r>
                        <a:rPr sz="1575" b="1">
                          <a:solidFill>
                            <a:srgbClr val="FFFFFF"/>
                          </a:solidFill>
                          <a:latin typeface="UCL Sans"/>
                          <a:ea typeface="UCL Sans"/>
                          <a:cs typeface="UCL Sans"/>
                        </a:rPr>
                        <a:t>VIIRS</a:t>
                      </a:r>
                    </a:p>
                  </a:txBody>
                  <a:tcPr marL="91440" marR="91440" marT="45720" marB="45720" anchor="ctr">
                    <a:solidFill>
                      <a:srgbClr val="27445C"/>
                    </a:solidFill>
                  </a:tcPr>
                </a:tc>
                <a:tc>
                  <a:txBody>
                    <a:bodyPr wrap="square" lIns="95250" tIns="57150" rIns="76200" bIns="57150">
                      <a:noAutofit/>
                    </a:bodyPr>
                    <a:lstStyle/>
                    <a:p>
                      <a:pPr algn="l">
                        <a:buNone/>
                      </a:pPr>
                      <a:r>
                        <a:rPr sz="1575" b="1">
                          <a:solidFill>
                            <a:srgbClr val="FFFFFF"/>
                          </a:solidFill>
                          <a:latin typeface="UCL Sans"/>
                          <a:ea typeface="UCL Sans"/>
                          <a:cs typeface="UCL Sans"/>
                        </a:rPr>
                        <a:t>POI</a:t>
                      </a:r>
                    </a:p>
                  </a:txBody>
                  <a:tcPr marL="91440" marR="91440" marT="45720" marB="45720" anchor="ctr">
                    <a:solidFill>
                      <a:srgbClr val="27445C"/>
                    </a:solidFill>
                  </a:tcPr>
                </a:tc>
              </a:tr>
              <a:tr h="457200">
                <a:tc>
                  <a:txBody>
                    <a:bodyPr wrap="square" lIns="95250" tIns="57150" rIns="76200" bIns="57150">
                      <a:noAutofit/>
                    </a:bodyPr>
                    <a:lstStyle/>
                    <a:p>
                      <a:pPr algn="l">
                        <a:buNone/>
                      </a:pPr>
                      <a:r>
                        <a:rPr sz="1575" b="1">
                          <a:solidFill>
                            <a:srgbClr val="242424"/>
                          </a:solidFill>
                          <a:latin typeface="UCL Sans"/>
                          <a:ea typeface="UCL Sans"/>
                          <a:cs typeface="UCL Sans"/>
                        </a:rPr>
                        <a:t>Matching</a:t>
                      </a:r>
                    </a:p>
                  </a:txBody>
                  <a:tcPr marL="91440" marR="91440" marT="45720" marB="45720" anchor="ctr">
                    <a:solidFill>
                      <a:srgbClr val="E7EEF3"/>
                    </a:solidFill>
                  </a:tcPr>
                </a:tc>
                <a:tc>
                  <a:txBody>
                    <a:bodyPr wrap="square" lIns="95250" tIns="57150" rIns="76200" bIns="57150">
                      <a:noAutofit/>
                    </a:bodyPr>
                    <a:lstStyle/>
                    <a:p>
                      <a:pPr algn="l">
                        <a:buNone/>
                      </a:pPr>
                      <a:r>
                        <a:rPr sz="1575" b="0">
                          <a:solidFill>
                            <a:srgbClr val="242424"/>
                          </a:solidFill>
                          <a:latin typeface="UCL Sans"/>
                          <a:ea typeface="UCL Sans"/>
                          <a:cs typeface="UCL Sans"/>
                        </a:rPr>
                        <a:t>0.806</a:t>
                      </a:r>
                    </a:p>
                  </a:txBody>
                  <a:tcPr marL="91440" marR="91440" marT="45720" marB="45720" anchor="ctr">
                    <a:solidFill>
                      <a:srgbClr val="FFFFFF"/>
                    </a:solidFill>
                  </a:tcPr>
                </a:tc>
                <a:tc>
                  <a:txBody>
                    <a:bodyPr wrap="square" lIns="95250" tIns="57150" rIns="76200" bIns="57150">
                      <a:noAutofit/>
                    </a:bodyPr>
                    <a:lstStyle/>
                    <a:p>
                      <a:pPr algn="l">
                        <a:buNone/>
                      </a:pPr>
                      <a:r>
                        <a:rPr sz="1575" b="0">
                          <a:solidFill>
                            <a:srgbClr val="242424"/>
                          </a:solidFill>
                          <a:latin typeface="UCL Sans"/>
                          <a:ea typeface="UCL Sans"/>
                          <a:cs typeface="UCL Sans"/>
                        </a:rPr>
                        <a:t>0.285</a:t>
                      </a:r>
                    </a:p>
                  </a:txBody>
                  <a:tcPr marL="91440" marR="91440" marT="45720" marB="45720" anchor="ctr">
                    <a:solidFill>
                      <a:srgbClr val="FFFFFF"/>
                    </a:solidFill>
                  </a:tcPr>
                </a:tc>
              </a:tr>
              <a:tr h="457200">
                <a:tc>
                  <a:txBody>
                    <a:bodyPr wrap="square" lIns="95250" tIns="57150" rIns="76200" bIns="57150">
                      <a:noAutofit/>
                    </a:bodyPr>
                    <a:lstStyle/>
                    <a:p>
                      <a:pPr algn="l">
                        <a:buNone/>
                      </a:pPr>
                      <a:r>
                        <a:rPr sz="1575" b="1">
                          <a:solidFill>
                            <a:srgbClr val="242424"/>
                          </a:solidFill>
                          <a:latin typeface="UCL Sans"/>
                          <a:ea typeface="UCL Sans"/>
                          <a:cs typeface="UCL Sans"/>
                        </a:rPr>
                        <a:t>GSC</a:t>
                      </a:r>
                    </a:p>
                  </a:txBody>
                  <a:tcPr marL="91440" marR="91440" marT="45720" marB="45720" anchor="ctr">
                    <a:solidFill>
                      <a:srgbClr val="E7EEF3"/>
                    </a:solidFill>
                  </a:tcPr>
                </a:tc>
                <a:tc>
                  <a:txBody>
                    <a:bodyPr wrap="square" lIns="95250" tIns="57150" rIns="76200" bIns="57150">
                      <a:noAutofit/>
                    </a:bodyPr>
                    <a:lstStyle/>
                    <a:p>
                      <a:pPr algn="l">
                        <a:buNone/>
                      </a:pPr>
                      <a:r>
                        <a:rPr sz="1575" b="0">
                          <a:solidFill>
                            <a:srgbClr val="242424"/>
                          </a:solidFill>
                          <a:latin typeface="UCL Sans"/>
                          <a:ea typeface="UCL Sans"/>
                          <a:cs typeface="UCL Sans"/>
                        </a:rPr>
                        <a:t>0.887</a:t>
                      </a:r>
                    </a:p>
                  </a:txBody>
                  <a:tcPr marL="91440" marR="91440" marT="45720" marB="45720" anchor="ctr">
                    <a:solidFill>
                      <a:srgbClr val="F3F6F8"/>
                    </a:solidFill>
                  </a:tcPr>
                </a:tc>
                <a:tc>
                  <a:txBody>
                    <a:bodyPr wrap="square" lIns="95250" tIns="57150" rIns="76200" bIns="57150">
                      <a:noAutofit/>
                    </a:bodyPr>
                    <a:lstStyle/>
                    <a:p>
                      <a:pPr algn="l">
                        <a:buNone/>
                      </a:pPr>
                      <a:r>
                        <a:rPr sz="1575" b="0">
                          <a:solidFill>
                            <a:srgbClr val="242424"/>
                          </a:solidFill>
                          <a:latin typeface="UCL Sans"/>
                          <a:ea typeface="UCL Sans"/>
                          <a:cs typeface="UCL Sans"/>
                        </a:rPr>
                        <a:t>0.156</a:t>
                      </a:r>
                    </a:p>
                  </a:txBody>
                  <a:tcPr marL="91440" marR="91440" marT="45720" marB="45720" anchor="ctr">
                    <a:solidFill>
                      <a:srgbClr val="F3F6F8"/>
                    </a:solidFill>
                  </a:tcPr>
                </a:tc>
              </a:tr>
            </a:tbl>
          </a:graphicData>
        </a:graphic>
      </p:graphicFrame>
      <p:sp>
        <p:nvSpPr>
          <p:cNvPr id="6" name="urban-text-56">
            <a:extLst xmlns:a="http://schemas.openxmlformats.org/drawingml/2006/main">
              <a:ext uri="{FF2B5EF4-FFF2-40B4-BE49-F238E27FC236}">
                <a16:creationId xmlns:a16="http://schemas.microsoft.com/office/drawing/2014/main" id="{D4371F75-6146-4185-BE16-C2F347D7C01A}"/>
              </a:ext>
            </a:extLst>
          </p:cNvPr>
          <p:cNvSpPr>
            <a:spLocks xmlns:a="http://schemas.openxmlformats.org/drawingml/2006/main" noGrp="1"/>
          </p:cNvSpPr>
          <p:nvPr/>
        </p:nvSpPr>
        <p:spPr>
          <a:xfrm xmlns:a="http://schemas.openxmlformats.org/drawingml/2006/main">
            <a:off x="723900" y="4276725"/>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B3247"/>
                </a:solidFill>
                <a:latin typeface="UCL Sans"/>
                <a:ea typeface="UCL Sans"/>
                <a:cs typeface="UCL Sans"/>
              </a:defRPr>
            </a:pPr>
            <a:r>
              <a:rPr sz="1650" b="1">
                <a:solidFill>
                  <a:srgbClr val="8B3247"/>
                </a:solidFill>
                <a:latin typeface="UCL Sans"/>
                <a:ea typeface="UCL Sans"/>
                <a:cs typeface="UCL Sans"/>
              </a:rPr>
              <a:t>VIIRS has more consistent response-similarity structure</a:t>
            </a:r>
          </a:p>
        </p:txBody>
      </p:sp>
      <p:sp>
        <p:nvSpPr>
          <p:cNvPr id="7" name="urban-text-57">
            <a:extLst xmlns:a="http://schemas.openxmlformats.org/drawingml/2006/main">
              <a:ext uri="{FF2B5EF4-FFF2-40B4-BE49-F238E27FC236}">
                <a16:creationId xmlns:a16="http://schemas.microsoft.com/office/drawing/2014/main" id="{CA7D88DE-C5B6-4D32-8964-47EFAF15FE4C}"/>
              </a:ext>
            </a:extLst>
          </p:cNvPr>
          <p:cNvSpPr>
            <a:spLocks xmlns:a="http://schemas.openxmlformats.org/drawingml/2006/main" noGrp="1"/>
          </p:cNvSpPr>
          <p:nvPr/>
        </p:nvSpPr>
        <p:spPr>
          <a:xfrm xmlns:a="http://schemas.openxmlformats.org/drawingml/2006/main">
            <a:off x="723900" y="46482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Current POI target pools 4 outcomes × 3 years. Outcome-level evaluation adds detail.</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Split consistency describes target structure; causal interpretation follows design and diagnostics.</a:t>
            </a:r>
          </a:p>
        </p:txBody>
      </p:sp>
      <p:sp>
        <p:nvSpPr>
          <p:cNvPr id="10" name="seminar-page-number">
            <a:extLst xmlns:a="http://schemas.openxmlformats.org/drawingml/2006/main">
              <a:ext uri="{FF2B5EF4-FFF2-40B4-BE49-F238E27FC236}">
                <a16:creationId xmlns:a16="http://schemas.microsoft.com/office/drawing/2014/main" id="{F4A09531-CE4A-4C0C-91B2-227BB4BAACB4}"/>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13</a:t>
            </a:r>
          </a:p>
        </p:txBody>
      </p:sp>
    </p:spTree>
    <p:extLst>
      <p:ext uri="{BB962C8B-B14F-4D97-AF65-F5344CB8AC3E}">
        <p14:creationId xmlns:p14="http://schemas.microsoft.com/office/powerpoint/2010/main" val="127674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Representation learning: features to embeddings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34355176f8c4516"/>
          <a:stretch xmlns:a="http://schemas.openxmlformats.org/drawingml/2006/main"/>
        </p:blipFill>
        <p:spPr>
          <a:xfrm xmlns:a="http://schemas.openxmlformats.org/drawingml/2006/main">
            <a:off x="1590169" y="1123950"/>
            <a:ext cx="6058912" cy="3409950"/>
          </a:xfrm>
          <a:prstGeom xmlns:a="http://schemas.openxmlformats.org/drawingml/2006/main" prst="rect">
            <a:avLst/>
          </a:prstGeom>
        </p:spPr>
      </p:pic>
      <p:sp>
        <p:nvSpPr>
          <p:cNvPr id="4" name="urban-text-58">
            <a:extLst xmlns:a="http://schemas.openxmlformats.org/drawingml/2006/main">
              <a:ext uri="{FF2B5EF4-FFF2-40B4-BE49-F238E27FC236}">
                <a16:creationId xmlns:a16="http://schemas.microsoft.com/office/drawing/2014/main" id="{D05D7E8C-43BB-42A9-91D2-39594635DD6C}"/>
              </a:ext>
            </a:extLst>
          </p:cNvPr>
          <p:cNvSpPr>
            <a:spLocks xmlns:a="http://schemas.openxmlformats.org/drawingml/2006/main" noGrp="1"/>
          </p:cNvSpPr>
          <p:nvPr/>
        </p:nvSpPr>
        <p:spPr>
          <a:xfrm xmlns:a="http://schemas.openxmlformats.org/drawingml/2006/main">
            <a:off x="723900" y="46672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Default: tabular MLP; normalized 128-dimensional embedding; prediction heads read e.</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Optional: images (frozen DINOv2), station/year conditioning and FIFO queue. Held-out inference uses X only.</a:t>
            </a:r>
          </a:p>
        </p:txBody>
      </p:sp>
      <p:sp>
        <p:nvSpPr>
          <p:cNvPr id="6" name="seminar-page-number">
            <a:extLst xmlns:a="http://schemas.openxmlformats.org/drawingml/2006/main">
              <a:ext uri="{FF2B5EF4-FFF2-40B4-BE49-F238E27FC236}">
                <a16:creationId xmlns:a16="http://schemas.microsoft.com/office/drawing/2014/main" id="{850474D8-AF9A-4252-BA64-046095DD485C}"/>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14</a:t>
            </a:r>
          </a:p>
        </p:txBody>
      </p:sp>
    </p:spTree>
    <p:extLst>
      <p:ext uri="{BB962C8B-B14F-4D97-AF65-F5344CB8AC3E}">
        <p14:creationId xmlns:p14="http://schemas.microsoft.com/office/powerpoint/2010/main" val="127674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Joint objective: neighbors, similarity and response values</a:t>
            </a:r>
          </a:p>
        </p:txBody>
      </p:sp>
      <p:graphicFrame>
        <p:nvGraphicFramePr>
          <p:cNvPr id="16" name=""/>
          <p:cNvGraphicFramePr/>
          <p:nvPr/>
        </p:nvGraphicFramePr>
        <p:xfrm>
          <a:off xmlns:a="http://schemas.openxmlformats.org/drawingml/2006/main" x="723900" y="1209675"/>
          <a:ext xmlns:a="http://schemas.openxmlformats.org/drawingml/2006/main" cx="7791450" cy="1714500"/>
        </p:xfrm>
        <a:graphic xmlns:a="http://schemas.openxmlformats.org/drawingml/2006/main">
          <a:graphicData uri="http://schemas.openxmlformats.org/drawingml/2006/table">
            <a:tbl>
              <a:tblPr/>
              <a:tblGrid>
                <a:gridCol w="1609725"/>
                <a:gridCol w="6181725"/>
              </a:tblGrid>
              <a:tr h="428625">
                <a:tc>
                  <a:txBody>
                    <a:bodyPr wrap="square" lIns="95250" tIns="57150" rIns="76200" bIns="57150">
                      <a:noAutofit/>
                    </a:bodyPr>
                    <a:lstStyle/>
                    <a:p>
                      <a:pPr algn="l">
                        <a:buNone/>
                      </a:pPr>
                      <a:r>
                        <a:rPr sz="1500" b="1">
                          <a:solidFill>
                            <a:srgbClr val="FFFFFF"/>
                          </a:solidFill>
                          <a:latin typeface="UCL Sans"/>
                          <a:ea typeface="UCL Sans"/>
                          <a:cs typeface="UCL Sans"/>
                        </a:rPr>
                        <a:t>Loss</a:t>
                      </a:r>
                    </a:p>
                  </a:txBody>
                  <a:tcPr marL="91440" marR="91440" marT="45720" marB="45720" anchor="ctr">
                    <a:solidFill>
                      <a:srgbClr val="27445C"/>
                    </a:solidFill>
                  </a:tcPr>
                </a:tc>
                <a:tc>
                  <a:txBody>
                    <a:bodyPr wrap="square" lIns="95250" tIns="57150" rIns="76200" bIns="57150">
                      <a:noAutofit/>
                    </a:bodyPr>
                    <a:lstStyle/>
                    <a:p>
                      <a:pPr algn="l">
                        <a:buNone/>
                      </a:pPr>
                      <a:r>
                        <a:rPr sz="1500" b="1">
                          <a:solidFill>
                            <a:srgbClr val="FFFFFF"/>
                          </a:solidFill>
                          <a:latin typeface="UCL Sans"/>
                          <a:ea typeface="UCL Sans"/>
                          <a:cs typeface="UCL Sans"/>
                        </a:rPr>
                        <a:t>Role</a:t>
                      </a:r>
                    </a:p>
                  </a:txBody>
                  <a:tcPr marL="91440" marR="91440" marT="45720" marB="45720" anchor="ctr">
                    <a:solidFill>
                      <a:srgbClr val="27445C"/>
                    </a:solidFill>
                  </a:tcPr>
                </a:tc>
              </a:tr>
              <a:tr h="428625">
                <a:tc>
                  <a:txBody>
                    <a:bodyPr wrap="square" lIns="95250" tIns="57150" rIns="76200" bIns="57150">
                      <a:noAutofit/>
                    </a:bodyPr>
                    <a:lstStyle/>
                    <a:p>
                      <a:pPr algn="l">
                        <a:buNone/>
                      </a:pPr>
                      <a:r>
                        <a:rPr sz="1500" b="1">
                          <a:solidFill>
                            <a:srgbClr val="242424"/>
                          </a:solidFill>
                          <a:latin typeface="UCL Sans"/>
                          <a:ea typeface="UCL Sans"/>
                          <a:cs typeface="UCL Sans"/>
                        </a:rPr>
                        <a:t>Alignment</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Fit neighbor probabilities using positive response similarity as soft weights</a:t>
                      </a:r>
                    </a:p>
                  </a:txBody>
                  <a:tcPr marL="91440" marR="91440" marT="45720" marB="45720" anchor="ctr">
                    <a:solidFill>
                      <a:srgbClr val="FFFFFF"/>
                    </a:solidFill>
                  </a:tcPr>
                </a:tc>
              </a:tr>
              <a:tr h="428625">
                <a:tc>
                  <a:txBody>
                    <a:bodyPr wrap="square" lIns="95250" tIns="57150" rIns="76200" bIns="57150">
                      <a:noAutofit/>
                    </a:bodyPr>
                    <a:lstStyle/>
                    <a:p>
                      <a:pPr algn="l">
                        <a:buNone/>
                      </a:pPr>
                      <a:r>
                        <a:rPr sz="1500" b="1">
                          <a:solidFill>
                            <a:srgbClr val="242424"/>
                          </a:solidFill>
                          <a:latin typeface="UCL Sans"/>
                          <a:ea typeface="UCL Sans"/>
                          <a:cs typeface="UCL Sans"/>
                        </a:rPr>
                        <a:t>Distance</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Fit numerical response similarity with embedding cosine similarity</a:t>
                      </a:r>
                    </a:p>
                  </a:txBody>
                  <a:tcPr marL="91440" marR="91440" marT="45720" marB="45720" anchor="ctr">
                    <a:solidFill>
                      <a:srgbClr val="F3F6F8"/>
                    </a:solidFill>
                  </a:tcPr>
                </a:tc>
              </a:tr>
              <a:tr h="428625">
                <a:tc>
                  <a:txBody>
                    <a:bodyPr wrap="square" lIns="95250" tIns="57150" rIns="76200" bIns="57150">
                      <a:noAutofit/>
                    </a:bodyPr>
                    <a:lstStyle/>
                    <a:p>
                      <a:pPr algn="l">
                        <a:buNone/>
                      </a:pPr>
                      <a:r>
                        <a:rPr sz="1500" b="1">
                          <a:solidFill>
                            <a:srgbClr val="242424"/>
                          </a:solidFill>
                          <a:latin typeface="UCL Sans"/>
                          <a:ea typeface="UCL Sans"/>
                          <a:cs typeface="UCL Sans"/>
                        </a:rPr>
                        <a:t>Prediction</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Recover response values with masks and label-weighted MSE</a:t>
                      </a:r>
                    </a:p>
                  </a:txBody>
                  <a:tcPr marL="91440" marR="91440" marT="45720" marB="45720" anchor="ctr">
                    <a:solidFill>
                      <a:srgbClr val="FFFFFF"/>
                    </a:solidFill>
                  </a:tcPr>
                </a:tc>
              </a:tr>
            </a:tbl>
          </a:graphicData>
        </a:graphic>
      </p:graphicFrame>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03499d3b73e4e44"/>
          <a:stretch xmlns:a="http://schemas.openxmlformats.org/drawingml/2006/main"/>
        </p:blipFill>
        <p:spPr>
          <a:xfrm xmlns:a="http://schemas.openxmlformats.org/drawingml/2006/main">
            <a:off x="2825353" y="3038475"/>
            <a:ext cx="3588544" cy="52387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7d9ce7e10e74d82"/>
          <a:stretch xmlns:a="http://schemas.openxmlformats.org/drawingml/2006/main"/>
        </p:blipFill>
        <p:spPr>
          <a:xfrm xmlns:a="http://schemas.openxmlformats.org/drawingml/2006/main">
            <a:off x="2249752" y="3705225"/>
            <a:ext cx="4739746" cy="504825"/>
          </a:xfrm>
          <a:prstGeom xmlns:a="http://schemas.openxmlformats.org/drawingml/2006/main" prst="rect">
            <a:avLst/>
          </a:prstGeom>
        </p:spPr>
      </p:pic>
      <p:sp>
        <p:nvSpPr>
          <p:cNvPr id="6" name="urban-text-59">
            <a:extLst xmlns:a="http://schemas.openxmlformats.org/drawingml/2006/main">
              <a:ext uri="{FF2B5EF4-FFF2-40B4-BE49-F238E27FC236}">
                <a16:creationId xmlns:a16="http://schemas.microsoft.com/office/drawing/2014/main" id="{AA63D2D6-8805-402C-85AE-68689BEC8F33}"/>
              </a:ext>
            </a:extLst>
          </p:cNvPr>
          <p:cNvSpPr>
            <a:spLocks xmlns:a="http://schemas.openxmlformats.org/drawingml/2006/main" noGrp="1"/>
          </p:cNvSpPr>
          <p:nvPr/>
        </p:nvSpPr>
        <p:spPr>
          <a:xfrm xmlns:a="http://schemas.openxmlformats.org/drawingml/2006/main">
            <a:off x="723900" y="4343400"/>
            <a:ext cx="7791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8B3247"/>
                </a:solidFill>
                <a:latin typeface="UCL Sans"/>
                <a:ea typeface="UCL Sans"/>
                <a:cs typeface="UCL Sans"/>
              </a:defRPr>
            </a:pPr>
            <a:r>
              <a:rPr sz="1575" b="1">
                <a:solidFill>
                  <a:srgbClr val="8B3247"/>
                </a:solidFill>
                <a:latin typeface="UCL Sans"/>
                <a:ea typeface="UCL Sans"/>
                <a:cs typeface="UCL Sans"/>
              </a:rPr>
              <a:t>Does joint supervision improve retrieval in held-out cities?</a:t>
            </a:r>
          </a:p>
        </p:txBody>
      </p:sp>
      <p:sp>
        <p:nvSpPr>
          <p:cNvPr id="7" name="urban-text-60">
            <a:extLst xmlns:a="http://schemas.openxmlformats.org/drawingml/2006/main">
              <a:ext uri="{FF2B5EF4-FFF2-40B4-BE49-F238E27FC236}">
                <a16:creationId xmlns:a16="http://schemas.microsoft.com/office/drawing/2014/main" id="{E305F7FD-3FE1-418A-A306-22A04C8A2624}"/>
              </a:ext>
            </a:extLst>
          </p:cNvPr>
          <p:cNvSpPr>
            <a:spLocks xmlns:a="http://schemas.openxmlformats.org/drawingml/2006/main" noGrp="1"/>
          </p:cNvSpPr>
          <p:nvPr/>
        </p:nvSpPr>
        <p:spPr>
          <a:xfrm xmlns:a="http://schemas.openxmlformats.org/drawingml/2006/main">
            <a:off x="723900" y="4695825"/>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Default temperature τ = 0.07. Valid pairs exclude self and invalid comparisons; SE shrinkage is optional.</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Constant within-grid weights cancel in Pearson but affect prediction.</a:t>
            </a:r>
          </a:p>
        </p:txBody>
      </p:sp>
      <p:sp>
        <p:nvSpPr>
          <p:cNvPr id="11" name="seminar-page-number">
            <a:extLst xmlns:a="http://schemas.openxmlformats.org/drawingml/2006/main">
              <a:ext uri="{FF2B5EF4-FFF2-40B4-BE49-F238E27FC236}">
                <a16:creationId xmlns:a16="http://schemas.microsoft.com/office/drawing/2014/main" id="{30A8AA16-86DE-44CF-BEF7-CF47F08477CE}"/>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15</a:t>
            </a:r>
          </a:p>
        </p:txBody>
      </p:sp>
    </p:spTree>
    <p:extLst>
      <p:ext uri="{BB962C8B-B14F-4D97-AF65-F5344CB8AC3E}">
        <p14:creationId xmlns:p14="http://schemas.microsoft.com/office/powerpoint/2010/main" val="127674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Evaluation: shape, magnitude and direction</a:t>
            </a:r>
          </a:p>
        </p:txBody>
      </p:sp>
      <p:graphicFrame>
        <p:nvGraphicFramePr>
          <p:cNvPr id="13" name=""/>
          <p:cNvGraphicFramePr/>
          <p:nvPr/>
        </p:nvGraphicFramePr>
        <p:xfrm>
          <a:off xmlns:a="http://schemas.openxmlformats.org/drawingml/2006/main" x="723900" y="1295400"/>
          <a:ext xmlns:a="http://schemas.openxmlformats.org/drawingml/2006/main" cx="7791450" cy="2286000"/>
        </p:xfrm>
        <a:graphic xmlns:a="http://schemas.openxmlformats.org/drawingml/2006/main">
          <a:graphicData uri="http://schemas.openxmlformats.org/drawingml/2006/table">
            <a:tbl>
              <a:tblPr/>
              <a:tblGrid>
                <a:gridCol w="1724025"/>
                <a:gridCol w="2657475"/>
                <a:gridCol w="3409950"/>
              </a:tblGrid>
              <a:tr h="571500">
                <a:tc>
                  <a:txBody>
                    <a:bodyPr wrap="square" lIns="95250" tIns="57150" rIns="76200" bIns="57150">
                      <a:noAutofit/>
                    </a:bodyPr>
                    <a:lstStyle/>
                    <a:p>
                      <a:pPr algn="l">
                        <a:buNone/>
                      </a:pPr>
                      <a:r>
                        <a:rPr sz="1500" b="1">
                          <a:solidFill>
                            <a:srgbClr val="FFFFFF"/>
                          </a:solidFill>
                          <a:latin typeface="UCL Sans"/>
                          <a:ea typeface="UCL Sans"/>
                          <a:cs typeface="UCL Sans"/>
                        </a:rPr>
                        <a:t>Task</a:t>
                      </a:r>
                    </a:p>
                  </a:txBody>
                  <a:tcPr marL="91440" marR="91440" marT="45720" marB="45720" anchor="ctr">
                    <a:solidFill>
                      <a:srgbClr val="27445C"/>
                    </a:solidFill>
                  </a:tcPr>
                </a:tc>
                <a:tc>
                  <a:txBody>
                    <a:bodyPr wrap="square" lIns="95250" tIns="57150" rIns="76200" bIns="57150">
                      <a:noAutofit/>
                    </a:bodyPr>
                    <a:lstStyle/>
                    <a:p>
                      <a:pPr algn="l">
                        <a:buNone/>
                      </a:pPr>
                      <a:r>
                        <a:rPr sz="1500" b="1">
                          <a:solidFill>
                            <a:srgbClr val="FFFFFF"/>
                          </a:solidFill>
                          <a:latin typeface="UCL Sans"/>
                          <a:ea typeface="UCL Sans"/>
                          <a:cs typeface="UCL Sans"/>
                        </a:rPr>
                        <a:t>Metric</a:t>
                      </a:r>
                    </a:p>
                  </a:txBody>
                  <a:tcPr marL="91440" marR="91440" marT="45720" marB="45720" anchor="ctr">
                    <a:solidFill>
                      <a:srgbClr val="27445C"/>
                    </a:solidFill>
                  </a:tcPr>
                </a:tc>
                <a:tc>
                  <a:txBody>
                    <a:bodyPr wrap="square" lIns="95250" tIns="57150" rIns="76200" bIns="57150">
                      <a:noAutofit/>
                    </a:bodyPr>
                    <a:lstStyle/>
                    <a:p>
                      <a:pPr algn="l">
                        <a:buNone/>
                      </a:pPr>
                      <a:r>
                        <a:rPr sz="1500" b="1">
                          <a:solidFill>
                            <a:srgbClr val="FFFFFF"/>
                          </a:solidFill>
                          <a:latin typeface="UCL Sans"/>
                          <a:ea typeface="UCL Sans"/>
                          <a:cs typeface="UCL Sans"/>
                        </a:rPr>
                        <a:t>Baselines</a:t>
                      </a:r>
                    </a:p>
                  </a:txBody>
                  <a:tcPr marL="91440" marR="91440" marT="45720" marB="45720" anchor="ctr">
                    <a:solidFill>
                      <a:srgbClr val="27445C"/>
                    </a:solidFill>
                  </a:tcPr>
                </a:tc>
              </a:tr>
              <a:tr h="571500">
                <a:tc>
                  <a:txBody>
                    <a:bodyPr wrap="square" lIns="95250" tIns="57150" rIns="76200" bIns="57150">
                      <a:noAutofit/>
                    </a:bodyPr>
                    <a:lstStyle/>
                    <a:p>
                      <a:pPr algn="l">
                        <a:buNone/>
                      </a:pPr>
                      <a:r>
                        <a:rPr sz="1500" b="1">
                          <a:solidFill>
                            <a:srgbClr val="242424"/>
                          </a:solidFill>
                          <a:latin typeface="UCL Sans"/>
                          <a:ea typeface="UCL Sans"/>
                          <a:cs typeface="UCL Sans"/>
                        </a:rPr>
                        <a:t>Shape retrieval</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nn_corr@5</a:t>
                      </a:r>
                    </a:p>
                    <a:p>
                      <a:pPr algn="l">
                        <a:buNone/>
                      </a:pPr>
                      <a:r>
                        <a:rPr sz="1500" b="0">
                          <a:solidFill>
                            <a:srgbClr val="242424"/>
                          </a:solidFill>
                          <a:latin typeface="UCL Sans"/>
                          <a:ea typeface="UCL Sans"/>
                          <a:cs typeface="UCL Sans"/>
                        </a:rPr>
                        <a:t>Mean similarity of 5 neighbors</a:t>
                      </a:r>
                    </a:p>
                  </a:txBody>
                  <a:tcPr marL="91440" marR="91440" marT="45720" marB="45720" anchor="ctr">
                    <a:solidFill>
                      <a:srgbClr val="FFFFFF"/>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Raw / Appearance AE / Random</a:t>
                      </a:r>
                    </a:p>
                  </a:txBody>
                  <a:tcPr marL="91440" marR="91440" marT="45720" marB="45720" anchor="ctr">
                    <a:solidFill>
                      <a:srgbClr val="FFFFFF"/>
                    </a:solidFill>
                  </a:tcPr>
                </a:tc>
              </a:tr>
              <a:tr h="571500">
                <a:tc>
                  <a:txBody>
                    <a:bodyPr wrap="square" lIns="95250" tIns="57150" rIns="76200" bIns="57150">
                      <a:noAutofit/>
                    </a:bodyPr>
                    <a:lstStyle/>
                    <a:p>
                      <a:pPr algn="l">
                        <a:buNone/>
                      </a:pPr>
                      <a:r>
                        <a:rPr sz="1500" b="1">
                          <a:solidFill>
                            <a:srgbClr val="242424"/>
                          </a:solidFill>
                          <a:latin typeface="UCL Sans"/>
                          <a:ea typeface="UCL Sans"/>
                          <a:cs typeface="UCL Sans"/>
                        </a:rPr>
                        <a:t>Magnitude</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RMSE</a:t>
                      </a:r>
                    </a:p>
                  </a:txBody>
                  <a:tcPr marL="91440" marR="91440" marT="45720" marB="45720" anchor="ctr">
                    <a:solidFill>
                      <a:srgbClr val="F3F6F8"/>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Training mean / Ridge / kNN</a:t>
                      </a:r>
                    </a:p>
                  </a:txBody>
                  <a:tcPr marL="91440" marR="91440" marT="45720" marB="45720" anchor="ctr">
                    <a:solidFill>
                      <a:srgbClr val="F3F6F8"/>
                    </a:solidFill>
                  </a:tcPr>
                </a:tc>
              </a:tr>
              <a:tr h="571500">
                <a:tc>
                  <a:txBody>
                    <a:bodyPr wrap="square" lIns="95250" tIns="57150" rIns="76200" bIns="57150">
                      <a:noAutofit/>
                    </a:bodyPr>
                    <a:lstStyle/>
                    <a:p>
                      <a:pPr algn="l">
                        <a:buNone/>
                      </a:pPr>
                      <a:r>
                        <a:rPr sz="1500" b="1">
                          <a:solidFill>
                            <a:srgbClr val="242424"/>
                          </a:solidFill>
                          <a:latin typeface="UCL Sans"/>
                          <a:ea typeface="UCL Sans"/>
                          <a:cs typeface="UCL Sans"/>
                        </a:rPr>
                        <a:t>Direction</a:t>
                      </a:r>
                    </a:p>
                  </a:txBody>
                  <a:tcPr marL="91440" marR="91440" marT="45720" marB="45720" anchor="ctr">
                    <a:solidFill>
                      <a:srgbClr val="E7EEF3"/>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Sign accuracy</a:t>
                      </a:r>
                    </a:p>
                  </a:txBody>
                  <a:tcPr marL="91440" marR="91440" marT="45720" marB="45720" anchor="ctr">
                    <a:solidFill>
                      <a:srgbClr val="FFFFFF"/>
                    </a:solidFill>
                  </a:tcPr>
                </a:tc>
                <a:tc>
                  <a:txBody>
                    <a:bodyPr wrap="square" lIns="95250" tIns="57150" rIns="76200" bIns="57150">
                      <a:noAutofit/>
                    </a:bodyPr>
                    <a:lstStyle/>
                    <a:p>
                      <a:pPr algn="l">
                        <a:buNone/>
                      </a:pPr>
                      <a:r>
                        <a:rPr sz="1500" b="0">
                          <a:solidFill>
                            <a:srgbClr val="242424"/>
                          </a:solidFill>
                          <a:latin typeface="UCL Sans"/>
                          <a:ea typeface="UCL Sans"/>
                          <a:cs typeface="UCL Sans"/>
                        </a:rPr>
                        <a:t>Training majority sign</a:t>
                      </a:r>
                    </a:p>
                  </a:txBody>
                  <a:tcPr marL="91440" marR="91440" marT="45720" marB="45720" anchor="ctr">
                    <a:solidFill>
                      <a:srgbClr val="FFFFFF"/>
                    </a:solidFill>
                  </a:tcPr>
                </a:tc>
              </a:tr>
            </a:tbl>
          </a:graphicData>
        </a:graphic>
      </p:graphicFrame>
      <p:sp>
        <p:nvSpPr>
          <p:cNvPr id="4" name="urban-text-61">
            <a:extLst xmlns:a="http://schemas.openxmlformats.org/drawingml/2006/main">
              <a:ext uri="{FF2B5EF4-FFF2-40B4-BE49-F238E27FC236}">
                <a16:creationId xmlns:a16="http://schemas.microsoft.com/office/drawing/2014/main" id="{CCE839BF-6B90-4CF8-94F1-30A25339B314}"/>
              </a:ext>
            </a:extLst>
          </p:cNvPr>
          <p:cNvSpPr>
            <a:spLocks xmlns:a="http://schemas.openxmlformats.org/drawingml/2006/main" noGrp="1"/>
          </p:cNvSpPr>
          <p:nvPr/>
        </p:nvSpPr>
        <p:spPr>
          <a:xfrm xmlns:a="http://schemas.openxmlformats.org/drawingml/2006/main">
            <a:off x="723900" y="3990975"/>
            <a:ext cx="3733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8B3247"/>
                </a:solidFill>
                <a:latin typeface="UCL Sans"/>
                <a:ea typeface="UCL Sans"/>
                <a:cs typeface="UCL Sans"/>
              </a:defRPr>
            </a:pPr>
            <a:r>
              <a:rPr sz="1875" b="1">
                <a:solidFill>
                  <a:srgbClr val="8B3247"/>
                </a:solidFill>
                <a:latin typeface="UCL Sans"/>
                <a:ea typeface="UCL Sans"/>
                <a:cs typeface="UCL Sans"/>
              </a:rPr>
              <a:t>5-fold city CV</a:t>
            </a:r>
          </a:p>
        </p:txBody>
      </p:sp>
      <p:sp>
        <p:nvSpPr>
          <p:cNvPr id="5" name="urban-text-62">
            <a:extLst xmlns:a="http://schemas.openxmlformats.org/drawingml/2006/main">
              <a:ext uri="{FF2B5EF4-FFF2-40B4-BE49-F238E27FC236}">
                <a16:creationId xmlns:a16="http://schemas.microsoft.com/office/drawing/2014/main" id="{89EB53C6-532E-4607-AD5C-DD9F0B46E340}"/>
              </a:ext>
            </a:extLst>
          </p:cNvPr>
          <p:cNvSpPr>
            <a:spLocks xmlns:a="http://schemas.openxmlformats.org/drawingml/2006/main" noGrp="1"/>
          </p:cNvSpPr>
          <p:nvPr/>
        </p:nvSpPr>
        <p:spPr>
          <a:xfrm xmlns:a="http://schemas.openxmlformats.org/drawingml/2006/main">
            <a:off x="723900" y="4333875"/>
            <a:ext cx="373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7635F"/>
                </a:solidFill>
                <a:latin typeface="UCL Sans"/>
                <a:ea typeface="UCL Sans"/>
                <a:cs typeface="UCL Sans"/>
              </a:defRPr>
            </a:pPr>
            <a:r>
              <a:rPr sz="1425" b="0">
                <a:solidFill>
                  <a:srgbClr val="67635F"/>
                </a:solidFill>
                <a:latin typeface="UCL Sans"/>
                <a:ea typeface="UCL Sans"/>
                <a:cs typeface="UCL Sans"/>
              </a:rPr>
              <a:t>Features and direct prediction</a:t>
            </a:r>
          </a:p>
        </p:txBody>
      </p:sp>
      <p:sp>
        <p:nvSpPr>
          <p:cNvPr id="6" name="urban-text-63">
            <a:extLst xmlns:a="http://schemas.openxmlformats.org/drawingml/2006/main">
              <a:ext uri="{FF2B5EF4-FFF2-40B4-BE49-F238E27FC236}">
                <a16:creationId xmlns:a16="http://schemas.microsoft.com/office/drawing/2014/main" id="{12BBA0B8-E46E-4201-ABBA-DABB01E229EE}"/>
              </a:ext>
            </a:extLst>
          </p:cNvPr>
          <p:cNvSpPr>
            <a:spLocks xmlns:a="http://schemas.openxmlformats.org/drawingml/2006/main" noGrp="1"/>
          </p:cNvSpPr>
          <p:nvPr/>
        </p:nvSpPr>
        <p:spPr>
          <a:xfrm xmlns:a="http://schemas.openxmlformats.org/drawingml/2006/main">
            <a:off x="4810125" y="3990975"/>
            <a:ext cx="3705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2C7A78"/>
                </a:solidFill>
                <a:latin typeface="UCL Sans"/>
                <a:ea typeface="UCL Sans"/>
                <a:cs typeface="UCL Sans"/>
              </a:defRPr>
            </a:pPr>
            <a:r>
              <a:rPr sz="1875" b="1">
                <a:solidFill>
                  <a:srgbClr val="2C7A78"/>
                </a:solidFill>
                <a:latin typeface="UCL Sans"/>
                <a:ea typeface="UCL Sans"/>
                <a:cs typeface="UCL Sans"/>
              </a:rPr>
              <a:t>Earlier city split</a:t>
            </a:r>
          </a:p>
        </p:txBody>
      </p:sp>
      <p:sp>
        <p:nvSpPr>
          <p:cNvPr id="7" name="urban-text-64">
            <a:extLst xmlns:a="http://schemas.openxmlformats.org/drawingml/2006/main">
              <a:ext uri="{FF2B5EF4-FFF2-40B4-BE49-F238E27FC236}">
                <a16:creationId xmlns:a16="http://schemas.microsoft.com/office/drawing/2014/main" id="{C6D633B1-5B7D-47B9-847E-E6D2E068C9E2}"/>
              </a:ext>
            </a:extLst>
          </p:cNvPr>
          <p:cNvSpPr>
            <a:spLocks xmlns:a="http://schemas.openxmlformats.org/drawingml/2006/main" noGrp="1"/>
          </p:cNvSpPr>
          <p:nvPr/>
        </p:nvSpPr>
        <p:spPr>
          <a:xfrm xmlns:a="http://schemas.openxmlformats.org/drawingml/2006/main">
            <a:off x="4810125" y="4333875"/>
            <a:ext cx="3705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7635F"/>
                </a:solidFill>
                <a:latin typeface="UCL Sans"/>
                <a:ea typeface="UCL Sans"/>
                <a:cs typeface="UCL Sans"/>
              </a:defRPr>
            </a:pPr>
            <a:r>
              <a:rPr sz="1425" b="0">
                <a:solidFill>
                  <a:srgbClr val="67635F"/>
                </a:solidFill>
                <a:latin typeface="UCL Sans"/>
                <a:ea typeface="UCL Sans"/>
                <a:cs typeface="UCL Sans"/>
              </a:rPr>
              <a:t>Trained embeddings; three seeds</a:t>
            </a:r>
          </a:p>
        </p:txBody>
      </p:sp>
      <p:sp>
        <p:nvSpPr>
          <p:cNvPr id="8" name="urban-text-65">
            <a:extLst xmlns:a="http://schemas.openxmlformats.org/drawingml/2006/main">
              <a:ext uri="{FF2B5EF4-FFF2-40B4-BE49-F238E27FC236}">
                <a16:creationId xmlns:a16="http://schemas.microsoft.com/office/drawing/2014/main" id="{F98A5383-19C9-4660-B0A7-91BA37156AAF}"/>
              </a:ext>
            </a:extLst>
          </p:cNvPr>
          <p:cNvSpPr>
            <a:spLocks xmlns:a="http://schemas.openxmlformats.org/drawingml/2006/main" noGrp="1"/>
          </p:cNvSpPr>
          <p:nvPr/>
        </p:nvSpPr>
        <p:spPr>
          <a:xfrm xmlns:a="http://schemas.openxmlformats.org/drawingml/2006/main">
            <a:off x="723900" y="4810125"/>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Fold-specific preprocessing and inner tuning; each protocol uses its own matched baseline.</a:t>
            </a:r>
          </a:p>
        </p:txBody>
      </p:sp>
      <p:sp>
        <p:nvSpPr>
          <p:cNvPr id="10" name="seminar-page-number">
            <a:extLst xmlns:a="http://schemas.openxmlformats.org/drawingml/2006/main">
              <a:ext uri="{FF2B5EF4-FFF2-40B4-BE49-F238E27FC236}">
                <a16:creationId xmlns:a16="http://schemas.microsoft.com/office/drawing/2014/main" id="{7852728E-4137-4840-8734-3D0FE582210D}"/>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16</a:t>
            </a:r>
          </a:p>
        </p:txBody>
      </p:sp>
    </p:spTree>
    <p:extLst>
      <p:ext uri="{BB962C8B-B14F-4D97-AF65-F5344CB8AC3E}">
        <p14:creationId xmlns:p14="http://schemas.microsoft.com/office/powerpoint/2010/main" val="127674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Result 1: do local features help predict responses?</a:t>
            </a:r>
          </a:p>
        </p:txBody>
      </p:sp>
      <p:sp>
        <p:nvSpPr>
          <p:cNvPr id="3" name="urban-text-66">
            <a:extLst xmlns:a="http://schemas.openxmlformats.org/drawingml/2006/main">
              <a:ext uri="{FF2B5EF4-FFF2-40B4-BE49-F238E27FC236}">
                <a16:creationId xmlns:a16="http://schemas.microsoft.com/office/drawing/2014/main" id="{9D274321-0095-4BA1-AB51-4C7482EA1AFC}"/>
              </a:ext>
            </a:extLst>
          </p:cNvPr>
          <p:cNvSpPr>
            <a:spLocks xmlns:a="http://schemas.openxmlformats.org/drawingml/2006/main" noGrp="1"/>
          </p:cNvSpPr>
          <p:nvPr/>
        </p:nvSpPr>
        <p:spPr>
          <a:xfrm xmlns:a="http://schemas.openxmlformats.org/drawingml/2006/main">
            <a:off x="723900" y="1066800"/>
            <a:ext cx="7791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8B3247"/>
                </a:solidFill>
                <a:latin typeface="UCL Sans"/>
                <a:ea typeface="UCL Sans"/>
                <a:cs typeface="UCL Sans"/>
              </a:defRPr>
            </a:pPr>
            <a:r>
              <a:rPr sz="1350" b="1">
                <a:solidFill>
                  <a:srgbClr val="8B3247"/>
                </a:solidFill>
                <a:latin typeface="UCL Sans"/>
                <a:ea typeface="UCL Sans"/>
                <a:cs typeface="UCL Sans"/>
              </a:rPr>
              <a:t>Predicting responses in cities kept out of model fitting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a9a81d1ae3f4985"/>
          <a:stretch xmlns:a="http://schemas.openxmlformats.org/drawingml/2006/main"/>
        </p:blipFill>
        <p:spPr>
          <a:xfrm xmlns:a="http://schemas.openxmlformats.org/drawingml/2006/main">
            <a:off x="847946" y="1447800"/>
            <a:ext cx="7543358" cy="2686050"/>
          </a:xfrm>
          <a:prstGeom xmlns:a="http://schemas.openxmlformats.org/drawingml/2006/main" prst="rect">
            <a:avLst/>
          </a:prstGeom>
        </p:spPr>
      </p:pic>
      <p:sp>
        <p:nvSpPr>
          <p:cNvPr id="5" name="urban-text-67">
            <a:extLst xmlns:a="http://schemas.openxmlformats.org/drawingml/2006/main">
              <a:ext uri="{FF2B5EF4-FFF2-40B4-BE49-F238E27FC236}">
                <a16:creationId xmlns:a16="http://schemas.microsoft.com/office/drawing/2014/main" id="{B4B17B15-938C-48B2-9542-D80359DA70E6}"/>
              </a:ext>
            </a:extLst>
          </p:cNvPr>
          <p:cNvSpPr>
            <a:spLocks xmlns:a="http://schemas.openxmlformats.org/drawingml/2006/main" noGrp="1"/>
          </p:cNvSpPr>
          <p:nvPr/>
        </p:nvSpPr>
        <p:spPr>
          <a:xfrm xmlns:a="http://schemas.openxmlformats.org/drawingml/2006/main">
            <a:off x="723900" y="4257675"/>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B3247"/>
                </a:solidFill>
                <a:latin typeface="UCL Sans"/>
                <a:ea typeface="UCL Sans"/>
                <a:cs typeface="UCL Sans"/>
              </a:defRPr>
            </a:pPr>
            <a:r>
              <a:rPr sz="1650" b="1">
                <a:solidFill>
                  <a:srgbClr val="8B3247"/>
                </a:solidFill>
                <a:latin typeface="UCL Sans"/>
                <a:ea typeface="UCL Sans"/>
                <a:cs typeface="UCL Sans"/>
              </a:rPr>
              <a:t>POI direction: about 5 more correct predictions out of 100.</a:t>
            </a:r>
          </a:p>
        </p:txBody>
      </p:sp>
      <p:sp>
        <p:nvSpPr>
          <p:cNvPr id="6" name="urban-text-68">
            <a:extLst xmlns:a="http://schemas.openxmlformats.org/drawingml/2006/main">
              <a:ext uri="{FF2B5EF4-FFF2-40B4-BE49-F238E27FC236}">
                <a16:creationId xmlns:a16="http://schemas.microsoft.com/office/drawing/2014/main" id="{80FC58E0-0ACD-4EA9-9AF7-DDE4847AF747}"/>
              </a:ext>
            </a:extLst>
          </p:cNvPr>
          <p:cNvSpPr>
            <a:spLocks xmlns:a="http://schemas.openxmlformats.org/drawingml/2006/main" noGrp="1"/>
          </p:cNvSpPr>
          <p:nvPr/>
        </p:nvSpPr>
        <p:spPr>
          <a:xfrm xmlns:a="http://schemas.openxmlformats.org/drawingml/2006/main">
            <a:off x="723900" y="4676775"/>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Five-fold city tests: original features and ridge. Direction baseline: the training set’s most common sign.</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Shape baseline: random neighbors. Magnitude baseline: training mean.</a:t>
            </a:r>
          </a:p>
        </p:txBody>
      </p:sp>
      <p:sp>
        <p:nvSpPr>
          <p:cNvPr id="8" name="seminar-page-number">
            <a:extLst xmlns:a="http://schemas.openxmlformats.org/drawingml/2006/main">
              <a:ext uri="{FF2B5EF4-FFF2-40B4-BE49-F238E27FC236}">
                <a16:creationId xmlns:a16="http://schemas.microsoft.com/office/drawing/2014/main" id="{643EDBDF-7F05-4F69-8A63-CD6FD151BCDC}"/>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17</a:t>
            </a:r>
          </a:p>
        </p:txBody>
      </p:sp>
    </p:spTree>
    <p:extLst>
      <p:ext uri="{BB962C8B-B14F-4D97-AF65-F5344CB8AC3E}">
        <p14:creationId xmlns:p14="http://schemas.microsoft.com/office/powerpoint/2010/main" val="127674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Result 2: do learned representations find better neighbors?</a:t>
            </a:r>
          </a:p>
        </p:txBody>
      </p:sp>
      <p:sp>
        <p:nvSpPr>
          <p:cNvPr id="3" name="urban-text-69">
            <a:extLst xmlns:a="http://schemas.openxmlformats.org/drawingml/2006/main">
              <a:ext uri="{FF2B5EF4-FFF2-40B4-BE49-F238E27FC236}">
                <a16:creationId xmlns:a16="http://schemas.microsoft.com/office/drawing/2014/main" id="{D0CE09B6-77D8-408D-B42C-A89A81990842}"/>
              </a:ext>
            </a:extLst>
          </p:cNvPr>
          <p:cNvSpPr>
            <a:spLocks xmlns:a="http://schemas.openxmlformats.org/drawingml/2006/main" noGrp="1"/>
          </p:cNvSpPr>
          <p:nvPr/>
        </p:nvSpPr>
        <p:spPr>
          <a:xfrm xmlns:a="http://schemas.openxmlformats.org/drawingml/2006/main">
            <a:off x="723900" y="1066800"/>
            <a:ext cx="7791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8B3247"/>
                </a:solidFill>
                <a:latin typeface="UCL Sans"/>
                <a:ea typeface="UCL Sans"/>
                <a:cs typeface="UCL Sans"/>
              </a:defRPr>
            </a:pPr>
            <a:r>
              <a:rPr sz="1350" b="1">
                <a:solidFill>
                  <a:srgbClr val="8B3247"/>
                </a:solidFill>
                <a:latin typeface="UCL Sans"/>
                <a:ea typeface="UCL Sans"/>
                <a:cs typeface="UCL Sans"/>
              </a:rPr>
              <a:t>Finding places with similar changes after opening</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c38d17b37e94dd7"/>
          <a:stretch xmlns:a="http://schemas.openxmlformats.org/drawingml/2006/main"/>
        </p:blipFill>
        <p:spPr>
          <a:xfrm xmlns:a="http://schemas.openxmlformats.org/drawingml/2006/main">
            <a:off x="1189688" y="1428750"/>
            <a:ext cx="6859875" cy="2705100"/>
          </a:xfrm>
          <a:prstGeom xmlns:a="http://schemas.openxmlformats.org/drawingml/2006/main" prst="rect">
            <a:avLst/>
          </a:prstGeom>
        </p:spPr>
      </p:pic>
      <p:sp>
        <p:nvSpPr>
          <p:cNvPr id="5" name="urban-text-70">
            <a:extLst xmlns:a="http://schemas.openxmlformats.org/drawingml/2006/main">
              <a:ext uri="{FF2B5EF4-FFF2-40B4-BE49-F238E27FC236}">
                <a16:creationId xmlns:a16="http://schemas.microsoft.com/office/drawing/2014/main" id="{A69523FD-A628-4CBC-A1B4-E77B01633879}"/>
              </a:ext>
            </a:extLst>
          </p:cNvPr>
          <p:cNvSpPr>
            <a:spLocks xmlns:a="http://schemas.openxmlformats.org/drawingml/2006/main" noGrp="1"/>
          </p:cNvSpPr>
          <p:nvPr/>
        </p:nvSpPr>
        <p:spPr>
          <a:xfrm xmlns:a="http://schemas.openxmlformats.org/drawingml/2006/main">
            <a:off x="723900" y="4276725"/>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8B3247"/>
                </a:solidFill>
                <a:latin typeface="UCL Sans"/>
                <a:ea typeface="UCL Sans"/>
                <a:cs typeface="UCL Sans"/>
              </a:defRPr>
            </a:pPr>
            <a:r>
              <a:rPr sz="1800" b="1">
                <a:solidFill>
                  <a:srgbClr val="8B3247"/>
                </a:solidFill>
                <a:latin typeface="UCL Sans"/>
                <a:ea typeface="UCL Sans"/>
                <a:cs typeface="UCL Sans"/>
              </a:rPr>
              <a:t>Lights: higher average score</a:t>
            </a:r>
          </a:p>
        </p:txBody>
      </p:sp>
      <p:sp>
        <p:nvSpPr>
          <p:cNvPr id="6" name="urban-text-71">
            <a:extLst xmlns:a="http://schemas.openxmlformats.org/drawingml/2006/main">
              <a:ext uri="{FF2B5EF4-FFF2-40B4-BE49-F238E27FC236}">
                <a16:creationId xmlns:a16="http://schemas.microsoft.com/office/drawing/2014/main" id="{4E18982D-76D3-44CA-A610-EEB30E064567}"/>
              </a:ext>
            </a:extLst>
          </p:cNvPr>
          <p:cNvSpPr>
            <a:spLocks xmlns:a="http://schemas.openxmlformats.org/drawingml/2006/main" noGrp="1"/>
          </p:cNvSpPr>
          <p:nvPr/>
        </p:nvSpPr>
        <p:spPr>
          <a:xfrm xmlns:a="http://schemas.openxmlformats.org/drawingml/2006/main">
            <a:off x="4810125" y="4276725"/>
            <a:ext cx="3705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2C7A78"/>
                </a:solidFill>
                <a:latin typeface="UCL Sans"/>
                <a:ea typeface="UCL Sans"/>
                <a:cs typeface="UCL Sans"/>
              </a:defRPr>
            </a:pPr>
            <a:r>
              <a:rPr sz="1650" b="1">
                <a:solidFill>
                  <a:srgbClr val="2C7A78"/>
                </a:solidFill>
                <a:latin typeface="UCL Sans"/>
                <a:ea typeface="UCL Sans"/>
                <a:cs typeface="UCL Sans"/>
              </a:rPr>
              <a:t>POI: original features do better</a:t>
            </a:r>
          </a:p>
        </p:txBody>
      </p:sp>
      <p:sp>
        <p:nvSpPr>
          <p:cNvPr id="7" name="urban-text-72">
            <a:extLst xmlns:a="http://schemas.openxmlformats.org/drawingml/2006/main">
              <a:ext uri="{FF2B5EF4-FFF2-40B4-BE49-F238E27FC236}">
                <a16:creationId xmlns:a16="http://schemas.microsoft.com/office/drawing/2014/main" id="{582E3A48-9F65-445F-BAB7-11441C86D049}"/>
              </a:ext>
            </a:extLst>
          </p:cNvPr>
          <p:cNvSpPr>
            <a:spLocks xmlns:a="http://schemas.openxmlformats.org/drawingml/2006/main" noGrp="1"/>
          </p:cNvSpPr>
          <p:nvPr/>
        </p:nvSpPr>
        <p:spPr>
          <a:xfrm xmlns:a="http://schemas.openxmlformats.org/drawingml/2006/main">
            <a:off x="723900" y="4695825"/>
            <a:ext cx="781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Earlier city split. Higher scores mean more similar response paths among five neighbors.</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Model bars: mean ± SD across 3 runs; AE: reported range. Axes and samples differ.</a:t>
            </a:r>
          </a:p>
        </p:txBody>
      </p:sp>
      <p:sp>
        <p:nvSpPr>
          <p:cNvPr id="9" name="seminar-page-number">
            <a:extLst xmlns:a="http://schemas.openxmlformats.org/drawingml/2006/main">
              <a:ext uri="{FF2B5EF4-FFF2-40B4-BE49-F238E27FC236}">
                <a16:creationId xmlns:a16="http://schemas.microsoft.com/office/drawing/2014/main" id="{C731871A-2DD2-4360-A438-2ED02118C31E}"/>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18</a:t>
            </a:r>
          </a:p>
        </p:txBody>
      </p:sp>
    </p:spTree>
    <p:extLst>
      <p:ext uri="{BB962C8B-B14F-4D97-AF65-F5344CB8AC3E}">
        <p14:creationId xmlns:p14="http://schemas.microsoft.com/office/powerpoint/2010/main" val="1276741"/>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Training settings: do the gains hold up?</a:t>
            </a:r>
          </a:p>
        </p:txBody>
      </p:sp>
      <p:sp>
        <p:nvSpPr>
          <p:cNvPr id="3" name="urban-text-73">
            <a:extLst xmlns:a="http://schemas.openxmlformats.org/drawingml/2006/main">
              <a:ext uri="{FF2B5EF4-FFF2-40B4-BE49-F238E27FC236}">
                <a16:creationId xmlns:a16="http://schemas.microsoft.com/office/drawing/2014/main" id="{55BEF9A3-A0C0-48B4-A74C-7C73D3243324}"/>
              </a:ext>
            </a:extLst>
          </p:cNvPr>
          <p:cNvSpPr>
            <a:spLocks xmlns:a="http://schemas.openxmlformats.org/drawingml/2006/main" noGrp="1"/>
          </p:cNvSpPr>
          <p:nvPr/>
        </p:nvSpPr>
        <p:spPr>
          <a:xfrm xmlns:a="http://schemas.openxmlformats.org/drawingml/2006/main">
            <a:off x="723900" y="1066800"/>
            <a:ext cx="77914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8B3247"/>
                </a:solidFill>
                <a:latin typeface="UCL Sans"/>
                <a:ea typeface="UCL Sans"/>
                <a:cs typeface="UCL Sans"/>
              </a:defRPr>
            </a:pPr>
            <a:r>
              <a:rPr sz="1350" b="1">
                <a:solidFill>
                  <a:srgbClr val="8B3247"/>
                </a:solidFill>
                <a:latin typeface="UCL Sans"/>
                <a:ea typeface="UCL Sans"/>
                <a:cs typeface="UCL Sans"/>
              </a:rPr>
              <a:t>Zero = original feature score; right = improvement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f65eb4aa333434a"/>
          <a:stretch xmlns:a="http://schemas.openxmlformats.org/drawingml/2006/main"/>
        </p:blipFill>
        <p:spPr>
          <a:xfrm xmlns:a="http://schemas.openxmlformats.org/drawingml/2006/main">
            <a:off x="745350" y="1476375"/>
            <a:ext cx="7748551" cy="2628900"/>
          </a:xfrm>
          <a:prstGeom xmlns:a="http://schemas.openxmlformats.org/drawingml/2006/main" prst="rect">
            <a:avLst/>
          </a:prstGeom>
        </p:spPr>
      </p:pic>
      <p:sp>
        <p:nvSpPr>
          <p:cNvPr id="5" name="urban-text-74">
            <a:extLst xmlns:a="http://schemas.openxmlformats.org/drawingml/2006/main">
              <a:ext uri="{FF2B5EF4-FFF2-40B4-BE49-F238E27FC236}">
                <a16:creationId xmlns:a16="http://schemas.microsoft.com/office/drawing/2014/main" id="{14B37E23-D71D-47AD-A172-26F8894B2380}"/>
              </a:ext>
            </a:extLst>
          </p:cNvPr>
          <p:cNvSpPr>
            <a:spLocks xmlns:a="http://schemas.openxmlformats.org/drawingml/2006/main" noGrp="1"/>
          </p:cNvSpPr>
          <p:nvPr/>
        </p:nvSpPr>
        <p:spPr>
          <a:xfrm xmlns:a="http://schemas.openxmlformats.org/drawingml/2006/main">
            <a:off x="723900" y="4238625"/>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8B3247"/>
                </a:solidFill>
                <a:latin typeface="UCL Sans"/>
                <a:ea typeface="UCL Sans"/>
                <a:cs typeface="UCL Sans"/>
              </a:defRPr>
            </a:pPr>
            <a:r>
              <a:rPr sz="1650" b="1">
                <a:solidFill>
                  <a:srgbClr val="8B3247"/>
                </a:solidFill>
                <a:latin typeface="UCL Sans"/>
                <a:ea typeface="UCL Sans"/>
                <a:cs typeface="UCL Sans"/>
              </a:rPr>
              <a:t>Lights improve on average; results vary across training runs.</a:t>
            </a:r>
          </a:p>
        </p:txBody>
      </p:sp>
      <p:sp>
        <p:nvSpPr>
          <p:cNvPr id="6" name="urban-text-75">
            <a:extLst xmlns:a="http://schemas.openxmlformats.org/drawingml/2006/main">
              <a:ext uri="{FF2B5EF4-FFF2-40B4-BE49-F238E27FC236}">
                <a16:creationId xmlns:a16="http://schemas.microsoft.com/office/drawing/2014/main" id="{CE434AF1-6873-4D6F-B4DA-ECB2F69068AF}"/>
              </a:ext>
            </a:extLst>
          </p:cNvPr>
          <p:cNvSpPr>
            <a:spLocks xmlns:a="http://schemas.openxmlformats.org/drawingml/2006/main" noGrp="1"/>
          </p:cNvSpPr>
          <p:nvPr/>
        </p:nvSpPr>
        <p:spPr>
          <a:xfrm xmlns:a="http://schemas.openxmlformats.org/drawingml/2006/main">
            <a:off x="723900" y="46672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Earlier city split. Turning the queue off raises the light score and variation; POI stays below raw on average.</a:t>
            </a:r>
          </a:p>
          <a:p xmlns:a="http://schemas.openxmlformats.org/drawingml/2006/main">
            <a:pPr algn="l">
              <a:buNone/>
              <a:defRPr sz="1050" b="0">
                <a:solidFill>
                  <a:srgbClr val="67635F"/>
                </a:solidFill>
                <a:latin typeface="UCL Sans"/>
                <a:ea typeface="UCL Sans"/>
                <a:cs typeface="UCL Sans"/>
              </a:defRPr>
            </a:pPr>
            <a:r>
              <a:rPr sz="1050" b="0">
                <a:solidFill>
                  <a:srgbClr val="67635F"/>
                </a:solidFill>
                <a:latin typeface="UCL Sans"/>
                <a:ea typeface="UCL Sans"/>
                <a:cs typeface="UCL Sans"/>
              </a:rPr>
              <a:t>Dots: mean change in correlation score ± SD across 3 runs; zero is the original-feature baseline.</a:t>
            </a:r>
          </a:p>
        </p:txBody>
      </p:sp>
      <p:sp>
        <p:nvSpPr>
          <p:cNvPr id="8" name="seminar-page-number">
            <a:extLst xmlns:a="http://schemas.openxmlformats.org/drawingml/2006/main">
              <a:ext uri="{FF2B5EF4-FFF2-40B4-BE49-F238E27FC236}">
                <a16:creationId xmlns:a16="http://schemas.microsoft.com/office/drawing/2014/main" id="{3A5012EF-B295-4126-9159-7E27E74F3CB4}"/>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19</a:t>
            </a:r>
          </a:p>
        </p:txBody>
      </p:sp>
    </p:spTree>
    <p:extLst>
      <p:ext uri="{BB962C8B-B14F-4D97-AF65-F5344CB8AC3E}">
        <p14:creationId xmlns:p14="http://schemas.microsoft.com/office/powerpoint/2010/main" val="127674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Takeaways: causal evidence and representation learning</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adb470a0a9c4d85"/>
          <a:stretch xmlns:a="http://schemas.openxmlformats.org/drawingml/2006/main"/>
        </p:blipFill>
        <p:spPr>
          <a:xfrm xmlns:a="http://schemas.openxmlformats.org/drawingml/2006/main">
            <a:off x="3476625" y="4286250"/>
            <a:ext cx="2286000" cy="504825"/>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d1e294f4e924483"/>
          <a:stretch xmlns:a="http://schemas.openxmlformats.org/drawingml/2006/main"/>
        </p:blipFill>
        <p:spPr>
          <a:xfrm xmlns:a="http://schemas.openxmlformats.org/drawingml/2006/main">
            <a:off x="1259420" y="1162050"/>
            <a:ext cx="6720410" cy="3000375"/>
          </a:xfrm>
          <a:prstGeom xmlns:a="http://schemas.openxmlformats.org/drawingml/2006/main" prst="rect">
            <a:avLst/>
          </a:prstGeom>
        </p:spPr>
      </p:pic>
      <p:sp>
        <p:nvSpPr>
          <p:cNvPr id="12" name="takeaways-next">
            <a:extLst xmlns:a="http://schemas.openxmlformats.org/drawingml/2006/main">
              <a:ext uri="{FF2B5EF4-FFF2-40B4-BE49-F238E27FC236}">
                <a16:creationId xmlns:a16="http://schemas.microsoft.com/office/drawing/2014/main" id="{42C3372D-9702-44D9-9038-DC17835C605A}"/>
              </a:ext>
            </a:extLst>
          </p:cNvPr>
          <p:cNvSpPr>
            <a:spLocks xmlns:a="http://schemas.openxmlformats.org/drawingml/2006/main" noGrp="1"/>
          </p:cNvSpPr>
          <p:nvPr/>
        </p:nvSpPr>
        <p:spPr>
          <a:xfrm xmlns:a="http://schemas.openxmlformats.org/drawingml/2006/main">
            <a:off x="723900" y="4895850"/>
            <a:ext cx="779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0">
                <a:solidFill>
                  <a:srgbClr val="67635F"/>
                </a:solidFill>
                <a:latin typeface="UCL Sans"/>
                <a:ea typeface="UCL Sans"/>
                <a:cs typeface="UCL Sans"/>
              </a:defRPr>
            </a:pPr>
            <a:r>
              <a:rPr sz="975" b="0">
                <a:solidFill>
                  <a:srgbClr val="67635F"/>
                </a:solidFill>
                <a:latin typeface="UCL Sans"/>
                <a:ea typeface="UCL Sans"/>
                <a:cs typeface="UCL Sans"/>
              </a:rPr>
              <a:t>Validation chooses the mix; test cities check the gain. Conceptual illustration; fusion results pending.</a:t>
            </a:r>
          </a:p>
        </p:txBody>
      </p:sp>
      <p:sp>
        <p:nvSpPr>
          <p:cNvPr id="13" name="seminar-page-number">
            <a:extLst xmlns:a="http://schemas.openxmlformats.org/drawingml/2006/main">
              <a:ext uri="{FF2B5EF4-FFF2-40B4-BE49-F238E27FC236}">
                <a16:creationId xmlns:a16="http://schemas.microsoft.com/office/drawing/2014/main" id="{8169D891-225D-44AF-AA09-BCA784446561}"/>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20</a:t>
            </a:r>
          </a:p>
        </p:txBody>
      </p:sp>
    </p:spTree>
    <p:extLst>
      <p:ext uri="{BB962C8B-B14F-4D97-AF65-F5344CB8AC3E}">
        <p14:creationId xmlns:p14="http://schemas.microsoft.com/office/powerpoint/2010/main" val="127674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References I</a:t>
            </a:r>
          </a:p>
        </p:txBody>
      </p:sp>
      <p:sp>
        <p:nvSpPr>
          <p:cNvPr id="3" name="reference-1">
            <a:extLst xmlns:a="http://schemas.openxmlformats.org/drawingml/2006/main">
              <a:ext uri="{FF2B5EF4-FFF2-40B4-BE49-F238E27FC236}">
                <a16:creationId xmlns:a16="http://schemas.microsoft.com/office/drawing/2014/main" id="{7FF0EFF1-AF67-4F42-8B73-743E949543B1}"/>
              </a:ext>
            </a:extLst>
          </p:cNvPr>
          <p:cNvSpPr>
            <a:spLocks xmlns:a="http://schemas.openxmlformats.org/drawingml/2006/main" noGrp="1"/>
          </p:cNvSpPr>
          <p:nvPr/>
        </p:nvSpPr>
        <p:spPr>
          <a:xfrm xmlns:a="http://schemas.openxmlformats.org/drawingml/2006/main">
            <a:off x="723900" y="1171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 Abadie, A., &amp; Gardeazabal, J. (2003). The economic costs of conflict: A case study of the Basque Country. American Economic Review.</a:t>
            </a:r>
          </a:p>
        </p:txBody>
      </p:sp>
      <p:sp>
        <p:nvSpPr>
          <p:cNvPr id="4" name="reference-2">
            <a:extLst xmlns:a="http://schemas.openxmlformats.org/drawingml/2006/main">
              <a:ext uri="{FF2B5EF4-FFF2-40B4-BE49-F238E27FC236}">
                <a16:creationId xmlns:a16="http://schemas.microsoft.com/office/drawing/2014/main" id="{DBCF26F6-0B3B-411B-9D1D-23BDFFB5D6BC}"/>
              </a:ext>
            </a:extLst>
          </p:cNvPr>
          <p:cNvSpPr>
            <a:spLocks xmlns:a="http://schemas.openxmlformats.org/drawingml/2006/main" noGrp="1"/>
          </p:cNvSpPr>
          <p:nvPr/>
        </p:nvSpPr>
        <p:spPr>
          <a:xfrm xmlns:a="http://schemas.openxmlformats.org/drawingml/2006/main">
            <a:off x="723900" y="16002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 Abadie, A., Diamond, A., &amp; Hainmueller, J. (2010). Synthetic control methods for comparative case studies. Journal of the American Statistical Association.</a:t>
            </a:r>
          </a:p>
        </p:txBody>
      </p:sp>
      <p:sp>
        <p:nvSpPr>
          <p:cNvPr id="5" name="reference-3">
            <a:extLst xmlns:a="http://schemas.openxmlformats.org/drawingml/2006/main">
              <a:ext uri="{FF2B5EF4-FFF2-40B4-BE49-F238E27FC236}">
                <a16:creationId xmlns:a16="http://schemas.microsoft.com/office/drawing/2014/main" id="{07C37DC6-4E2B-4C15-B150-46909C6025CD}"/>
              </a:ext>
            </a:extLst>
          </p:cNvPr>
          <p:cNvSpPr>
            <a:spLocks xmlns:a="http://schemas.openxmlformats.org/drawingml/2006/main" noGrp="1"/>
          </p:cNvSpPr>
          <p:nvPr/>
        </p:nvSpPr>
        <p:spPr>
          <a:xfrm xmlns:a="http://schemas.openxmlformats.org/drawingml/2006/main">
            <a:off x="723900" y="20288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 Abadie, A. (2021). Using synthetic controls: Feasibility, data requirements, and methodological aspects. Journal of Economic Literature.</a:t>
            </a:r>
          </a:p>
        </p:txBody>
      </p:sp>
      <p:sp>
        <p:nvSpPr>
          <p:cNvPr id="6" name="reference-4">
            <a:extLst xmlns:a="http://schemas.openxmlformats.org/drawingml/2006/main">
              <a:ext uri="{FF2B5EF4-FFF2-40B4-BE49-F238E27FC236}">
                <a16:creationId xmlns:a16="http://schemas.microsoft.com/office/drawing/2014/main" id="{F023F31B-82CF-4756-BBAD-662FBCB098EA}"/>
              </a:ext>
            </a:extLst>
          </p:cNvPr>
          <p:cNvSpPr>
            <a:spLocks xmlns:a="http://schemas.openxmlformats.org/drawingml/2006/main" noGrp="1"/>
          </p:cNvSpPr>
          <p:nvPr/>
        </p:nvSpPr>
        <p:spPr>
          <a:xfrm xmlns:a="http://schemas.openxmlformats.org/drawingml/2006/main">
            <a:off x="723900" y="2457450"/>
            <a:ext cx="7791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[4] Xu, Y. (2017). Generalized synthetic control method. Political Analysis.</a:t>
            </a:r>
          </a:p>
        </p:txBody>
      </p:sp>
      <p:sp>
        <p:nvSpPr>
          <p:cNvPr id="7" name="reference-5">
            <a:extLst xmlns:a="http://schemas.openxmlformats.org/drawingml/2006/main">
              <a:ext uri="{FF2B5EF4-FFF2-40B4-BE49-F238E27FC236}">
                <a16:creationId xmlns:a16="http://schemas.microsoft.com/office/drawing/2014/main" id="{291D4896-2458-4DBA-9E05-FFFD98C77C6B}"/>
              </a:ext>
            </a:extLst>
          </p:cNvPr>
          <p:cNvSpPr>
            <a:spLocks xmlns:a="http://schemas.openxmlformats.org/drawingml/2006/main" noGrp="1"/>
          </p:cNvSpPr>
          <p:nvPr/>
        </p:nvSpPr>
        <p:spPr>
          <a:xfrm xmlns:a="http://schemas.openxmlformats.org/drawingml/2006/main">
            <a:off x="723900" y="2695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[5] Athey, S., Bayati, M., Doudchenko, N., Imbens, G., &amp; Khosravi, K. (2021). Matrix completion methods for causal panel data models. Journal of the American Statistical Association.</a:t>
            </a:r>
          </a:p>
        </p:txBody>
      </p:sp>
      <p:sp>
        <p:nvSpPr>
          <p:cNvPr id="8" name="reference-6">
            <a:extLst xmlns:a="http://schemas.openxmlformats.org/drawingml/2006/main">
              <a:ext uri="{FF2B5EF4-FFF2-40B4-BE49-F238E27FC236}">
                <a16:creationId xmlns:a16="http://schemas.microsoft.com/office/drawing/2014/main" id="{5B4E107E-C84A-4323-9AFC-BD7D9DE54F35}"/>
              </a:ext>
            </a:extLst>
          </p:cNvPr>
          <p:cNvSpPr>
            <a:spLocks xmlns:a="http://schemas.openxmlformats.org/drawingml/2006/main" noGrp="1"/>
          </p:cNvSpPr>
          <p:nvPr/>
        </p:nvSpPr>
        <p:spPr>
          <a:xfrm xmlns:a="http://schemas.openxmlformats.org/drawingml/2006/main">
            <a:off x="723900" y="31242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[6] Callaway, B., &amp; Sant’Anna, P. H. C. (2021). Difference-in-differences with multiple time periods. Journal of Econometrics.</a:t>
            </a:r>
          </a:p>
        </p:txBody>
      </p:sp>
      <p:sp>
        <p:nvSpPr>
          <p:cNvPr id="9" name="reference-7">
            <a:extLst xmlns:a="http://schemas.openxmlformats.org/drawingml/2006/main">
              <a:ext uri="{FF2B5EF4-FFF2-40B4-BE49-F238E27FC236}">
                <a16:creationId xmlns:a16="http://schemas.microsoft.com/office/drawing/2014/main" id="{6369E57E-4E29-4CD5-8531-A4838732F915}"/>
              </a:ext>
            </a:extLst>
          </p:cNvPr>
          <p:cNvSpPr>
            <a:spLocks xmlns:a="http://schemas.openxmlformats.org/drawingml/2006/main" noGrp="1"/>
          </p:cNvSpPr>
          <p:nvPr/>
        </p:nvSpPr>
        <p:spPr>
          <a:xfrm xmlns:a="http://schemas.openxmlformats.org/drawingml/2006/main">
            <a:off x="723900" y="35528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[7] Sun, L., &amp; Abraham, S. (2021). Estimating dynamic treatment effects in event studies with heterogeneous treatment effects. Journal of Econometrics.</a:t>
            </a:r>
          </a:p>
        </p:txBody>
      </p:sp>
      <p:sp>
        <p:nvSpPr>
          <p:cNvPr id="10" name="reference-8">
            <a:extLst xmlns:a="http://schemas.openxmlformats.org/drawingml/2006/main">
              <a:ext uri="{FF2B5EF4-FFF2-40B4-BE49-F238E27FC236}">
                <a16:creationId xmlns:a16="http://schemas.microsoft.com/office/drawing/2014/main" id="{1BBAC990-280F-4A95-8156-9AE3A94E1B22}"/>
              </a:ext>
            </a:extLst>
          </p:cNvPr>
          <p:cNvSpPr>
            <a:spLocks xmlns:a="http://schemas.openxmlformats.org/drawingml/2006/main" noGrp="1"/>
          </p:cNvSpPr>
          <p:nvPr/>
        </p:nvSpPr>
        <p:spPr>
          <a:xfrm xmlns:a="http://schemas.openxmlformats.org/drawingml/2006/main">
            <a:off x="723900" y="39814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[8] Goodman-Bacon, A. (2021). Difference-in-differences with variation in treatment timing. Journal of Econometrics.</a:t>
            </a:r>
          </a:p>
        </p:txBody>
      </p:sp>
      <p:sp>
        <p:nvSpPr>
          <p:cNvPr id="11" name="seminar-page-number">
            <a:extLst xmlns:a="http://schemas.openxmlformats.org/drawingml/2006/main">
              <a:ext uri="{FF2B5EF4-FFF2-40B4-BE49-F238E27FC236}">
                <a16:creationId xmlns:a16="http://schemas.microsoft.com/office/drawing/2014/main" id="{B499DE68-1850-4895-8A65-D4742F71039E}"/>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21</a:t>
            </a:r>
          </a:p>
        </p:txBody>
      </p:sp>
    </p:spTree>
    <p:extLst>
      <p:ext uri="{BB962C8B-B14F-4D97-AF65-F5344CB8AC3E}">
        <p14:creationId xmlns:p14="http://schemas.microsoft.com/office/powerpoint/2010/main" val="12767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References II</a:t>
            </a:r>
          </a:p>
        </p:txBody>
      </p:sp>
      <p:sp>
        <p:nvSpPr>
          <p:cNvPr id="3" name="reference-9">
            <a:extLst xmlns:a="http://schemas.openxmlformats.org/drawingml/2006/main">
              <a:ext uri="{FF2B5EF4-FFF2-40B4-BE49-F238E27FC236}">
                <a16:creationId xmlns:a16="http://schemas.microsoft.com/office/drawing/2014/main" id="{A541E23A-39D2-4745-8817-234B8F290995}"/>
              </a:ext>
            </a:extLst>
          </p:cNvPr>
          <p:cNvSpPr>
            <a:spLocks xmlns:a="http://schemas.openxmlformats.org/drawingml/2006/main" noGrp="1"/>
          </p:cNvSpPr>
          <p:nvPr/>
        </p:nvSpPr>
        <p:spPr>
          <a:xfrm xmlns:a="http://schemas.openxmlformats.org/drawingml/2006/main">
            <a:off x="723900" y="1171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[9] Imai, K., Kim, I. S., &amp; Wang, E. H. (2023). Matching methods for causal inference with time-series cross-sectional data. American Journal of Political Science.</a:t>
            </a:r>
          </a:p>
        </p:txBody>
      </p:sp>
      <p:sp>
        <p:nvSpPr>
          <p:cNvPr id="4" name="reference-10">
            <a:extLst xmlns:a="http://schemas.openxmlformats.org/drawingml/2006/main">
              <a:ext uri="{FF2B5EF4-FFF2-40B4-BE49-F238E27FC236}">
                <a16:creationId xmlns:a16="http://schemas.microsoft.com/office/drawing/2014/main" id="{A2111A9C-B6C1-4312-BB71-B647BB012F0A}"/>
              </a:ext>
            </a:extLst>
          </p:cNvPr>
          <p:cNvSpPr>
            <a:spLocks xmlns:a="http://schemas.openxmlformats.org/drawingml/2006/main" noGrp="1"/>
          </p:cNvSpPr>
          <p:nvPr/>
        </p:nvSpPr>
        <p:spPr>
          <a:xfrm xmlns:a="http://schemas.openxmlformats.org/drawingml/2006/main">
            <a:off x="723900" y="16002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[10] Roth, J. (2022). Pretest with caution: Event-study estimates after testing for parallel trends. American Economic Review: Insights.</a:t>
            </a:r>
          </a:p>
        </p:txBody>
      </p:sp>
      <p:sp>
        <p:nvSpPr>
          <p:cNvPr id="5" name="reference-11">
            <a:extLst xmlns:a="http://schemas.openxmlformats.org/drawingml/2006/main">
              <a:ext uri="{FF2B5EF4-FFF2-40B4-BE49-F238E27FC236}">
                <a16:creationId xmlns:a16="http://schemas.microsoft.com/office/drawing/2014/main" id="{F1D0A84E-9497-4AE3-A0A6-9D795750EBDA}"/>
              </a:ext>
            </a:extLst>
          </p:cNvPr>
          <p:cNvSpPr>
            <a:spLocks xmlns:a="http://schemas.openxmlformats.org/drawingml/2006/main" noGrp="1"/>
          </p:cNvSpPr>
          <p:nvPr/>
        </p:nvSpPr>
        <p:spPr>
          <a:xfrm xmlns:a="http://schemas.openxmlformats.org/drawingml/2006/main">
            <a:off x="723900" y="20288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[11] Rambachan, A., &amp; Roth, J. (2023). A more credible approach to parallel trends. Review of Economic Studies.</a:t>
            </a:r>
          </a:p>
        </p:txBody>
      </p:sp>
      <p:sp>
        <p:nvSpPr>
          <p:cNvPr id="6" name="reference-12">
            <a:extLst xmlns:a="http://schemas.openxmlformats.org/drawingml/2006/main">
              <a:ext uri="{FF2B5EF4-FFF2-40B4-BE49-F238E27FC236}">
                <a16:creationId xmlns:a16="http://schemas.microsoft.com/office/drawing/2014/main" id="{58D94F43-C177-4E9D-8109-0B4C51465DD3}"/>
              </a:ext>
            </a:extLst>
          </p:cNvPr>
          <p:cNvSpPr>
            <a:spLocks xmlns:a="http://schemas.openxmlformats.org/drawingml/2006/main" noGrp="1"/>
          </p:cNvSpPr>
          <p:nvPr/>
        </p:nvSpPr>
        <p:spPr>
          <a:xfrm xmlns:a="http://schemas.openxmlformats.org/drawingml/2006/main">
            <a:off x="723900" y="24574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[12] Baum-Snow, N., &amp; Kahn, M. E. (2000). The effects of new public projects to expand urban rail transit. Journal of Public Economics.</a:t>
            </a:r>
          </a:p>
        </p:txBody>
      </p:sp>
      <p:sp>
        <p:nvSpPr>
          <p:cNvPr id="7" name="reference-13">
            <a:extLst xmlns:a="http://schemas.openxmlformats.org/drawingml/2006/main">
              <a:ext uri="{FF2B5EF4-FFF2-40B4-BE49-F238E27FC236}">
                <a16:creationId xmlns:a16="http://schemas.microsoft.com/office/drawing/2014/main" id="{0FFF70AB-1A37-462C-8F8C-F1A69A0C0479}"/>
              </a:ext>
            </a:extLst>
          </p:cNvPr>
          <p:cNvSpPr>
            <a:spLocks xmlns:a="http://schemas.openxmlformats.org/drawingml/2006/main" noGrp="1"/>
          </p:cNvSpPr>
          <p:nvPr/>
        </p:nvSpPr>
        <p:spPr>
          <a:xfrm xmlns:a="http://schemas.openxmlformats.org/drawingml/2006/main">
            <a:off x="723900" y="28860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[13] Gibbons, S., &amp; Machin, S. (2005). Valuing rail access using transport innovations. Journal of Urban Economics.</a:t>
            </a:r>
          </a:p>
        </p:txBody>
      </p:sp>
      <p:sp>
        <p:nvSpPr>
          <p:cNvPr id="8" name="reference-14">
            <a:extLst xmlns:a="http://schemas.openxmlformats.org/drawingml/2006/main">
              <a:ext uri="{FF2B5EF4-FFF2-40B4-BE49-F238E27FC236}">
                <a16:creationId xmlns:a16="http://schemas.microsoft.com/office/drawing/2014/main" id="{29251D35-CEAA-4D50-8CF7-4F6B944EEAF1}"/>
              </a:ext>
            </a:extLst>
          </p:cNvPr>
          <p:cNvSpPr>
            <a:spLocks xmlns:a="http://schemas.openxmlformats.org/drawingml/2006/main" noGrp="1"/>
          </p:cNvSpPr>
          <p:nvPr/>
        </p:nvSpPr>
        <p:spPr>
          <a:xfrm xmlns:a="http://schemas.openxmlformats.org/drawingml/2006/main">
            <a:off x="723900" y="33147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[14] Debrezion, G., Pels, E., &amp; Rietveld, P. (2007). The impact of railway stations on residential and commercial property value: A meta-analysis. The Journal of Real Estate Finance and Economics.</a:t>
            </a:r>
          </a:p>
        </p:txBody>
      </p:sp>
      <p:sp>
        <p:nvSpPr>
          <p:cNvPr id="9" name="reference-15">
            <a:extLst xmlns:a="http://schemas.openxmlformats.org/drawingml/2006/main">
              <a:ext uri="{FF2B5EF4-FFF2-40B4-BE49-F238E27FC236}">
                <a16:creationId xmlns:a16="http://schemas.microsoft.com/office/drawing/2014/main" id="{8D164383-C083-401D-80A4-D1EFD9B2BFA8}"/>
              </a:ext>
            </a:extLst>
          </p:cNvPr>
          <p:cNvSpPr>
            <a:spLocks xmlns:a="http://schemas.openxmlformats.org/drawingml/2006/main" noGrp="1"/>
          </p:cNvSpPr>
          <p:nvPr/>
        </p:nvSpPr>
        <p:spPr>
          <a:xfrm xmlns:a="http://schemas.openxmlformats.org/drawingml/2006/main">
            <a:off x="723900" y="37433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[15] Zheng, S., &amp; Kahn, M. E. (2008). Land and residential property markets in a booming economy: New evidence from Beijing. Journal of Urban Economics.</a:t>
            </a:r>
          </a:p>
        </p:txBody>
      </p:sp>
      <p:sp>
        <p:nvSpPr>
          <p:cNvPr id="10" name="reference-16">
            <a:extLst xmlns:a="http://schemas.openxmlformats.org/drawingml/2006/main">
              <a:ext uri="{FF2B5EF4-FFF2-40B4-BE49-F238E27FC236}">
                <a16:creationId xmlns:a16="http://schemas.microsoft.com/office/drawing/2014/main" id="{800491F8-2AFE-45C5-ABE0-D6968DA53202}"/>
              </a:ext>
            </a:extLst>
          </p:cNvPr>
          <p:cNvSpPr>
            <a:spLocks xmlns:a="http://schemas.openxmlformats.org/drawingml/2006/main" noGrp="1"/>
          </p:cNvSpPr>
          <p:nvPr/>
        </p:nvSpPr>
        <p:spPr>
          <a:xfrm xmlns:a="http://schemas.openxmlformats.org/drawingml/2006/main">
            <a:off x="723900" y="41719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[16] Gonzalez-Navarro, M., &amp; Turner, M. A. (2018). Subways and urban growth: Evidence from Earth. Journal of Urban Economics.</a:t>
            </a:r>
          </a:p>
        </p:txBody>
      </p:sp>
      <p:sp>
        <p:nvSpPr>
          <p:cNvPr id="11" name="seminar-page-number">
            <a:extLst xmlns:a="http://schemas.openxmlformats.org/drawingml/2006/main">
              <a:ext uri="{FF2B5EF4-FFF2-40B4-BE49-F238E27FC236}">
                <a16:creationId xmlns:a16="http://schemas.microsoft.com/office/drawing/2014/main" id="{7563E649-24A6-4692-8568-C75465BAE48C}"/>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22</a:t>
            </a:r>
          </a:p>
        </p:txBody>
      </p:sp>
    </p:spTree>
    <p:extLst>
      <p:ext uri="{BB962C8B-B14F-4D97-AF65-F5344CB8AC3E}">
        <p14:creationId xmlns:p14="http://schemas.microsoft.com/office/powerpoint/2010/main" val="127674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References III</a:t>
            </a:r>
          </a:p>
        </p:txBody>
      </p:sp>
      <p:sp>
        <p:nvSpPr>
          <p:cNvPr id="3" name="reference-17">
            <a:extLst xmlns:a="http://schemas.openxmlformats.org/drawingml/2006/main">
              <a:ext uri="{FF2B5EF4-FFF2-40B4-BE49-F238E27FC236}">
                <a16:creationId xmlns:a16="http://schemas.microsoft.com/office/drawing/2014/main" id="{29E9CA8D-65EA-4587-B3BE-0440E4A73505}"/>
              </a:ext>
            </a:extLst>
          </p:cNvPr>
          <p:cNvSpPr>
            <a:spLocks xmlns:a="http://schemas.openxmlformats.org/drawingml/2006/main" noGrp="1"/>
          </p:cNvSpPr>
          <p:nvPr/>
        </p:nvSpPr>
        <p:spPr>
          <a:xfrm xmlns:a="http://schemas.openxmlformats.org/drawingml/2006/main">
            <a:off x="723900" y="1171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[17] Dong, H. (2017). Rail-transit-induced gentrification and the affordability paradox of TOD. Journal of Transport Geography.</a:t>
            </a:r>
          </a:p>
        </p:txBody>
      </p:sp>
      <p:sp>
        <p:nvSpPr>
          <p:cNvPr id="4" name="reference-18">
            <a:extLst xmlns:a="http://schemas.openxmlformats.org/drawingml/2006/main">
              <a:ext uri="{FF2B5EF4-FFF2-40B4-BE49-F238E27FC236}">
                <a16:creationId xmlns:a16="http://schemas.microsoft.com/office/drawing/2014/main" id="{8F1E9A16-3383-4C54-B720-941258AF7CF9}"/>
              </a:ext>
            </a:extLst>
          </p:cNvPr>
          <p:cNvSpPr>
            <a:spLocks xmlns:a="http://schemas.openxmlformats.org/drawingml/2006/main" noGrp="1"/>
          </p:cNvSpPr>
          <p:nvPr/>
        </p:nvSpPr>
        <p:spPr>
          <a:xfrm xmlns:a="http://schemas.openxmlformats.org/drawingml/2006/main">
            <a:off x="723900" y="16002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[18] Cervero, R., &amp; Kockelman, K. (1997). Travel demand and the 3Ds: Density, diversity, and design. Transportation Research Part D.</a:t>
            </a:r>
          </a:p>
        </p:txBody>
      </p:sp>
      <p:sp>
        <p:nvSpPr>
          <p:cNvPr id="5" name="reference-19">
            <a:extLst xmlns:a="http://schemas.openxmlformats.org/drawingml/2006/main">
              <a:ext uri="{FF2B5EF4-FFF2-40B4-BE49-F238E27FC236}">
                <a16:creationId xmlns:a16="http://schemas.microsoft.com/office/drawing/2014/main" id="{528B5EBB-2DB6-45B1-A145-D91C52CDB944}"/>
              </a:ext>
            </a:extLst>
          </p:cNvPr>
          <p:cNvSpPr>
            <a:spLocks xmlns:a="http://schemas.openxmlformats.org/drawingml/2006/main" noGrp="1"/>
          </p:cNvSpPr>
          <p:nvPr/>
        </p:nvSpPr>
        <p:spPr>
          <a:xfrm xmlns:a="http://schemas.openxmlformats.org/drawingml/2006/main">
            <a:off x="723900" y="20288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[19] Lu, K., Han, B., Lu, F., &amp; Wang, Z. (2016). Urban rail transit in China: Progress report and analysis (2008–2015). Urban Rail Transit.</a:t>
            </a:r>
          </a:p>
        </p:txBody>
      </p:sp>
      <p:sp>
        <p:nvSpPr>
          <p:cNvPr id="6" name="reference-20">
            <a:extLst xmlns:a="http://schemas.openxmlformats.org/drawingml/2006/main">
              <a:ext uri="{FF2B5EF4-FFF2-40B4-BE49-F238E27FC236}">
                <a16:creationId xmlns:a16="http://schemas.microsoft.com/office/drawing/2014/main" id="{71CF6254-792A-4C9F-933E-181ABB5F6897}"/>
              </a:ext>
            </a:extLst>
          </p:cNvPr>
          <p:cNvSpPr>
            <a:spLocks xmlns:a="http://schemas.openxmlformats.org/drawingml/2006/main" noGrp="1"/>
          </p:cNvSpPr>
          <p:nvPr/>
        </p:nvSpPr>
        <p:spPr>
          <a:xfrm xmlns:a="http://schemas.openxmlformats.org/drawingml/2006/main">
            <a:off x="723900" y="24574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[20] Bao, X. (2018). Urban rail transit present situation and future development trends in China: Overall analysis based on national policies and strategic plans in 2016–2020. Urban Rail Transit.</a:t>
            </a:r>
          </a:p>
        </p:txBody>
      </p:sp>
      <p:sp>
        <p:nvSpPr>
          <p:cNvPr id="7" name="reference-21">
            <a:extLst xmlns:a="http://schemas.openxmlformats.org/drawingml/2006/main">
              <a:ext uri="{FF2B5EF4-FFF2-40B4-BE49-F238E27FC236}">
                <a16:creationId xmlns:a16="http://schemas.microsoft.com/office/drawing/2014/main" id="{BEF8A286-760C-4A29-ADF4-7900B40B720B}"/>
              </a:ext>
            </a:extLst>
          </p:cNvPr>
          <p:cNvSpPr>
            <a:spLocks xmlns:a="http://schemas.openxmlformats.org/drawingml/2006/main" noGrp="1"/>
          </p:cNvSpPr>
          <p:nvPr/>
        </p:nvSpPr>
        <p:spPr>
          <a:xfrm xmlns:a="http://schemas.openxmlformats.org/drawingml/2006/main">
            <a:off x="723900" y="28860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[21] Wang, L., &amp; Xia, H. (2024). A comprehensive review of the development characteristics and future trends of TOD in Chinese urban rail transit. Urban Rail Transit.</a:t>
            </a:r>
          </a:p>
        </p:txBody>
      </p:sp>
      <p:sp>
        <p:nvSpPr>
          <p:cNvPr id="8" name="reference-22">
            <a:extLst xmlns:a="http://schemas.openxmlformats.org/drawingml/2006/main">
              <a:ext uri="{FF2B5EF4-FFF2-40B4-BE49-F238E27FC236}">
                <a16:creationId xmlns:a16="http://schemas.microsoft.com/office/drawing/2014/main" id="{EF458EFB-A1BA-4CD9-9E8C-AF7B7C825C04}"/>
              </a:ext>
            </a:extLst>
          </p:cNvPr>
          <p:cNvSpPr>
            <a:spLocks xmlns:a="http://schemas.openxmlformats.org/drawingml/2006/main" noGrp="1"/>
          </p:cNvSpPr>
          <p:nvPr/>
        </p:nvSpPr>
        <p:spPr>
          <a:xfrm xmlns:a="http://schemas.openxmlformats.org/drawingml/2006/main">
            <a:off x="723900" y="33147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[22] Jean, N., Burke, M., Xie, M., Davis, W. M., Lobell, D. B., &amp; Ermon, S. (2016). Combining satellite imagery and machine learning to predict poverty. Science.</a:t>
            </a:r>
          </a:p>
        </p:txBody>
      </p:sp>
      <p:sp>
        <p:nvSpPr>
          <p:cNvPr id="9" name="reference-23">
            <a:extLst xmlns:a="http://schemas.openxmlformats.org/drawingml/2006/main">
              <a:ext uri="{FF2B5EF4-FFF2-40B4-BE49-F238E27FC236}">
                <a16:creationId xmlns:a16="http://schemas.microsoft.com/office/drawing/2014/main" id="{A6F47FF8-3E55-443D-8E9F-A32B01FEBD68}"/>
              </a:ext>
            </a:extLst>
          </p:cNvPr>
          <p:cNvSpPr>
            <a:spLocks xmlns:a="http://schemas.openxmlformats.org/drawingml/2006/main" noGrp="1"/>
          </p:cNvSpPr>
          <p:nvPr/>
        </p:nvSpPr>
        <p:spPr>
          <a:xfrm xmlns:a="http://schemas.openxmlformats.org/drawingml/2006/main">
            <a:off x="723900" y="3743325"/>
            <a:ext cx="7791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[23] Rolf, E., Proctor, J., Carleton, T., Bolliger, I., Shankar, V., Ishihara, M., Recht, B., &amp; Hsiang, S. (2021). A generalizable and accessible approach to machine learning with global satellite imagery. Nature Communications.</a:t>
            </a:r>
          </a:p>
        </p:txBody>
      </p:sp>
      <p:sp>
        <p:nvSpPr>
          <p:cNvPr id="10" name="reference-24">
            <a:extLst xmlns:a="http://schemas.openxmlformats.org/drawingml/2006/main">
              <a:ext uri="{FF2B5EF4-FFF2-40B4-BE49-F238E27FC236}">
                <a16:creationId xmlns:a16="http://schemas.microsoft.com/office/drawing/2014/main" id="{C9EA072F-AC10-4B31-8615-BB090DE045FF}"/>
              </a:ext>
            </a:extLst>
          </p:cNvPr>
          <p:cNvSpPr>
            <a:spLocks xmlns:a="http://schemas.openxmlformats.org/drawingml/2006/main" noGrp="1"/>
          </p:cNvSpPr>
          <p:nvPr/>
        </p:nvSpPr>
        <p:spPr>
          <a:xfrm xmlns:a="http://schemas.openxmlformats.org/drawingml/2006/main">
            <a:off x="723900" y="43624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[24] Chen, T., Kornblith, S., Norouzi, M., &amp; Hinton, G. (2020). A simple framework for contrastive learning of visual representations. International Conference on Machine Learning.</a:t>
            </a:r>
          </a:p>
        </p:txBody>
      </p:sp>
      <p:sp>
        <p:nvSpPr>
          <p:cNvPr id="11" name="seminar-page-number">
            <a:extLst xmlns:a="http://schemas.openxmlformats.org/drawingml/2006/main">
              <a:ext uri="{FF2B5EF4-FFF2-40B4-BE49-F238E27FC236}">
                <a16:creationId xmlns:a16="http://schemas.microsoft.com/office/drawing/2014/main" id="{2E6CA86C-A738-490F-96EA-77B1A6B726F7}"/>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23</a:t>
            </a:r>
          </a:p>
        </p:txBody>
      </p:sp>
    </p:spTree>
    <p:extLst>
      <p:ext uri="{BB962C8B-B14F-4D97-AF65-F5344CB8AC3E}">
        <p14:creationId xmlns:p14="http://schemas.microsoft.com/office/powerpoint/2010/main" val="127674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References IV</a:t>
            </a:r>
          </a:p>
        </p:txBody>
      </p:sp>
      <p:sp>
        <p:nvSpPr>
          <p:cNvPr id="3" name="reference-25">
            <a:extLst xmlns:a="http://schemas.openxmlformats.org/drawingml/2006/main">
              <a:ext uri="{FF2B5EF4-FFF2-40B4-BE49-F238E27FC236}">
                <a16:creationId xmlns:a16="http://schemas.microsoft.com/office/drawing/2014/main" id="{F7123B5C-626A-4EDE-AF27-87BCFCB2A1FC}"/>
              </a:ext>
            </a:extLst>
          </p:cNvPr>
          <p:cNvSpPr>
            <a:spLocks xmlns:a="http://schemas.openxmlformats.org/drawingml/2006/main" noGrp="1"/>
          </p:cNvSpPr>
          <p:nvPr/>
        </p:nvSpPr>
        <p:spPr>
          <a:xfrm xmlns:a="http://schemas.openxmlformats.org/drawingml/2006/main">
            <a:off x="723900" y="1171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[25] He, K., Fan, H., Wu, Y., Xie, S., &amp; Girshick, R. (2020). Momentum contrast for unsupervised visual representation learning. IEEE/CVF Conference on Computer Vision and Pattern Recognition.</a:t>
            </a:r>
          </a:p>
        </p:txBody>
      </p:sp>
      <p:sp>
        <p:nvSpPr>
          <p:cNvPr id="4" name="reference-26">
            <a:extLst xmlns:a="http://schemas.openxmlformats.org/drawingml/2006/main">
              <a:ext uri="{FF2B5EF4-FFF2-40B4-BE49-F238E27FC236}">
                <a16:creationId xmlns:a16="http://schemas.microsoft.com/office/drawing/2014/main" id="{7EF7E942-B024-40F4-B4E0-7B5E0F0BA44A}"/>
              </a:ext>
            </a:extLst>
          </p:cNvPr>
          <p:cNvSpPr>
            <a:spLocks xmlns:a="http://schemas.openxmlformats.org/drawingml/2006/main" noGrp="1"/>
          </p:cNvSpPr>
          <p:nvPr/>
        </p:nvSpPr>
        <p:spPr>
          <a:xfrm xmlns:a="http://schemas.openxmlformats.org/drawingml/2006/main">
            <a:off x="723900" y="1600200"/>
            <a:ext cx="7791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[26] Khosla, P., Teterwak, P., Wang, C., Sarna, A., Tian, Y., Isola, P., Maschinot, A., Liu, C., &amp; Krishnan, D. (2020). Supervised contrastive learning. Advances in Neural Information Processing Systems.</a:t>
            </a:r>
          </a:p>
        </p:txBody>
      </p:sp>
      <p:sp>
        <p:nvSpPr>
          <p:cNvPr id="5" name="reference-27">
            <a:extLst xmlns:a="http://schemas.openxmlformats.org/drawingml/2006/main">
              <a:ext uri="{FF2B5EF4-FFF2-40B4-BE49-F238E27FC236}">
                <a16:creationId xmlns:a16="http://schemas.microsoft.com/office/drawing/2014/main" id="{56C7AFC4-B0F6-4828-9F5D-112918E78966}"/>
              </a:ext>
            </a:extLst>
          </p:cNvPr>
          <p:cNvSpPr>
            <a:spLocks xmlns:a="http://schemas.openxmlformats.org/drawingml/2006/main" noGrp="1"/>
          </p:cNvSpPr>
          <p:nvPr/>
        </p:nvSpPr>
        <p:spPr>
          <a:xfrm xmlns:a="http://schemas.openxmlformats.org/drawingml/2006/main">
            <a:off x="723900" y="22193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[27] Oquab, M., Darcet, T., Moutakanni, T., et al. (2024). DINOv2: Learning robust visual features without supervision. Transactions on Machine Learning Research.</a:t>
            </a:r>
          </a:p>
        </p:txBody>
      </p:sp>
      <p:sp>
        <p:nvSpPr>
          <p:cNvPr id="6" name="reference-28">
            <a:extLst xmlns:a="http://schemas.openxmlformats.org/drawingml/2006/main">
              <a:ext uri="{FF2B5EF4-FFF2-40B4-BE49-F238E27FC236}">
                <a16:creationId xmlns:a16="http://schemas.microsoft.com/office/drawing/2014/main" id="{466935A2-5289-4274-B0D1-C05A7E1D748C}"/>
              </a:ext>
            </a:extLst>
          </p:cNvPr>
          <p:cNvSpPr>
            <a:spLocks xmlns:a="http://schemas.openxmlformats.org/drawingml/2006/main" noGrp="1"/>
          </p:cNvSpPr>
          <p:nvPr/>
        </p:nvSpPr>
        <p:spPr>
          <a:xfrm xmlns:a="http://schemas.openxmlformats.org/drawingml/2006/main">
            <a:off x="723900" y="26479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[28] Schölkopf, B., Locatello, F., Bauer, S., Ke, N. R., Kalchbrenner, N., Goyal, A., &amp; Bengio, Y. (2021). Toward causal representation learning. Proceedings of the IEEE.</a:t>
            </a:r>
          </a:p>
        </p:txBody>
      </p:sp>
      <p:sp>
        <p:nvSpPr>
          <p:cNvPr id="7" name="reference-29">
            <a:extLst xmlns:a="http://schemas.openxmlformats.org/drawingml/2006/main">
              <a:ext uri="{FF2B5EF4-FFF2-40B4-BE49-F238E27FC236}">
                <a16:creationId xmlns:a16="http://schemas.microsoft.com/office/drawing/2014/main" id="{1036B19A-4D7C-4900-B89E-11823CF74BDC}"/>
              </a:ext>
            </a:extLst>
          </p:cNvPr>
          <p:cNvSpPr>
            <a:spLocks xmlns:a="http://schemas.openxmlformats.org/drawingml/2006/main" noGrp="1"/>
          </p:cNvSpPr>
          <p:nvPr/>
        </p:nvSpPr>
        <p:spPr>
          <a:xfrm xmlns:a="http://schemas.openxmlformats.org/drawingml/2006/main">
            <a:off x="723900" y="3076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[29] Mayer, T., &amp; Trevien, C. (2017). The impact of urban public transportation: Evidence from the Paris region. Journal of Urban Economics.</a:t>
            </a:r>
          </a:p>
        </p:txBody>
      </p:sp>
      <p:sp>
        <p:nvSpPr>
          <p:cNvPr id="8" name="reference-30">
            <a:extLst xmlns:a="http://schemas.openxmlformats.org/drawingml/2006/main">
              <a:ext uri="{FF2B5EF4-FFF2-40B4-BE49-F238E27FC236}">
                <a16:creationId xmlns:a16="http://schemas.microsoft.com/office/drawing/2014/main" id="{A2E39F58-5DBF-4814-A489-5193362CE24C}"/>
              </a:ext>
            </a:extLst>
          </p:cNvPr>
          <p:cNvSpPr>
            <a:spLocks xmlns:a="http://schemas.openxmlformats.org/drawingml/2006/main" noGrp="1"/>
          </p:cNvSpPr>
          <p:nvPr/>
        </p:nvSpPr>
        <p:spPr>
          <a:xfrm xmlns:a="http://schemas.openxmlformats.org/drawingml/2006/main">
            <a:off x="723900" y="35052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[30] Diao, M., Leonard, D., &amp; Sing, T. F. (2017). Spatial-difference-in-differences models for impact of new mass rapid transit line on private housing values. Regional Science and Urban Economics.</a:t>
            </a:r>
          </a:p>
        </p:txBody>
      </p:sp>
      <p:sp>
        <p:nvSpPr>
          <p:cNvPr id="9" name="reference-31">
            <a:extLst xmlns:a="http://schemas.openxmlformats.org/drawingml/2006/main">
              <a:ext uri="{FF2B5EF4-FFF2-40B4-BE49-F238E27FC236}">
                <a16:creationId xmlns:a16="http://schemas.microsoft.com/office/drawing/2014/main" id="{129181CB-2E2F-4462-B891-638F52706515}"/>
              </a:ext>
            </a:extLst>
          </p:cNvPr>
          <p:cNvSpPr>
            <a:spLocks xmlns:a="http://schemas.openxmlformats.org/drawingml/2006/main" noGrp="1"/>
          </p:cNvSpPr>
          <p:nvPr/>
        </p:nvSpPr>
        <p:spPr>
          <a:xfrm xmlns:a="http://schemas.openxmlformats.org/drawingml/2006/main">
            <a:off x="723900" y="3933825"/>
            <a:ext cx="7791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[31] Bardaka, E., Delgado, M. S., &amp; Florax, R. J. G. M. (2018). Causal identification of transit-induced gentrification and spatial spillover effects: The case of the Denver light rail. Journal of Transport Geography.</a:t>
            </a:r>
          </a:p>
        </p:txBody>
      </p:sp>
      <p:sp>
        <p:nvSpPr>
          <p:cNvPr id="10" name="reference-32">
            <a:extLst xmlns:a="http://schemas.openxmlformats.org/drawingml/2006/main">
              <a:ext uri="{FF2B5EF4-FFF2-40B4-BE49-F238E27FC236}">
                <a16:creationId xmlns:a16="http://schemas.microsoft.com/office/drawing/2014/main" id="{D0467343-2EB4-442F-A087-150A89CAE523}"/>
              </a:ext>
            </a:extLst>
          </p:cNvPr>
          <p:cNvSpPr>
            <a:spLocks xmlns:a="http://schemas.openxmlformats.org/drawingml/2006/main" noGrp="1"/>
          </p:cNvSpPr>
          <p:nvPr/>
        </p:nvSpPr>
        <p:spPr>
          <a:xfrm xmlns:a="http://schemas.openxmlformats.org/drawingml/2006/main">
            <a:off x="723900" y="45529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[32] Wang, Z., Li, H., &amp; Rajagopal, R. (2020). Urban2Vec: Incorporating street view imagery and POIs for multi-modal urban neighborhood embedding. AAAI.</a:t>
            </a:r>
          </a:p>
        </p:txBody>
      </p:sp>
      <p:sp>
        <p:nvSpPr>
          <p:cNvPr id="11" name="seminar-page-number">
            <a:extLst xmlns:a="http://schemas.openxmlformats.org/drawingml/2006/main">
              <a:ext uri="{FF2B5EF4-FFF2-40B4-BE49-F238E27FC236}">
                <a16:creationId xmlns:a16="http://schemas.microsoft.com/office/drawing/2014/main" id="{B618E3FB-BC70-4932-B0F3-60444815678A}"/>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24</a:t>
            </a:r>
          </a:p>
        </p:txBody>
      </p:sp>
    </p:spTree>
    <p:extLst>
      <p:ext uri="{BB962C8B-B14F-4D97-AF65-F5344CB8AC3E}">
        <p14:creationId xmlns:p14="http://schemas.microsoft.com/office/powerpoint/2010/main" val="127674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D7518E-13F9-44AF-A1B8-F7D23DB533C5}"/>
              </a:ext>
            </a:extLst>
          </p:cNvPr>
          <p:cNvSpPr>
            <a:spLocks xmlns:a="http://schemas.openxmlformats.org/drawingml/2006/main" noGrp="1"/>
          </p:cNvSpPr>
          <p:nvPr>
            <p:ph type="title" idx="0"/>
          </p:nvPr>
        </p:nvSpPr>
        <p:spPr>
          <a:xfrm xmlns:a="http://schemas.openxmlformats.org/drawingml/2006/main">
            <a:off x="628650" y="257175"/>
            <a:ext cx="8001000" cy="790575"/>
          </a:xfrm>
        </p:spPr>
        <p:txBody>
          <a:bodyPr xmlns:a="http://schemas.openxmlformats.org/drawingml/2006/main" lIns="91440" tIns="0" rIns="0" bIns="0" anchor="ctr">
            <a:noAutofit/>
          </a:bodyPr>
          <a:lstStyle xmlns:a="http://schemas.openxmlformats.org/drawingml/2006/main"/>
          <a:p xmlns:a="http://schemas.openxmlformats.org/drawingml/2006/main">
            <a:pPr lvl="0" algn="l">
              <a:buNone/>
              <a:defRPr sz="2400" b="0">
                <a:solidFill>
                  <a:srgbClr val="242424"/>
                </a:solidFill>
                <a:latin typeface="Open Sans ExtraBold"/>
                <a:ea typeface="Open Sans ExtraBold"/>
                <a:cs typeface="Open Sans ExtraBold"/>
              </a:defRPr>
            </a:pPr>
            <a:r>
              <a:rPr sz="2400" b="0">
                <a:solidFill>
                  <a:srgbClr val="242424"/>
                </a:solidFill>
                <a:latin typeface="Open Sans ExtraBold"/>
                <a:ea typeface="Open Sans ExtraBold"/>
                <a:cs typeface="Open Sans ExtraBold"/>
              </a:rPr>
              <a:t>References V</a:t>
            </a:r>
          </a:p>
        </p:txBody>
      </p:sp>
      <p:sp>
        <p:nvSpPr>
          <p:cNvPr id="3" name="reference-33">
            <a:extLst xmlns:a="http://schemas.openxmlformats.org/drawingml/2006/main">
              <a:ext uri="{FF2B5EF4-FFF2-40B4-BE49-F238E27FC236}">
                <a16:creationId xmlns:a16="http://schemas.microsoft.com/office/drawing/2014/main" id="{6D5BD1A5-B845-4AC9-992B-B7B36A5E8B97}"/>
              </a:ext>
            </a:extLst>
          </p:cNvPr>
          <p:cNvSpPr>
            <a:spLocks xmlns:a="http://schemas.openxmlformats.org/drawingml/2006/main" noGrp="1"/>
          </p:cNvSpPr>
          <p:nvPr/>
        </p:nvSpPr>
        <p:spPr>
          <a:xfrm xmlns:a="http://schemas.openxmlformats.org/drawingml/2006/main">
            <a:off x="723900" y="1171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[33] Li, Y., Huang, W., Cong, G., Wang, H., &amp; Wang, Z. (2023). Urban region representation learning with OpenStreetMap building footprints. KDD.</a:t>
            </a:r>
          </a:p>
        </p:txBody>
      </p:sp>
      <p:sp>
        <p:nvSpPr>
          <p:cNvPr id="4" name="reference-34">
            <a:extLst xmlns:a="http://schemas.openxmlformats.org/drawingml/2006/main">
              <a:ext uri="{FF2B5EF4-FFF2-40B4-BE49-F238E27FC236}">
                <a16:creationId xmlns:a16="http://schemas.microsoft.com/office/drawing/2014/main" id="{A687A477-FCDD-4CFD-A987-35F8F1CEEF79}"/>
              </a:ext>
            </a:extLst>
          </p:cNvPr>
          <p:cNvSpPr>
            <a:spLocks xmlns:a="http://schemas.openxmlformats.org/drawingml/2006/main" noGrp="1"/>
          </p:cNvSpPr>
          <p:nvPr/>
        </p:nvSpPr>
        <p:spPr>
          <a:xfrm xmlns:a="http://schemas.openxmlformats.org/drawingml/2006/main">
            <a:off x="723900" y="1600200"/>
            <a:ext cx="7791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[34] Wei, Y., Zheng, Y., &amp; Yang, Q. (2016). Transfer knowledge between cities. KDD.</a:t>
            </a:r>
          </a:p>
        </p:txBody>
      </p:sp>
      <p:sp>
        <p:nvSpPr>
          <p:cNvPr id="5" name="reference-35">
            <a:extLst xmlns:a="http://schemas.openxmlformats.org/drawingml/2006/main">
              <a:ext uri="{FF2B5EF4-FFF2-40B4-BE49-F238E27FC236}">
                <a16:creationId xmlns:a16="http://schemas.microsoft.com/office/drawing/2014/main" id="{1E0ABA3E-FB27-422D-8682-9AF6CE1F94A4}"/>
              </a:ext>
            </a:extLst>
          </p:cNvPr>
          <p:cNvSpPr>
            <a:spLocks xmlns:a="http://schemas.openxmlformats.org/drawingml/2006/main" noGrp="1"/>
          </p:cNvSpPr>
          <p:nvPr/>
        </p:nvSpPr>
        <p:spPr>
          <a:xfrm xmlns:a="http://schemas.openxmlformats.org/drawingml/2006/main">
            <a:off x="723900" y="183832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[35] Tec, M., Scott, J. G., &amp; Zigler, C. M. (2023). Weather2vec: Representation learning for causal inference with non-local confounding in air pollution and climate studies. AAAI.</a:t>
            </a:r>
          </a:p>
        </p:txBody>
      </p:sp>
      <p:sp>
        <p:nvSpPr>
          <p:cNvPr id="6" name="reference-36">
            <a:extLst xmlns:a="http://schemas.openxmlformats.org/drawingml/2006/main">
              <a:ext uri="{FF2B5EF4-FFF2-40B4-BE49-F238E27FC236}">
                <a16:creationId xmlns:a16="http://schemas.microsoft.com/office/drawing/2014/main" id="{8A02F1C2-80CC-412F-8511-5CC7F61D71F6}"/>
              </a:ext>
            </a:extLst>
          </p:cNvPr>
          <p:cNvSpPr>
            <a:spLocks xmlns:a="http://schemas.openxmlformats.org/drawingml/2006/main" noGrp="1"/>
          </p:cNvSpPr>
          <p:nvPr/>
        </p:nvSpPr>
        <p:spPr>
          <a:xfrm xmlns:a="http://schemas.openxmlformats.org/drawingml/2006/main">
            <a:off x="723900" y="226695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[36] Zeng, J., Zhang, G., Rong, C., Ding, J., Yuan, J., &amp; Li, Y. (2022). Causal learning empowered OD prediction for urban planning. CIKM.</a:t>
            </a:r>
          </a:p>
        </p:txBody>
      </p:sp>
      <p:sp>
        <p:nvSpPr>
          <p:cNvPr id="7" name="reference-37">
            <a:extLst xmlns:a="http://schemas.openxmlformats.org/drawingml/2006/main">
              <a:ext uri="{FF2B5EF4-FFF2-40B4-BE49-F238E27FC236}">
                <a16:creationId xmlns:a16="http://schemas.microsoft.com/office/drawing/2014/main" id="{589B8064-EC27-475A-AEED-66D22B156E77}"/>
              </a:ext>
            </a:extLst>
          </p:cNvPr>
          <p:cNvSpPr>
            <a:spLocks xmlns:a="http://schemas.openxmlformats.org/drawingml/2006/main" noGrp="1"/>
          </p:cNvSpPr>
          <p:nvPr/>
        </p:nvSpPr>
        <p:spPr>
          <a:xfrm xmlns:a="http://schemas.openxmlformats.org/drawingml/2006/main">
            <a:off x="723900" y="2695575"/>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[37] Fang, Z., Zheng, Q., Zheng, S., &amp; Zhao, L. (2025). CGNet-PIE: A causal generative approach for urban planning intervention effect estimation. Transactions in Urban Data, Science, and Technology.</a:t>
            </a:r>
          </a:p>
        </p:txBody>
      </p:sp>
      <p:sp>
        <p:nvSpPr>
          <p:cNvPr id="8" name="reference-38">
            <a:extLst xmlns:a="http://schemas.openxmlformats.org/drawingml/2006/main">
              <a:ext uri="{FF2B5EF4-FFF2-40B4-BE49-F238E27FC236}">
                <a16:creationId xmlns:a16="http://schemas.microsoft.com/office/drawing/2014/main" id="{8A485523-972F-4C8A-A710-C083932E6590}"/>
              </a:ext>
            </a:extLst>
          </p:cNvPr>
          <p:cNvSpPr>
            <a:spLocks xmlns:a="http://schemas.openxmlformats.org/drawingml/2006/main" noGrp="1"/>
          </p:cNvSpPr>
          <p:nvPr/>
        </p:nvSpPr>
        <p:spPr>
          <a:xfrm xmlns:a="http://schemas.openxmlformats.org/drawingml/2006/main">
            <a:off x="723900" y="31242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38">
                <a:solidFill>
                  <a:srgbClr val="242424"/>
                </a:solidFill>
                <a:latin typeface="UCL Sans"/>
                <a:ea typeface="UCL Sans"/>
                <a:cs typeface="UCL Sans"/>
              </a:defRPr>
            </a:pPr>
            <a:r>
              <a:rPr sz="1238">
                <a:solidFill>
                  <a:srgbClr val="242424"/>
                </a:solidFill>
                <a:latin typeface="UCL Sans"/>
                <a:ea typeface="UCL Sans"/>
                <a:cs typeface="UCL Sans"/>
              </a:rPr>
              <a:t>[38] Ahuja, K., Mahajan, D., Wang, Y., &amp; Bengio, Y. (2023). Interventional causal representation learning. ICML.</a:t>
            </a:r>
          </a:p>
        </p:txBody>
      </p:sp>
      <p:sp>
        <p:nvSpPr>
          <p:cNvPr id="9" name="seminar-page-number">
            <a:extLst xmlns:a="http://schemas.openxmlformats.org/drawingml/2006/main">
              <a:ext uri="{FF2B5EF4-FFF2-40B4-BE49-F238E27FC236}">
                <a16:creationId xmlns:a16="http://schemas.microsoft.com/office/drawing/2014/main" id="{5332A622-D4AB-4BEF-ADF2-3BCFF03732A1}"/>
              </a:ext>
            </a:extLst>
          </p:cNvPr>
          <p:cNvSpPr>
            <a:spLocks xmlns:a="http://schemas.openxmlformats.org/drawingml/2006/main" noGrp="1"/>
          </p:cNvSpPr>
          <p:nvPr/>
        </p:nvSpPr>
        <p:spPr>
          <a:xfrm xmlns:a="http://schemas.openxmlformats.org/drawingml/2006/main">
            <a:off x="8791575" y="4914900"/>
            <a:ext cx="238125"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0">
                <a:solidFill>
                  <a:srgbClr val="8B3247"/>
                </a:solidFill>
                <a:latin typeface="UCL Sans"/>
                <a:ea typeface="UCL Sans"/>
                <a:cs typeface="UCL Sans"/>
              </a:defRPr>
            </a:pPr>
            <a:r>
              <a:rPr sz="1050" b="0">
                <a:solidFill>
                  <a:srgbClr val="8B3247"/>
                </a:solidFill>
                <a:latin typeface="UCL Sans"/>
                <a:ea typeface="UCL Sans"/>
                <a:cs typeface="UCL Sans"/>
              </a:rPr>
              <a:t>25</a:t>
            </a:r>
          </a:p>
        </p:txBody>
      </p:sp>
    </p:spTree>
    <p:extLst>
      <p:ext uri="{BB962C8B-B14F-4D97-AF65-F5344CB8AC3E}">
        <p14:creationId xmlns:p14="http://schemas.microsoft.com/office/powerpoint/2010/main" val="1276741"/>
      </p:ext>
    </p:extLst>
  </p:cSld>
</p:sld>
</file>

<file path=ppt/theme/theme1.xml><?xml version="1.0" encoding="utf-8"?>
<a:theme xmlns:a="http://schemas.openxmlformats.org/drawingml/2006/main" name="Seminar_2026072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2026-10-05T12:35:59.1880000Z</dcterms:created>
  <dcterms:modified xsi:type="dcterms:W3CDTF">2026-10-05T12:35:59.1880000Z</dcterms:modified>
</coreProperties>
</file>